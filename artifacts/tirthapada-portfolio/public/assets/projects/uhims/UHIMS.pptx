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4" r:id="rId3"/>
    <p:sldId id="257" r:id="rId4"/>
    <p:sldId id="258" r:id="rId5"/>
    <p:sldId id="266" r:id="rId6"/>
    <p:sldId id="265" r:id="rId7"/>
    <p:sldId id="259" r:id="rId8"/>
    <p:sldId id="260" r:id="rId9"/>
    <p:sldId id="262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B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5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2.png">
            <a:extLst>
              <a:ext uri="{FF2B5EF4-FFF2-40B4-BE49-F238E27FC236}">
                <a16:creationId xmlns:a16="http://schemas.microsoft.com/office/drawing/2014/main" id="{7EFF2EBC-00E3-6565-A2CF-30EB704C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421" y="4442285"/>
            <a:ext cx="1828801" cy="1828801"/>
          </a:xfrm>
          <a:prstGeom prst="rect">
            <a:avLst/>
          </a:prstGeom>
        </p:spPr>
      </p:pic>
      <p:pic>
        <p:nvPicPr>
          <p:cNvPr id="7" name="Picture 6" descr="image1.png">
            <a:extLst>
              <a:ext uri="{FF2B5EF4-FFF2-40B4-BE49-F238E27FC236}">
                <a16:creationId xmlns:a16="http://schemas.microsoft.com/office/drawing/2014/main" id="{FEEE10B4-358A-B202-6D07-61784AAF7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420" y="713676"/>
            <a:ext cx="1908648" cy="182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6D0D98-1A13-4FC2-C085-A7A7C3B9A4F4}"/>
              </a:ext>
            </a:extLst>
          </p:cNvPr>
          <p:cNvSpPr txBox="1"/>
          <p:nvPr/>
        </p:nvSpPr>
        <p:spPr>
          <a:xfrm>
            <a:off x="658368" y="1234440"/>
            <a:ext cx="7680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latin typeface="Bookman Old Style" panose="02050604050505020204" pitchFamily="18" charset="0"/>
              </a:rPr>
              <a:t>Urban Heat Island
Mitigation Simulation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606C9-10F9-3F25-BD66-F7B36942DF23}"/>
              </a:ext>
            </a:extLst>
          </p:cNvPr>
          <p:cNvSpPr txBox="1"/>
          <p:nvPr/>
        </p:nvSpPr>
        <p:spPr>
          <a:xfrm>
            <a:off x="658368" y="502920"/>
            <a:ext cx="2926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70C0"/>
                </a:solidFill>
                <a:latin typeface="Aptos"/>
              </a:rPr>
              <a:t>TEAM CHANDRA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D6B27-B990-B1B6-F5C5-4498F38CE616}"/>
              </a:ext>
            </a:extLst>
          </p:cNvPr>
          <p:cNvSpPr txBox="1"/>
          <p:nvPr/>
        </p:nvSpPr>
        <p:spPr>
          <a:xfrm>
            <a:off x="685800" y="2971800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latin typeface="Aptos"/>
              </a:rPr>
              <a:t>UHIMS</a:t>
            </a:r>
            <a:endParaRPr sz="2400" b="1" dirty="0"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07A43-A9D6-FD47-A091-31578B64B32C}"/>
              </a:ext>
            </a:extLst>
          </p:cNvPr>
          <p:cNvSpPr txBox="1"/>
          <p:nvPr/>
        </p:nvSpPr>
        <p:spPr>
          <a:xfrm>
            <a:off x="685800" y="3520440"/>
            <a:ext cx="992878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dirty="0">
                <a:latin typeface="Aptos"/>
              </a:rPr>
              <a:t>AI-Driven Urban Heat Island Mitigation Simulator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3966B-D73D-E988-73DE-609A8CD69168}"/>
              </a:ext>
            </a:extLst>
          </p:cNvPr>
          <p:cNvSpPr txBox="1"/>
          <p:nvPr/>
        </p:nvSpPr>
        <p:spPr>
          <a:xfrm>
            <a:off x="685800" y="4726127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70C0"/>
                </a:solidFill>
                <a:latin typeface="Aptos"/>
              </a:rPr>
              <a:t>Presented By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3D392-C156-3D73-734F-2B12925AEA1A}"/>
              </a:ext>
            </a:extLst>
          </p:cNvPr>
          <p:cNvSpPr txBox="1"/>
          <p:nvPr/>
        </p:nvSpPr>
        <p:spPr>
          <a:xfrm>
            <a:off x="685800" y="5413248"/>
            <a:ext cx="43891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spc="50" dirty="0">
                <a:latin typeface="Gadugi" panose="020B0502040204020203" pitchFamily="34" charset="0"/>
                <a:ea typeface="Gadugi" panose="020B0502040204020203" pitchFamily="34" charset="0"/>
              </a:rPr>
              <a:t>TIRTHAPADA PANDA
ASHRITA BEHERA
SWAGATAM PRADHAN
RR HIMANSHU SEKHAR DAS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44BCEC-FFEA-AC7B-E6B0-F459D3BECDD8}"/>
              </a:ext>
            </a:extLst>
          </p:cNvPr>
          <p:cNvSpPr txBox="1"/>
          <p:nvPr/>
        </p:nvSpPr>
        <p:spPr>
          <a:xfrm>
            <a:off x="8893740" y="2741287"/>
            <a:ext cx="235816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latin typeface="Aptos"/>
              </a:rPr>
              <a:t>GIET University, </a:t>
            </a:r>
            <a:endParaRPr lang="en-IN" b="1" dirty="0">
              <a:latin typeface="Aptos"/>
            </a:endParaRPr>
          </a:p>
          <a:p>
            <a:pPr algn="ctr"/>
            <a:r>
              <a:rPr b="1" dirty="0" err="1">
                <a:latin typeface="Aptos"/>
              </a:rPr>
              <a:t>Gunupur</a:t>
            </a:r>
            <a:r>
              <a:rPr b="1" dirty="0">
                <a:latin typeface="Aptos"/>
              </a:rPr>
              <a:t>, Odisha</a:t>
            </a:r>
          </a:p>
        </p:txBody>
      </p:sp>
    </p:spTree>
    <p:extLst>
      <p:ext uri="{BB962C8B-B14F-4D97-AF65-F5344CB8AC3E}">
        <p14:creationId xmlns:p14="http://schemas.microsoft.com/office/powerpoint/2010/main" val="281205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8F3CE7-3EE6-9E13-E5B9-1BBD7711AB1F}"/>
              </a:ext>
            </a:extLst>
          </p:cNvPr>
          <p:cNvSpPr/>
          <p:nvPr/>
        </p:nvSpPr>
        <p:spPr>
          <a:xfrm>
            <a:off x="6260672" y="4969745"/>
            <a:ext cx="5484080" cy="12926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C4676A-DF41-2D68-BBB9-C6000520ABBE}"/>
              </a:ext>
            </a:extLst>
          </p:cNvPr>
          <p:cNvSpPr/>
          <p:nvPr/>
        </p:nvSpPr>
        <p:spPr>
          <a:xfrm>
            <a:off x="373108" y="4969745"/>
            <a:ext cx="5216987" cy="12926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95E34-BA9A-C544-3789-140F62EA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30" t="21849" r="4876" b="30252"/>
          <a:stretch>
            <a:fillRect/>
          </a:stretch>
        </p:blipFill>
        <p:spPr>
          <a:xfrm>
            <a:off x="6260672" y="1376616"/>
            <a:ext cx="5621419" cy="3238500"/>
          </a:xfrm>
          <a:custGeom>
            <a:avLst/>
            <a:gdLst>
              <a:gd name="csX0" fmla="*/ 0 w 7086600"/>
              <a:gd name="csY0" fmla="*/ 0 h 4343400"/>
              <a:gd name="csX1" fmla="*/ 7086600 w 7086600"/>
              <a:gd name="csY1" fmla="*/ 0 h 4343400"/>
              <a:gd name="csX2" fmla="*/ 7086600 w 7086600"/>
              <a:gd name="csY2" fmla="*/ 4343400 h 4343400"/>
              <a:gd name="csX3" fmla="*/ 0 w 7086600"/>
              <a:gd name="csY3" fmla="*/ 4343400 h 434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86600" h="4343400">
                <a:moveTo>
                  <a:pt x="0" y="0"/>
                </a:moveTo>
                <a:lnTo>
                  <a:pt x="7086600" y="0"/>
                </a:lnTo>
                <a:lnTo>
                  <a:pt x="7086600" y="4343400"/>
                </a:lnTo>
                <a:lnTo>
                  <a:pt x="0" y="4343400"/>
                </a:lnTo>
                <a:close/>
              </a:path>
            </a:pathLst>
          </a:custGeom>
          <a:effectLst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C65345-0BB0-64EE-67D3-2EC80FAD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" t="22269" r="51875" b="30672"/>
          <a:stretch>
            <a:fillRect/>
          </a:stretch>
        </p:blipFill>
        <p:spPr>
          <a:xfrm>
            <a:off x="337553" y="1392658"/>
            <a:ext cx="5657944" cy="3238500"/>
          </a:xfrm>
          <a:custGeom>
            <a:avLst/>
            <a:gdLst>
              <a:gd name="csX0" fmla="*/ 0 w 7010400"/>
              <a:gd name="csY0" fmla="*/ 0 h 4267200"/>
              <a:gd name="csX1" fmla="*/ 7010400 w 7010400"/>
              <a:gd name="csY1" fmla="*/ 0 h 4267200"/>
              <a:gd name="csX2" fmla="*/ 7010400 w 7010400"/>
              <a:gd name="csY2" fmla="*/ 4267200 h 4267200"/>
              <a:gd name="csX3" fmla="*/ 0 w 7010400"/>
              <a:gd name="csY3" fmla="*/ 4267200 h 426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10400" h="4267200">
                <a:moveTo>
                  <a:pt x="0" y="0"/>
                </a:moveTo>
                <a:lnTo>
                  <a:pt x="7010400" y="0"/>
                </a:lnTo>
                <a:lnTo>
                  <a:pt x="7010400" y="4267200"/>
                </a:lnTo>
                <a:lnTo>
                  <a:pt x="0" y="4267200"/>
                </a:lnTo>
                <a:close/>
              </a:path>
            </a:pathLst>
          </a:custGeom>
          <a:effectLst>
            <a:softEdge rad="63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70613C-4F23-68B1-F52B-DBD06B157539}"/>
              </a:ext>
            </a:extLst>
          </p:cNvPr>
          <p:cNvSpPr txBox="1"/>
          <p:nvPr/>
        </p:nvSpPr>
        <p:spPr>
          <a:xfrm>
            <a:off x="373108" y="409985"/>
            <a:ext cx="8786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ptos" panose="020B0004020202020204" pitchFamily="34" charset="0"/>
              </a:rPr>
              <a:t>THE PROBLEM: URBAN HEAT ISLANDS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73646-1C69-EBFC-56EC-BDFFA45F4596}"/>
              </a:ext>
            </a:extLst>
          </p:cNvPr>
          <p:cNvSpPr txBox="1"/>
          <p:nvPr/>
        </p:nvSpPr>
        <p:spPr>
          <a:xfrm>
            <a:off x="384687" y="4969745"/>
            <a:ext cx="52169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Aptos" panose="020B0004020202020204" pitchFamily="34" charset="0"/>
              </a:rPr>
              <a:t>The Core Issue</a:t>
            </a:r>
          </a:p>
          <a:p>
            <a:pPr algn="just"/>
            <a:r>
              <a:rPr lang="en-IN" dirty="0"/>
              <a:t>Dense urban areas trap heat due to concreate surface, roads, and a lake of green cover, creating dangerous temperature spikes.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B9ECD-DC81-615E-97CF-9327319F81B2}"/>
              </a:ext>
            </a:extLst>
          </p:cNvPr>
          <p:cNvSpPr txBox="1"/>
          <p:nvPr/>
        </p:nvSpPr>
        <p:spPr>
          <a:xfrm>
            <a:off x="6260672" y="4969745"/>
            <a:ext cx="562141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Aptos" panose="020B0004020202020204" pitchFamily="34" charset="0"/>
              </a:rPr>
              <a:t>The Planning Gap</a:t>
            </a:r>
          </a:p>
          <a:p>
            <a:r>
              <a:rPr lang="en-US" dirty="0"/>
              <a:t>Urban planners lack localized, data –driven tools to test how much a new park, cool roof, or water body will lower the temperature before physical construction.</a:t>
            </a:r>
            <a:endParaRPr lang="en-IN" dirty="0"/>
          </a:p>
        </p:txBody>
      </p:sp>
      <p:pic>
        <p:nvPicPr>
          <p:cNvPr id="10" name="Picture 9" descr="image2.png">
            <a:extLst>
              <a:ext uri="{FF2B5EF4-FFF2-40B4-BE49-F238E27FC236}">
                <a16:creationId xmlns:a16="http://schemas.microsoft.com/office/drawing/2014/main" id="{0D18B411-5075-359A-6C7D-73748CF7F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62" y="6322952"/>
            <a:ext cx="480668" cy="4806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2B25D1-3459-B0C1-7A11-B29C0251AFAC}"/>
              </a:ext>
            </a:extLst>
          </p:cNvPr>
          <p:cNvSpPr txBox="1"/>
          <p:nvPr/>
        </p:nvSpPr>
        <p:spPr>
          <a:xfrm>
            <a:off x="718794" y="6489425"/>
            <a:ext cx="60944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C3046-79EB-5B98-D4B1-5F0EA99F1DED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22616-E1CB-28D1-7689-420955C8BCB0}"/>
              </a:ext>
            </a:extLst>
          </p:cNvPr>
          <p:cNvSpPr/>
          <p:nvPr/>
        </p:nvSpPr>
        <p:spPr>
          <a:xfrm>
            <a:off x="301181" y="4960318"/>
            <a:ext cx="45719" cy="1292662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E45AF7-2D01-5D8B-4FD3-A014EC89596C}"/>
              </a:ext>
            </a:extLst>
          </p:cNvPr>
          <p:cNvSpPr/>
          <p:nvPr/>
        </p:nvSpPr>
        <p:spPr>
          <a:xfrm>
            <a:off x="6175653" y="4971313"/>
            <a:ext cx="45719" cy="1292662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3990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1622" y="133424"/>
            <a:ext cx="108813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A1F33"/>
                </a:solidFill>
                <a:latin typeface="Aptos"/>
              </a:rPr>
              <a:t>THE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" y="697958"/>
            <a:ext cx="4432958" cy="1994491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85903" y="715870"/>
            <a:ext cx="45719" cy="1919862"/>
          </a:xfrm>
          <a:prstGeom prst="rect">
            <a:avLst/>
          </a:prstGeom>
          <a:solidFill>
            <a:srgbClr val="EE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815980"/>
            <a:ext cx="30632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A1F33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227" y="1146862"/>
            <a:ext cx="4203567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High temperatures from buildings, roads &amp; low vegetation.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Dense urban areas trap more heat.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Need localized, data-driven heat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Need to test mitigation strategies before implementation.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0756" y="697957"/>
            <a:ext cx="4410664" cy="2018565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flipH="1">
            <a:off x="6864324" y="707384"/>
            <a:ext cx="45719" cy="1919862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5672" y="844263"/>
            <a:ext cx="3474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A1F33"/>
                </a:solidFill>
                <a:latin typeface="Aptos"/>
              </a:rPr>
              <a:t>OUR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2972" y="1361132"/>
            <a:ext cx="4042876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Aptos"/>
              </a:rPr>
              <a:t>UHIMS </a:t>
            </a:r>
            <a:endParaRPr lang="en-US" sz="1600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ptos"/>
              </a:rPr>
              <a:t>AI-Driven Urban Heat Island Mitigation Simulator </a:t>
            </a:r>
            <a:r>
              <a:rPr sz="1600" b="0" dirty="0">
                <a:latin typeface="Aptos"/>
              </a:rPr>
              <a:t>
AI + Computer Vision + Geospatial Analysis +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" y="2894229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A1F33"/>
                </a:solidFill>
                <a:latin typeface="Aptos"/>
              </a:rPr>
              <a:t>CORE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237" y="4781933"/>
            <a:ext cx="170888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400" b="1" dirty="0">
                <a:solidFill>
                  <a:srgbClr val="0A1F33"/>
                </a:solidFill>
                <a:latin typeface="Aptos"/>
              </a:rPr>
              <a:t>Satellite </a:t>
            </a:r>
            <a:r>
              <a:rPr sz="1400" b="1" dirty="0">
                <a:solidFill>
                  <a:srgbClr val="0A1F33"/>
                </a:solidFill>
                <a:latin typeface="Aptos"/>
              </a:rPr>
              <a:t>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5452" y="4775675"/>
            <a:ext cx="170888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A1F33"/>
                </a:solidFill>
                <a:latin typeface="Aptos"/>
              </a:rPr>
              <a:t>Heat</a:t>
            </a:r>
            <a:r>
              <a:rPr lang="en-IN" sz="1400" b="1" dirty="0">
                <a:solidFill>
                  <a:srgbClr val="0A1F33"/>
                </a:solidFill>
                <a:latin typeface="Aptos"/>
              </a:rPr>
              <a:t> </a:t>
            </a:r>
            <a:r>
              <a:rPr sz="1400" b="1" dirty="0">
                <a:solidFill>
                  <a:srgbClr val="0A1F33"/>
                </a:solidFill>
                <a:latin typeface="Aptos"/>
              </a:rP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6518" y="4724057"/>
            <a:ext cx="170888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A1F33"/>
                </a:solidFill>
                <a:latin typeface="Aptos"/>
              </a:rPr>
              <a:t>Mitigation</a:t>
            </a:r>
            <a:r>
              <a:rPr lang="en-IN" sz="1400" b="1" dirty="0">
                <a:solidFill>
                  <a:srgbClr val="0A1F33"/>
                </a:solidFill>
                <a:latin typeface="Aptos"/>
              </a:rPr>
              <a:t> </a:t>
            </a:r>
          </a:p>
          <a:p>
            <a:pPr algn="l"/>
            <a:r>
              <a:rPr sz="1400" b="1" dirty="0">
                <a:solidFill>
                  <a:srgbClr val="0A1F33"/>
                </a:solidFill>
                <a:latin typeface="Aptos"/>
              </a:rPr>
              <a:t>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4434" y="4741744"/>
            <a:ext cx="155718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A1F33"/>
                </a:solidFill>
                <a:latin typeface="Aptos"/>
              </a:rPr>
              <a:t>Simulation &amp;</a:t>
            </a:r>
            <a:r>
              <a:rPr lang="en-IN" sz="1400" b="1" dirty="0">
                <a:solidFill>
                  <a:srgbClr val="0A1F33"/>
                </a:solidFill>
                <a:latin typeface="Aptos"/>
              </a:rPr>
              <a:t> </a:t>
            </a:r>
          </a:p>
          <a:p>
            <a:pPr algn="l"/>
            <a:r>
              <a:rPr sz="1400" b="1" dirty="0">
                <a:solidFill>
                  <a:srgbClr val="0A1F33"/>
                </a:solidFill>
                <a:latin typeface="Aptos"/>
              </a:rPr>
              <a:t>Optimization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285232"/>
            <a:ext cx="10497312" cy="1188720"/>
          </a:xfrm>
          <a:prstGeom prst="roundRect">
            <a:avLst/>
          </a:prstGeom>
          <a:solidFill>
            <a:srgbClr val="EAF4FA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7264" y="5334392"/>
            <a:ext cx="73150" cy="1132145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59" y="5404104"/>
            <a:ext cx="10149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A1F33"/>
                </a:solidFill>
                <a:latin typeface="Aptos"/>
              </a:rPr>
              <a:t>THE INNOVATION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" y="5689122"/>
            <a:ext cx="1014984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Detects heat sources and urban patterns.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Recommends targeted cooling measures.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Simulates potential cooling before implementation.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6910" y="654169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0"/>
                </a:solidFill>
                <a:latin typeface="Aptos"/>
              </a:rPr>
              <a:t>2</a:t>
            </a:r>
          </a:p>
        </p:txBody>
      </p:sp>
      <p:pic>
        <p:nvPicPr>
          <p:cNvPr id="50" name="Picture 49" descr="image2.png">
            <a:extLst>
              <a:ext uri="{FF2B5EF4-FFF2-40B4-BE49-F238E27FC236}">
                <a16:creationId xmlns:a16="http://schemas.microsoft.com/office/drawing/2014/main" id="{42ED0583-5D0F-30A3-AEFA-65FD15942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9" y="6360660"/>
            <a:ext cx="480668" cy="48066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2579FDF-5311-174F-BDDF-0F3AEE2FA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96" b="89974" l="2035" r="94767">
                        <a14:foregroundMark x1="54797" y1="37370" x2="47093" y2="37500"/>
                        <a14:foregroundMark x1="47093" y1="37500" x2="44985" y2="60807"/>
                        <a14:foregroundMark x1="44985" y1="60807" x2="56378" y2="59143"/>
                        <a14:foregroundMark x1="56682" y1="42469" x2="56613" y2="41797"/>
                        <a14:foregroundMark x1="57882" y1="54204" x2="56720" y2="42839"/>
                        <a14:foregroundMark x1="54921" y1="36299" x2="54797" y2="35938"/>
                        <a14:foregroundMark x1="18997" y1="39063" x2="11628" y2="39063"/>
                        <a14:foregroundMark x1="11628" y1="39063" x2="5802" y2="42384"/>
                        <a14:foregroundMark x1="7432" y1="53131" x2="13969" y2="63550"/>
                        <a14:foregroundMark x1="23615" y1="60255" x2="36628" y2="49740"/>
                        <a14:foregroundMark x1="89608" y1="40755" x2="85756" y2="39453"/>
                        <a14:foregroundMark x1="85756" y1="39453" x2="81541" y2="54297"/>
                        <a14:foregroundMark x1="81541" y1="54297" x2="93966" y2="45245"/>
                        <a14:foregroundMark x1="93532" y1="41895" x2="91772" y2="37952"/>
                        <a14:foregroundMark x1="40334" y1="50651" x2="40334" y2="50651"/>
                        <a14:foregroundMark x1="40520" y1="48449" x2="40480" y2="48568"/>
                        <a14:foregroundMark x1="69008" y1="35801" x2="72747" y2="36589"/>
                        <a14:foregroundMark x1="72747" y1="36589" x2="76308" y2="50391"/>
                        <a14:foregroundMark x1="76308" y1="50391" x2="74273" y2="58333"/>
                        <a14:foregroundMark x1="74273" y1="58333" x2="71730" y2="62500"/>
                        <a14:foregroundMark x1="71730" y1="62500" x2="66612" y2="63783"/>
                        <a14:foregroundMark x1="60031" y1="63541" x2="58866" y2="61068"/>
                        <a14:foregroundMark x1="58866" y1="61068" x2="60756" y2="56120"/>
                        <a14:foregroundMark x1="60756" y1="56120" x2="61773" y2="50781"/>
                        <a14:foregroundMark x1="58673" y1="40298" x2="57922" y2="37760"/>
                        <a14:foregroundMark x1="61773" y1="50781" x2="61603" y2="50206"/>
                        <a14:foregroundMark x1="75436" y1="64583" x2="75436" y2="64583"/>
                        <a14:foregroundMark x1="77907" y1="40755" x2="77907" y2="40755"/>
                        <a14:foregroundMark x1="79360" y1="43229" x2="79360" y2="43229"/>
                        <a14:foregroundMark x1="79360" y1="43229" x2="79360" y2="43229"/>
                        <a14:foregroundMark x1="79360" y1="43229" x2="79360" y2="43229"/>
                        <a14:foregroundMark x1="79070" y1="45182" x2="79070" y2="45182"/>
                        <a14:foregroundMark x1="79070" y1="45182" x2="79070" y2="45182"/>
                        <a14:foregroundMark x1="80305" y1="47266" x2="80305" y2="47266"/>
                        <a14:foregroundMark x1="79724" y1="45964" x2="79724" y2="45964"/>
                        <a14:foregroundMark x1="79142" y1="43490" x2="79142" y2="43490"/>
                        <a14:foregroundMark x1="79070" y1="44531" x2="79070" y2="44531"/>
                        <a14:foregroundMark x1="79288" y1="46224" x2="79288" y2="46224"/>
                        <a14:foregroundMark x1="78561" y1="44401" x2="78561" y2="44401"/>
                        <a14:foregroundMark x1="78561" y1="45573" x2="78561" y2="45573"/>
                        <a14:foregroundMark x1="79288" y1="46745" x2="79288" y2="46745"/>
                        <a14:foregroundMark x1="78198" y1="57682" x2="78198" y2="57682"/>
                        <a14:foregroundMark x1="91134" y1="37109" x2="91134" y2="37109"/>
                        <a14:foregroundMark x1="90552" y1="36719" x2="90552" y2="36719"/>
                        <a14:foregroundMark x1="90698" y1="36719" x2="90698" y2="36719"/>
                        <a14:foregroundMark x1="91134" y1="35807" x2="91134" y2="35807"/>
                        <a14:foregroundMark x1="91134" y1="35807" x2="91134" y2="35807"/>
                        <a14:foregroundMark x1="91134" y1="35807" x2="91134" y2="35807"/>
                        <a14:foregroundMark x1="91134" y1="35807" x2="91134" y2="35807"/>
                        <a14:foregroundMark x1="91134" y1="36068" x2="91134" y2="36068"/>
                        <a14:foregroundMark x1="91134" y1="35807" x2="91134" y2="35807"/>
                        <a14:foregroundMark x1="89680" y1="35807" x2="89680" y2="35807"/>
                        <a14:foregroundMark x1="90843" y1="36068" x2="90843" y2="36068"/>
                        <a14:foregroundMark x1="90480" y1="35938" x2="90480" y2="35938"/>
                        <a14:foregroundMark x1="90480" y1="35547" x2="90480" y2="35547"/>
                        <a14:foregroundMark x1="90843" y1="36719" x2="90843" y2="36719"/>
                        <a14:foregroundMark x1="90843" y1="36589" x2="90843" y2="36589"/>
                        <a14:foregroundMark x1="90625" y1="36589" x2="90625" y2="36589"/>
                        <a14:foregroundMark x1="90189" y1="36198" x2="90189" y2="36198"/>
                        <a14:foregroundMark x1="90189" y1="36198" x2="90189" y2="36198"/>
                        <a14:foregroundMark x1="90552" y1="36458" x2="90552" y2="36458"/>
                        <a14:foregroundMark x1="91497" y1="36198" x2="91497" y2="36198"/>
                        <a14:foregroundMark x1="91134" y1="36068" x2="87282" y2="36068"/>
                        <a14:foregroundMark x1="19404" y1="36328" x2="20494" y2="43099"/>
                        <a14:foregroundMark x1="20494" y1="43099" x2="22311" y2="48177"/>
                        <a14:foregroundMark x1="18169" y1="38281" x2="22093" y2="48438"/>
                        <a14:foregroundMark x1="80015" y1="54036" x2="75872" y2="64583"/>
                        <a14:foregroundMark x1="71294" y1="39583" x2="63590" y2="37109"/>
                        <a14:foregroundMark x1="71076" y1="36589" x2="64099" y2="36589"/>
                        <a14:foregroundMark x1="71366" y1="36068" x2="63154" y2="38021"/>
                        <a14:foregroundMark x1="63009" y1="48958" x2="63009" y2="48958"/>
                        <a14:foregroundMark x1="59238" y1="39682" x2="58721" y2="38411"/>
                        <a14:foregroundMark x1="60680" y1="43229" x2="57797" y2="36139"/>
                        <a14:foregroundMark x1="61474" y1="45182" x2="60680" y2="43229"/>
                        <a14:foregroundMark x1="63009" y1="48958" x2="61474" y2="45182"/>
                        <a14:foregroundMark x1="62863" y1="59115" x2="63517" y2="46224"/>
                        <a14:foregroundMark x1="63517" y1="46224" x2="68387" y2="43880"/>
                        <a14:foregroundMark x1="68387" y1="43880" x2="73038" y2="50781"/>
                        <a14:foregroundMark x1="73038" y1="50781" x2="69186" y2="59896"/>
                        <a14:foregroundMark x1="69186" y1="59896" x2="67442" y2="61458"/>
                        <a14:foregroundMark x1="53924" y1="57422" x2="52907" y2="40495"/>
                        <a14:foregroundMark x1="52907" y1="40495" x2="46439" y2="41667"/>
                        <a14:foregroundMark x1="46439" y1="41667" x2="45131" y2="51823"/>
                        <a14:foregroundMark x1="45131" y1="51823" x2="48401" y2="59766"/>
                        <a14:foregroundMark x1="48401" y1="59766" x2="53561" y2="58333"/>
                        <a14:foregroundMark x1="53561" y1="58333" x2="55160" y2="52734"/>
                        <a14:foregroundMark x1="55160" y1="52734" x2="55160" y2="52214"/>
                        <a14:foregroundMark x1="51817" y1="50781" x2="50000" y2="55729"/>
                        <a14:foregroundMark x1="50000" y1="55729" x2="49419" y2="49740"/>
                        <a14:foregroundMark x1="49419" y1="49740" x2="52762" y2="50651"/>
                        <a14:foregroundMark x1="52762" y1="50651" x2="47965" y2="50781"/>
                        <a14:foregroundMark x1="47965" y1="50781" x2="47384" y2="51563"/>
                        <a14:foregroundMark x1="89172" y1="59245" x2="85828" y2="55599"/>
                        <a14:foregroundMark x1="85828" y1="55599" x2="84738" y2="46615"/>
                        <a14:foregroundMark x1="84738" y1="46615" x2="90044" y2="49479"/>
                        <a14:foregroundMark x1="90044" y1="49479" x2="89099" y2="57422"/>
                        <a14:foregroundMark x1="89099" y1="57422" x2="87500" y2="59635"/>
                        <a14:foregroundMark x1="23256" y1="49609" x2="18605" y2="37630"/>
                        <a14:foregroundMark x1="23401" y1="50130" x2="19186" y2="38802"/>
                        <a14:foregroundMark x1="23183" y1="50911" x2="18459" y2="36198"/>
                        <a14:foregroundMark x1="23474" y1="50130" x2="15843" y2="59896"/>
                        <a14:foregroundMark x1="23547" y1="50781" x2="18023" y2="61979"/>
                        <a14:foregroundMark x1="18023" y1="61979" x2="18023" y2="61979"/>
                        <a14:foregroundMark x1="37559" y1="39342" x2="38154" y2="43229"/>
                        <a14:foregroundMark x1="62839" y1="50130" x2="63735" y2="52474"/>
                        <a14:foregroundMark x1="60948" y1="45182" x2="62839" y2="50130"/>
                        <a14:foregroundMark x1="60721" y1="44588" x2="60948" y2="45182"/>
                        <a14:foregroundMark x1="58212" y1="38021" x2="58962" y2="39983"/>
                        <a14:foregroundMark x1="36628" y1="36589" x2="37427" y2="45964"/>
                        <a14:foregroundMark x1="37500" y1="36589" x2="38590" y2="48828"/>
                        <a14:foregroundMark x1="55741" y1="37891" x2="41206" y2="37370"/>
                        <a14:foregroundMark x1="33721" y1="41797" x2="30451" y2="45443"/>
                        <a14:foregroundMark x1="30451" y1="45443" x2="31250" y2="59245"/>
                        <a14:foregroundMark x1="31250" y1="59245" x2="36991" y2="50000"/>
                        <a14:foregroundMark x1="36991" y1="50000" x2="36628" y2="41797"/>
                        <a14:foregroundMark x1="15334" y1="46615" x2="11919" y2="51302"/>
                        <a14:foregroundMark x1="11919" y1="51302" x2="5523" y2="38411"/>
                        <a14:foregroundMark x1="5523" y1="38411" x2="11337" y2="36979"/>
                        <a14:foregroundMark x1="11337" y1="36979" x2="17297" y2="37891"/>
                        <a14:foregroundMark x1="17297" y1="37891" x2="20276" y2="48307"/>
                        <a14:foregroundMark x1="20276" y1="48307" x2="20058" y2="57031"/>
                        <a14:foregroundMark x1="20058" y1="57031" x2="14898" y2="61979"/>
                        <a14:foregroundMark x1="14898" y1="61979" x2="10756" y2="63411"/>
                        <a14:foregroundMark x1="10756" y1="63411" x2="7195" y2="62109"/>
                        <a14:foregroundMark x1="7195" y1="62109" x2="9230" y2="57031"/>
                        <a14:foregroundMark x1="9230" y1="57031" x2="9811" y2="50781"/>
                        <a14:foregroundMark x1="9811" y1="50781" x2="7922" y2="46615"/>
                        <a14:backgroundMark x1="1672" y1="35156" x2="5305" y2="46354"/>
                        <a14:backgroundMark x1="5305" y1="46354" x2="5451" y2="51823"/>
                        <a14:backgroundMark x1="5451" y1="51823" x2="291" y2="61849"/>
                        <a14:backgroundMark x1="6105" y1="47135" x2="2834" y2="54036"/>
                        <a14:backgroundMark x1="4942" y1="48177" x2="2689" y2="49609"/>
                        <a14:backgroundMark x1="3634" y1="43490" x2="2689" y2="48568"/>
                        <a14:backgroundMark x1="2326" y1="45313" x2="2398" y2="47917"/>
                        <a14:backgroundMark x1="6105" y1="48438" x2="4433" y2="54167"/>
                        <a14:backgroundMark x1="4433" y1="54167" x2="3634" y2="55599"/>
                        <a14:backgroundMark x1="6977" y1="49870" x2="3561" y2="56901"/>
                        <a14:backgroundMark x1="12936" y1="65885" x2="22238" y2="65885"/>
                        <a14:backgroundMark x1="19913" y1="35417" x2="20031" y2="36013"/>
                        <a14:backgroundMark x1="21439" y1="39063" x2="23474" y2="45443"/>
                        <a14:backgroundMark x1="23718" y1="46988" x2="24487" y2="51854"/>
                        <a14:backgroundMark x1="23474" y1="45443" x2="23684" y2="46774"/>
                        <a14:backgroundMark x1="23919" y1="54187" x2="19913" y2="65625"/>
                        <a14:backgroundMark x1="39347" y1="59981" x2="38663" y2="61719"/>
                        <a14:backgroundMark x1="56323" y1="34896" x2="57404" y2="37996"/>
                        <a14:backgroundMark x1="60397" y1="48628" x2="60683" y2="50781"/>
                        <a14:backgroundMark x1="58303" y1="58601" x2="56323" y2="65104"/>
                        <a14:backgroundMark x1="60683" y1="50781" x2="58312" y2="58571"/>
                        <a14:backgroundMark x1="56323" y1="65104" x2="56323" y2="65104"/>
                        <a14:backgroundMark x1="63144" y1="34810" x2="63469" y2="34815"/>
                        <a14:backgroundMark x1="59956" y1="34766" x2="62855" y2="34806"/>
                        <a14:backgroundMark x1="58939" y1="65885" x2="65916" y2="65755"/>
                        <a14:backgroundMark x1="65916" y1="65755" x2="67442" y2="65755"/>
                        <a14:backgroundMark x1="86532" y1="33733" x2="94913" y2="32292"/>
                        <a14:backgroundMark x1="85828" y1="33854" x2="86457" y2="33746"/>
                        <a14:backgroundMark x1="94186" y1="41146" x2="98183" y2="50781"/>
                        <a14:backgroundMark x1="78703" y1="47266" x2="79215" y2="48828"/>
                        <a14:backgroundMark x1="78532" y1="46745" x2="78703" y2="47266"/>
                        <a14:backgroundMark x1="78276" y1="45964" x2="78532" y2="46745"/>
                        <a14:backgroundMark x1="78148" y1="45573" x2="78276" y2="45964"/>
                        <a14:backgroundMark x1="78020" y1="45182" x2="78148" y2="45573"/>
                        <a14:backgroundMark x1="77806" y1="44531" x2="78020" y2="45182"/>
                        <a14:backgroundMark x1="77465" y1="43490" x2="77806" y2="44531"/>
                        <a14:backgroundMark x1="76569" y1="40755" x2="77465" y2="43490"/>
                        <a14:backgroundMark x1="73837" y1="32422" x2="76569" y2="40755"/>
                        <a14:backgroundMark x1="79215" y1="48828" x2="78146" y2="53991"/>
                        <a14:backgroundMark x1="74879" y1="63492" x2="74491" y2="64453"/>
                        <a14:backgroundMark x1="74491" y1="64453" x2="73547" y2="68880"/>
                        <a14:backgroundMark x1="61410" y1="50130" x2="61410" y2="50130"/>
                        <a14:backgroundMark x1="57994" y1="41276" x2="57994" y2="41276"/>
                        <a14:backgroundMark x1="59520" y1="44141" x2="59593" y2="44922"/>
                        <a14:backgroundMark x1="58794" y1="43880" x2="58794" y2="43880"/>
                        <a14:backgroundMark x1="57922" y1="41406" x2="57922" y2="41406"/>
                        <a14:backgroundMark x1="58721" y1="43490" x2="58721" y2="43490"/>
                        <a14:backgroundMark x1="59884" y1="45182" x2="59884" y2="45182"/>
                        <a14:backgroundMark x1="59157" y1="43229" x2="59157" y2="43229"/>
                        <a14:backgroundMark x1="58212" y1="42839" x2="58212" y2="42839"/>
                        <a14:backgroundMark x1="57776" y1="41276" x2="59448" y2="45573"/>
                        <a14:backgroundMark x1="51599" y1="33464" x2="67224" y2="34245"/>
                        <a14:backgroundMark x1="51672" y1="30469" x2="59302" y2="30208"/>
                        <a14:backgroundMark x1="59302" y1="30208" x2="65044" y2="30208"/>
                        <a14:backgroundMark x1="39296" y1="39190" x2="42515" y2="49089"/>
                        <a14:backgroundMark x1="38154" y1="35677" x2="38370" y2="36342"/>
                        <a14:backgroundMark x1="42515" y1="49089" x2="39462" y2="61458"/>
                      </a14:backgroundRemoval>
                    </a14:imgEffect>
                  </a14:imgLayer>
                </a14:imgProps>
              </a:ext>
            </a:extLst>
          </a:blip>
          <a:srcRect l="2463" t="33191" r="2187" b="32609"/>
          <a:stretch>
            <a:fillRect/>
          </a:stretch>
        </p:blipFill>
        <p:spPr>
          <a:xfrm>
            <a:off x="1186672" y="3294950"/>
            <a:ext cx="9440704" cy="148990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416D14E-AA3B-1CDC-E5F3-E7E043488413}"/>
              </a:ext>
            </a:extLst>
          </p:cNvPr>
          <p:cNvSpPr txBox="1"/>
          <p:nvPr/>
        </p:nvSpPr>
        <p:spPr>
          <a:xfrm>
            <a:off x="2652638" y="4775675"/>
            <a:ext cx="3018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ptos" panose="020B0004020202020204" pitchFamily="34" charset="0"/>
              </a:rPr>
              <a:t>Urban feature extraction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593931"/>
            <a:ext cx="108813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A1F33"/>
                </a:solidFill>
                <a:latin typeface="Aptos"/>
              </a:rPr>
              <a:t>SYSTEM ARCHITECTURE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0604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pic>
        <p:nvPicPr>
          <p:cNvPr id="73" name="Picture 72" descr="image2.png">
            <a:extLst>
              <a:ext uri="{FF2B5EF4-FFF2-40B4-BE49-F238E27FC236}">
                <a16:creationId xmlns:a16="http://schemas.microsoft.com/office/drawing/2014/main" id="{79805E3B-FAAB-5205-719E-11C2842F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75" y="6304098"/>
            <a:ext cx="480668" cy="48066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2266CF3-AB4B-6AAB-78AC-410AA9D0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74" y="1223888"/>
            <a:ext cx="11826371" cy="4931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F443B7-8708-F933-9E0C-80FE7F1E135E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png">
            <a:extLst>
              <a:ext uri="{FF2B5EF4-FFF2-40B4-BE49-F238E27FC236}">
                <a16:creationId xmlns:a16="http://schemas.microsoft.com/office/drawing/2014/main" id="{9247A5C3-36C0-0406-F48A-DCA2928FE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5" y="6332379"/>
            <a:ext cx="480668" cy="480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AE904-C505-CBE6-4289-CFCF15FBC896}"/>
              </a:ext>
            </a:extLst>
          </p:cNvPr>
          <p:cNvSpPr txBox="1"/>
          <p:nvPr/>
        </p:nvSpPr>
        <p:spPr>
          <a:xfrm>
            <a:off x="708092" y="6446471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FD3455-D84A-1009-D761-A5AF78BB6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38" t="28151" r="60313" b="33193"/>
          <a:stretch>
            <a:fillRect/>
          </a:stretch>
        </p:blipFill>
        <p:spPr>
          <a:xfrm>
            <a:off x="7741008" y="1355102"/>
            <a:ext cx="3981193" cy="2543539"/>
          </a:xfrm>
          <a:custGeom>
            <a:avLst/>
            <a:gdLst>
              <a:gd name="csX0" fmla="*/ 178239 w 5486400"/>
              <a:gd name="csY0" fmla="*/ 0 h 3505200"/>
              <a:gd name="csX1" fmla="*/ 5308162 w 5486400"/>
              <a:gd name="csY1" fmla="*/ 0 h 3505200"/>
              <a:gd name="csX2" fmla="*/ 5486400 w 5486400"/>
              <a:gd name="csY2" fmla="*/ 178239 h 3505200"/>
              <a:gd name="csX3" fmla="*/ 5486400 w 5486400"/>
              <a:gd name="csY3" fmla="*/ 3326961 h 3505200"/>
              <a:gd name="csX4" fmla="*/ 5308162 w 5486400"/>
              <a:gd name="csY4" fmla="*/ 3505200 h 3505200"/>
              <a:gd name="csX5" fmla="*/ 178239 w 5486400"/>
              <a:gd name="csY5" fmla="*/ 3505200 h 3505200"/>
              <a:gd name="csX6" fmla="*/ 0 w 5486400"/>
              <a:gd name="csY6" fmla="*/ 3326961 h 3505200"/>
              <a:gd name="csX7" fmla="*/ 0 w 5486400"/>
              <a:gd name="csY7" fmla="*/ 178239 h 3505200"/>
              <a:gd name="csX8" fmla="*/ 178239 w 5486400"/>
              <a:gd name="csY8" fmla="*/ 0 h 350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486400" h="3505200">
                <a:moveTo>
                  <a:pt x="178239" y="0"/>
                </a:moveTo>
                <a:lnTo>
                  <a:pt x="5308162" y="0"/>
                </a:lnTo>
                <a:cubicBezTo>
                  <a:pt x="5406601" y="0"/>
                  <a:pt x="5486400" y="79800"/>
                  <a:pt x="5486400" y="178239"/>
                </a:cubicBezTo>
                <a:lnTo>
                  <a:pt x="5486400" y="3326961"/>
                </a:lnTo>
                <a:cubicBezTo>
                  <a:pt x="5486400" y="3425400"/>
                  <a:pt x="5406601" y="3505200"/>
                  <a:pt x="5308162" y="3505200"/>
                </a:cubicBezTo>
                <a:lnTo>
                  <a:pt x="178239" y="3505200"/>
                </a:lnTo>
                <a:cubicBezTo>
                  <a:pt x="79800" y="3505200"/>
                  <a:pt x="0" y="3425400"/>
                  <a:pt x="0" y="3326961"/>
                </a:cubicBezTo>
                <a:lnTo>
                  <a:pt x="0" y="178239"/>
                </a:lnTo>
                <a:cubicBezTo>
                  <a:pt x="0" y="79800"/>
                  <a:pt x="79800" y="0"/>
                  <a:pt x="178239" y="0"/>
                </a:cubicBezTo>
                <a:close/>
              </a:path>
            </a:pathLst>
          </a:custGeom>
          <a:ln w="31750">
            <a:solidFill>
              <a:srgbClr val="00206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50D5EF-5245-6FBD-3688-CFC626CE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781" t="28238" r="5469" b="33107"/>
          <a:stretch>
            <a:fillRect/>
          </a:stretch>
        </p:blipFill>
        <p:spPr>
          <a:xfrm>
            <a:off x="708092" y="1355101"/>
            <a:ext cx="3981193" cy="2543539"/>
          </a:xfrm>
          <a:custGeom>
            <a:avLst/>
            <a:gdLst>
              <a:gd name="csX0" fmla="*/ 178239 w 5486400"/>
              <a:gd name="csY0" fmla="*/ 0 h 3505200"/>
              <a:gd name="csX1" fmla="*/ 5308161 w 5486400"/>
              <a:gd name="csY1" fmla="*/ 0 h 3505200"/>
              <a:gd name="csX2" fmla="*/ 5486400 w 5486400"/>
              <a:gd name="csY2" fmla="*/ 178239 h 3505200"/>
              <a:gd name="csX3" fmla="*/ 5486400 w 5486400"/>
              <a:gd name="csY3" fmla="*/ 3326961 h 3505200"/>
              <a:gd name="csX4" fmla="*/ 5308161 w 5486400"/>
              <a:gd name="csY4" fmla="*/ 3505200 h 3505200"/>
              <a:gd name="csX5" fmla="*/ 178239 w 5486400"/>
              <a:gd name="csY5" fmla="*/ 3505200 h 3505200"/>
              <a:gd name="csX6" fmla="*/ 0 w 5486400"/>
              <a:gd name="csY6" fmla="*/ 3326961 h 3505200"/>
              <a:gd name="csX7" fmla="*/ 0 w 5486400"/>
              <a:gd name="csY7" fmla="*/ 178239 h 3505200"/>
              <a:gd name="csX8" fmla="*/ 178239 w 5486400"/>
              <a:gd name="csY8" fmla="*/ 0 h 350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486400" h="3505200">
                <a:moveTo>
                  <a:pt x="178239" y="0"/>
                </a:moveTo>
                <a:lnTo>
                  <a:pt x="5308161" y="0"/>
                </a:lnTo>
                <a:cubicBezTo>
                  <a:pt x="5406600" y="0"/>
                  <a:pt x="5486400" y="79800"/>
                  <a:pt x="5486400" y="178239"/>
                </a:cubicBezTo>
                <a:lnTo>
                  <a:pt x="5486400" y="3326961"/>
                </a:lnTo>
                <a:cubicBezTo>
                  <a:pt x="5486400" y="3425400"/>
                  <a:pt x="5406600" y="3505200"/>
                  <a:pt x="5308161" y="3505200"/>
                </a:cubicBezTo>
                <a:lnTo>
                  <a:pt x="178239" y="3505200"/>
                </a:lnTo>
                <a:cubicBezTo>
                  <a:pt x="79800" y="3505200"/>
                  <a:pt x="0" y="3425400"/>
                  <a:pt x="0" y="3326961"/>
                </a:cubicBezTo>
                <a:lnTo>
                  <a:pt x="0" y="178239"/>
                </a:lnTo>
                <a:cubicBezTo>
                  <a:pt x="0" y="79800"/>
                  <a:pt x="79800" y="0"/>
                  <a:pt x="178239" y="0"/>
                </a:cubicBezTo>
                <a:close/>
              </a:path>
            </a:pathLst>
          </a:custGeom>
          <a:ln w="31750">
            <a:solidFill>
              <a:srgbClr val="002060"/>
            </a:solidFill>
          </a:ln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E28E0DBB-D192-3C3C-1473-1A1D4B0F81B6}"/>
              </a:ext>
            </a:extLst>
          </p:cNvPr>
          <p:cNvSpPr/>
          <p:nvPr/>
        </p:nvSpPr>
        <p:spPr>
          <a:xfrm>
            <a:off x="4930710" y="2318994"/>
            <a:ext cx="2554663" cy="763571"/>
          </a:xfrm>
          <a:prstGeom prst="rightArrow">
            <a:avLst/>
          </a:prstGeom>
          <a:gradFill>
            <a:gsLst>
              <a:gs pos="0">
                <a:srgbClr val="00B0F0"/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4D6294-4964-7EEF-C25A-65D31DA27E01}"/>
              </a:ext>
            </a:extLst>
          </p:cNvPr>
          <p:cNvSpPr txBox="1"/>
          <p:nvPr/>
        </p:nvSpPr>
        <p:spPr>
          <a:xfrm>
            <a:off x="4856768" y="1694013"/>
            <a:ext cx="2554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Eras Demi ITC" panose="020B0805030504020804" pitchFamily="34" charset="0"/>
              </a:rPr>
              <a:t>Mitigation applied:</a:t>
            </a:r>
          </a:p>
          <a:p>
            <a:pPr algn="ctr"/>
            <a:r>
              <a:rPr lang="en-IN" dirty="0">
                <a:latin typeface="Eras Demi ITC" panose="020B0805030504020804" pitchFamily="34" charset="0"/>
              </a:rPr>
              <a:t>+20% Canopy Cover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12C7BB-4F62-43E5-18F8-3EAC4FB02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5000"/>
                    </a14:imgEffect>
                  </a14:imgLayer>
                </a14:imgProps>
              </a:ext>
            </a:extLst>
          </a:blip>
          <a:srcRect l="35938" t="76050" r="35938" b="9664"/>
          <a:stretch>
            <a:fillRect/>
          </a:stretch>
        </p:blipFill>
        <p:spPr>
          <a:xfrm>
            <a:off x="4379148" y="4888203"/>
            <a:ext cx="3542788" cy="1003790"/>
          </a:xfrm>
          <a:custGeom>
            <a:avLst/>
            <a:gdLst>
              <a:gd name="csX0" fmla="*/ 88139 w 4572000"/>
              <a:gd name="csY0" fmla="*/ 0 h 1295400"/>
              <a:gd name="csX1" fmla="*/ 4483861 w 4572000"/>
              <a:gd name="csY1" fmla="*/ 0 h 1295400"/>
              <a:gd name="csX2" fmla="*/ 4572000 w 4572000"/>
              <a:gd name="csY2" fmla="*/ 88139 h 1295400"/>
              <a:gd name="csX3" fmla="*/ 4572000 w 4572000"/>
              <a:gd name="csY3" fmla="*/ 1207261 h 1295400"/>
              <a:gd name="csX4" fmla="*/ 4483861 w 4572000"/>
              <a:gd name="csY4" fmla="*/ 1295400 h 1295400"/>
              <a:gd name="csX5" fmla="*/ 88139 w 4572000"/>
              <a:gd name="csY5" fmla="*/ 1295400 h 1295400"/>
              <a:gd name="csX6" fmla="*/ 0 w 4572000"/>
              <a:gd name="csY6" fmla="*/ 1207261 h 1295400"/>
              <a:gd name="csX7" fmla="*/ 0 w 4572000"/>
              <a:gd name="csY7" fmla="*/ 88139 h 1295400"/>
              <a:gd name="csX8" fmla="*/ 88139 w 4572000"/>
              <a:gd name="csY8" fmla="*/ 0 h 1295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72000" h="1295400">
                <a:moveTo>
                  <a:pt x="88139" y="0"/>
                </a:moveTo>
                <a:lnTo>
                  <a:pt x="4483861" y="0"/>
                </a:lnTo>
                <a:cubicBezTo>
                  <a:pt x="4532539" y="0"/>
                  <a:pt x="4572000" y="39461"/>
                  <a:pt x="4572000" y="88139"/>
                </a:cubicBezTo>
                <a:lnTo>
                  <a:pt x="4572000" y="1207261"/>
                </a:lnTo>
                <a:cubicBezTo>
                  <a:pt x="4572000" y="1255939"/>
                  <a:pt x="4532539" y="1295400"/>
                  <a:pt x="4483861" y="1295400"/>
                </a:cubicBezTo>
                <a:lnTo>
                  <a:pt x="88139" y="1295400"/>
                </a:lnTo>
                <a:cubicBezTo>
                  <a:pt x="39462" y="1295400"/>
                  <a:pt x="0" y="1255939"/>
                  <a:pt x="0" y="1207261"/>
                </a:cubicBezTo>
                <a:lnTo>
                  <a:pt x="0" y="88139"/>
                </a:lnTo>
                <a:cubicBezTo>
                  <a:pt x="0" y="39461"/>
                  <a:pt x="39462" y="0"/>
                  <a:pt x="88139" y="0"/>
                </a:cubicBezTo>
                <a:close/>
              </a:path>
            </a:pathLst>
          </a:cu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DE0DDC-A363-C471-B37F-B57CBF163B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8000"/>
                    </a14:imgEffect>
                    <a14:imgEffect>
                      <a14:brightnessContrast contrast="2000"/>
                    </a14:imgEffect>
                  </a14:imgLayer>
                </a14:imgProps>
              </a:ext>
            </a:extLst>
          </a:blip>
          <a:srcRect l="5424" t="76230" r="66920" b="9484"/>
          <a:stretch>
            <a:fillRect/>
          </a:stretch>
        </p:blipFill>
        <p:spPr>
          <a:xfrm>
            <a:off x="631763" y="4888202"/>
            <a:ext cx="3542787" cy="990473"/>
          </a:xfrm>
          <a:custGeom>
            <a:avLst/>
            <a:gdLst>
              <a:gd name="csX0" fmla="*/ 88139 w 4495800"/>
              <a:gd name="csY0" fmla="*/ 0 h 1295400"/>
              <a:gd name="csX1" fmla="*/ 4407661 w 4495800"/>
              <a:gd name="csY1" fmla="*/ 0 h 1295400"/>
              <a:gd name="csX2" fmla="*/ 4495800 w 4495800"/>
              <a:gd name="csY2" fmla="*/ 88139 h 1295400"/>
              <a:gd name="csX3" fmla="*/ 4495800 w 4495800"/>
              <a:gd name="csY3" fmla="*/ 1207261 h 1295400"/>
              <a:gd name="csX4" fmla="*/ 4407661 w 4495800"/>
              <a:gd name="csY4" fmla="*/ 1295400 h 1295400"/>
              <a:gd name="csX5" fmla="*/ 88139 w 4495800"/>
              <a:gd name="csY5" fmla="*/ 1295400 h 1295400"/>
              <a:gd name="csX6" fmla="*/ 0 w 4495800"/>
              <a:gd name="csY6" fmla="*/ 1207261 h 1295400"/>
              <a:gd name="csX7" fmla="*/ 0 w 4495800"/>
              <a:gd name="csY7" fmla="*/ 88139 h 1295400"/>
              <a:gd name="csX8" fmla="*/ 88139 w 4495800"/>
              <a:gd name="csY8" fmla="*/ 0 h 1295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495800" h="1295400">
                <a:moveTo>
                  <a:pt x="88139" y="0"/>
                </a:moveTo>
                <a:lnTo>
                  <a:pt x="4407661" y="0"/>
                </a:lnTo>
                <a:cubicBezTo>
                  <a:pt x="4456340" y="0"/>
                  <a:pt x="4495800" y="39461"/>
                  <a:pt x="4495800" y="88139"/>
                </a:cubicBezTo>
                <a:lnTo>
                  <a:pt x="4495800" y="1207261"/>
                </a:lnTo>
                <a:cubicBezTo>
                  <a:pt x="4495800" y="1255939"/>
                  <a:pt x="4456340" y="1295400"/>
                  <a:pt x="4407661" y="1295400"/>
                </a:cubicBezTo>
                <a:lnTo>
                  <a:pt x="88139" y="1295400"/>
                </a:lnTo>
                <a:cubicBezTo>
                  <a:pt x="39461" y="1295400"/>
                  <a:pt x="0" y="1255939"/>
                  <a:pt x="0" y="1207261"/>
                </a:cubicBezTo>
                <a:lnTo>
                  <a:pt x="0" y="88139"/>
                </a:lnTo>
                <a:cubicBezTo>
                  <a:pt x="0" y="39461"/>
                  <a:pt x="39461" y="0"/>
                  <a:pt x="88139" y="0"/>
                </a:cubicBezTo>
                <a:close/>
              </a:path>
            </a:pathLst>
          </a:cu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9A1D66D-2252-379F-E2F8-BD16099E9C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6000"/>
                    </a14:imgEffect>
                  </a14:imgLayer>
                </a14:imgProps>
              </a:ext>
            </a:extLst>
          </a:blip>
          <a:srcRect l="66830" t="76230" r="5513" b="9484"/>
          <a:stretch>
            <a:fillRect/>
          </a:stretch>
        </p:blipFill>
        <p:spPr>
          <a:xfrm>
            <a:off x="8191957" y="4888202"/>
            <a:ext cx="3437524" cy="952431"/>
          </a:xfrm>
          <a:custGeom>
            <a:avLst/>
            <a:gdLst>
              <a:gd name="csX0" fmla="*/ 88139 w 4495800"/>
              <a:gd name="csY0" fmla="*/ 0 h 1295400"/>
              <a:gd name="csX1" fmla="*/ 4407661 w 4495800"/>
              <a:gd name="csY1" fmla="*/ 0 h 1295400"/>
              <a:gd name="csX2" fmla="*/ 4495800 w 4495800"/>
              <a:gd name="csY2" fmla="*/ 88139 h 1295400"/>
              <a:gd name="csX3" fmla="*/ 4495800 w 4495800"/>
              <a:gd name="csY3" fmla="*/ 1207261 h 1295400"/>
              <a:gd name="csX4" fmla="*/ 4407661 w 4495800"/>
              <a:gd name="csY4" fmla="*/ 1295400 h 1295400"/>
              <a:gd name="csX5" fmla="*/ 88139 w 4495800"/>
              <a:gd name="csY5" fmla="*/ 1295400 h 1295400"/>
              <a:gd name="csX6" fmla="*/ 0 w 4495800"/>
              <a:gd name="csY6" fmla="*/ 1207261 h 1295400"/>
              <a:gd name="csX7" fmla="*/ 0 w 4495800"/>
              <a:gd name="csY7" fmla="*/ 88139 h 1295400"/>
              <a:gd name="csX8" fmla="*/ 88139 w 4495800"/>
              <a:gd name="csY8" fmla="*/ 0 h 1295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495800" h="1295400">
                <a:moveTo>
                  <a:pt x="88139" y="0"/>
                </a:moveTo>
                <a:lnTo>
                  <a:pt x="4407661" y="0"/>
                </a:lnTo>
                <a:cubicBezTo>
                  <a:pt x="4456339" y="0"/>
                  <a:pt x="4495800" y="39461"/>
                  <a:pt x="4495800" y="88139"/>
                </a:cubicBezTo>
                <a:lnTo>
                  <a:pt x="4495800" y="1207261"/>
                </a:lnTo>
                <a:cubicBezTo>
                  <a:pt x="4495800" y="1255939"/>
                  <a:pt x="4456339" y="1295400"/>
                  <a:pt x="4407661" y="1295400"/>
                </a:cubicBezTo>
                <a:lnTo>
                  <a:pt x="88139" y="1295400"/>
                </a:lnTo>
                <a:cubicBezTo>
                  <a:pt x="39461" y="1295400"/>
                  <a:pt x="0" y="1255939"/>
                  <a:pt x="0" y="1207261"/>
                </a:cubicBezTo>
                <a:lnTo>
                  <a:pt x="0" y="88139"/>
                </a:lnTo>
                <a:cubicBezTo>
                  <a:pt x="0" y="39461"/>
                  <a:pt x="39461" y="0"/>
                  <a:pt x="88139" y="0"/>
                </a:cubicBezTo>
                <a:close/>
              </a:path>
            </a:pathLst>
          </a:cu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321CD23-311A-3668-97A5-D20095D49DAA}"/>
              </a:ext>
            </a:extLst>
          </p:cNvPr>
          <p:cNvSpPr/>
          <p:nvPr/>
        </p:nvSpPr>
        <p:spPr>
          <a:xfrm>
            <a:off x="599299" y="1355101"/>
            <a:ext cx="45719" cy="2543540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DDF7E9-13D1-6E30-C051-338E7DF50846}"/>
              </a:ext>
            </a:extLst>
          </p:cNvPr>
          <p:cNvSpPr/>
          <p:nvPr/>
        </p:nvSpPr>
        <p:spPr>
          <a:xfrm>
            <a:off x="7629383" y="1325879"/>
            <a:ext cx="45719" cy="2572761"/>
          </a:xfrm>
          <a:prstGeom prst="rect">
            <a:avLst/>
          </a:prstGeom>
          <a:solidFill>
            <a:srgbClr val="EE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084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0BBE77-0855-CE28-E9F1-B3470F9AF77F}"/>
              </a:ext>
            </a:extLst>
          </p:cNvPr>
          <p:cNvSpPr txBox="1"/>
          <p:nvPr/>
        </p:nvSpPr>
        <p:spPr>
          <a:xfrm>
            <a:off x="971432" y="687685"/>
            <a:ext cx="2560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0A1F33"/>
                </a:solidFill>
                <a:latin typeface="Aptos"/>
              </a:rPr>
              <a:t>TECHNICAL STACK</a:t>
            </a:r>
          </a:p>
        </p:txBody>
      </p:sp>
      <p:sp>
        <p:nvSpPr>
          <p:cNvPr id="5" name="Rounded Rectangle 39">
            <a:extLst>
              <a:ext uri="{FF2B5EF4-FFF2-40B4-BE49-F238E27FC236}">
                <a16:creationId xmlns:a16="http://schemas.microsoft.com/office/drawing/2014/main" id="{3D49253C-D230-E192-FFDD-C3D5F200D978}"/>
              </a:ext>
            </a:extLst>
          </p:cNvPr>
          <p:cNvSpPr/>
          <p:nvPr/>
        </p:nvSpPr>
        <p:spPr>
          <a:xfrm>
            <a:off x="1112315" y="1386655"/>
            <a:ext cx="3686491" cy="14082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DCB15-1630-33A3-E585-E4A22109A2EE}"/>
              </a:ext>
            </a:extLst>
          </p:cNvPr>
          <p:cNvSpPr/>
          <p:nvPr/>
        </p:nvSpPr>
        <p:spPr>
          <a:xfrm flipH="1">
            <a:off x="971294" y="1389220"/>
            <a:ext cx="45719" cy="1405637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53077-27D7-DDA3-CE60-B14780FDBAB7}"/>
              </a:ext>
            </a:extLst>
          </p:cNvPr>
          <p:cNvSpPr txBox="1"/>
          <p:nvPr/>
        </p:nvSpPr>
        <p:spPr>
          <a:xfrm>
            <a:off x="1296281" y="1516477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dirty="0">
                <a:solidFill>
                  <a:srgbClr val="0A1F33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74777-2765-0F7D-751A-9E577C2F78E3}"/>
              </a:ext>
            </a:extLst>
          </p:cNvPr>
          <p:cNvSpPr txBox="1"/>
          <p:nvPr/>
        </p:nvSpPr>
        <p:spPr>
          <a:xfrm>
            <a:off x="1210876" y="1921500"/>
            <a:ext cx="21945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dirty="0">
                <a:solidFill>
                  <a:srgbClr val="253441"/>
                </a:solidFill>
                <a:latin typeface="Aptos"/>
              </a:rPr>
              <a:t>HTML • CSS • JavaScript • Bootstrap</a:t>
            </a:r>
          </a:p>
        </p:txBody>
      </p:sp>
      <p:pic>
        <p:nvPicPr>
          <p:cNvPr id="13" name="Picture 12" descr="image7.png">
            <a:extLst>
              <a:ext uri="{FF2B5EF4-FFF2-40B4-BE49-F238E27FC236}">
                <a16:creationId xmlns:a16="http://schemas.microsoft.com/office/drawing/2014/main" id="{36AB5A47-7E85-C957-3832-9AF6FD02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513" y="1826080"/>
            <a:ext cx="638663" cy="638663"/>
          </a:xfrm>
          <a:prstGeom prst="rect">
            <a:avLst/>
          </a:prstGeom>
        </p:spPr>
      </p:pic>
      <p:sp>
        <p:nvSpPr>
          <p:cNvPr id="15" name="Rounded Rectangle 44">
            <a:extLst>
              <a:ext uri="{FF2B5EF4-FFF2-40B4-BE49-F238E27FC236}">
                <a16:creationId xmlns:a16="http://schemas.microsoft.com/office/drawing/2014/main" id="{9B3F04F2-146A-9E31-5E86-1957083644DB}"/>
              </a:ext>
            </a:extLst>
          </p:cNvPr>
          <p:cNvSpPr/>
          <p:nvPr/>
        </p:nvSpPr>
        <p:spPr>
          <a:xfrm>
            <a:off x="7383212" y="1389221"/>
            <a:ext cx="3686491" cy="1405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FB5EE-0043-ACBF-DC7F-48B4F179539D}"/>
              </a:ext>
            </a:extLst>
          </p:cNvPr>
          <p:cNvSpPr/>
          <p:nvPr/>
        </p:nvSpPr>
        <p:spPr>
          <a:xfrm>
            <a:off x="7271506" y="1389220"/>
            <a:ext cx="45719" cy="1405638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8248C-F4D0-31FC-85CB-3CCCA77F6A07}"/>
              </a:ext>
            </a:extLst>
          </p:cNvPr>
          <p:cNvSpPr txBox="1"/>
          <p:nvPr/>
        </p:nvSpPr>
        <p:spPr>
          <a:xfrm>
            <a:off x="7383212" y="1498113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dirty="0">
                <a:solidFill>
                  <a:srgbClr val="0A1F33"/>
                </a:solidFill>
                <a:latin typeface="Aptos"/>
              </a:rPr>
              <a:t>BACKEND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AE6B08-D21C-7463-98AE-6D796274C30D}"/>
              </a:ext>
            </a:extLst>
          </p:cNvPr>
          <p:cNvSpPr txBox="1"/>
          <p:nvPr/>
        </p:nvSpPr>
        <p:spPr>
          <a:xfrm>
            <a:off x="7423415" y="1890129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dirty="0"/>
              <a:t>Python • Flask</a:t>
            </a:r>
          </a:p>
        </p:txBody>
      </p:sp>
      <p:pic>
        <p:nvPicPr>
          <p:cNvPr id="23" name="Picture 22" descr="image8.png">
            <a:extLst>
              <a:ext uri="{FF2B5EF4-FFF2-40B4-BE49-F238E27FC236}">
                <a16:creationId xmlns:a16="http://schemas.microsoft.com/office/drawing/2014/main" id="{2355FF60-1F1D-A21C-AC9C-664F8345C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0" y="1756795"/>
            <a:ext cx="707948" cy="707948"/>
          </a:xfrm>
          <a:prstGeom prst="rect">
            <a:avLst/>
          </a:prstGeom>
        </p:spPr>
      </p:pic>
      <p:sp>
        <p:nvSpPr>
          <p:cNvPr id="25" name="Rounded Rectangle 49">
            <a:extLst>
              <a:ext uri="{FF2B5EF4-FFF2-40B4-BE49-F238E27FC236}">
                <a16:creationId xmlns:a16="http://schemas.microsoft.com/office/drawing/2014/main" id="{298C209E-D95A-6591-B619-7D6BB5415C22}"/>
              </a:ext>
            </a:extLst>
          </p:cNvPr>
          <p:cNvSpPr/>
          <p:nvPr/>
        </p:nvSpPr>
        <p:spPr>
          <a:xfrm>
            <a:off x="1112315" y="2971800"/>
            <a:ext cx="3668532" cy="14112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4A451F-CE9B-D1F6-7C15-F183D86F26D1}"/>
              </a:ext>
            </a:extLst>
          </p:cNvPr>
          <p:cNvSpPr/>
          <p:nvPr/>
        </p:nvSpPr>
        <p:spPr>
          <a:xfrm flipH="1">
            <a:off x="1001130" y="2971800"/>
            <a:ext cx="45719" cy="1405636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F99F4C-601F-2B9C-915F-091CD785105C}"/>
              </a:ext>
            </a:extLst>
          </p:cNvPr>
          <p:cNvSpPr txBox="1"/>
          <p:nvPr/>
        </p:nvSpPr>
        <p:spPr>
          <a:xfrm>
            <a:off x="1230294" y="3090672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dirty="0">
                <a:solidFill>
                  <a:srgbClr val="0A1F33"/>
                </a:solidFill>
                <a:latin typeface="Aptos"/>
              </a:rPr>
              <a:t>COMPUTER VISION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41FB4-3D36-9FA9-2CFD-5BACA9412259}"/>
              </a:ext>
            </a:extLst>
          </p:cNvPr>
          <p:cNvSpPr txBox="1"/>
          <p:nvPr/>
        </p:nvSpPr>
        <p:spPr>
          <a:xfrm>
            <a:off x="1296281" y="3447288"/>
            <a:ext cx="267579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253441"/>
                </a:solidFill>
                <a:latin typeface="Aptos"/>
              </a:rPr>
              <a:t>OpenCV + Segmentation Model
(candidates: </a:t>
            </a:r>
            <a:r>
              <a:rPr sz="1400" b="0" dirty="0" err="1">
                <a:solidFill>
                  <a:srgbClr val="253441"/>
                </a:solidFill>
                <a:latin typeface="Aptos"/>
              </a:rPr>
              <a:t>SegFormer</a:t>
            </a:r>
            <a:r>
              <a:rPr sz="1400" b="0" dirty="0">
                <a:solidFill>
                  <a:srgbClr val="253441"/>
                </a:solidFill>
                <a:latin typeface="Aptos"/>
              </a:rPr>
              <a:t> / U-Net / DeepLabV3)</a:t>
            </a:r>
          </a:p>
        </p:txBody>
      </p:sp>
      <p:pic>
        <p:nvPicPr>
          <p:cNvPr id="33" name="Picture 32" descr="image8.png">
            <a:extLst>
              <a:ext uri="{FF2B5EF4-FFF2-40B4-BE49-F238E27FC236}">
                <a16:creationId xmlns:a16="http://schemas.microsoft.com/office/drawing/2014/main" id="{0EE0D745-5D7A-BB9D-8538-FF3B53AC3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23" y="3275338"/>
            <a:ext cx="685800" cy="685800"/>
          </a:xfrm>
          <a:prstGeom prst="rect">
            <a:avLst/>
          </a:prstGeom>
        </p:spPr>
      </p:pic>
      <p:sp>
        <p:nvSpPr>
          <p:cNvPr id="35" name="Rounded Rectangle 54">
            <a:extLst>
              <a:ext uri="{FF2B5EF4-FFF2-40B4-BE49-F238E27FC236}">
                <a16:creationId xmlns:a16="http://schemas.microsoft.com/office/drawing/2014/main" id="{1AE3B0F7-09D7-8893-EAEF-05E333F68C1A}"/>
              </a:ext>
            </a:extLst>
          </p:cNvPr>
          <p:cNvSpPr/>
          <p:nvPr/>
        </p:nvSpPr>
        <p:spPr>
          <a:xfrm>
            <a:off x="7383211" y="2988056"/>
            <a:ext cx="3696474" cy="1405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ECAA8E-B689-1C14-8DF7-9E34480EF95A}"/>
              </a:ext>
            </a:extLst>
          </p:cNvPr>
          <p:cNvSpPr/>
          <p:nvPr/>
        </p:nvSpPr>
        <p:spPr>
          <a:xfrm>
            <a:off x="7257696" y="2971800"/>
            <a:ext cx="45719" cy="1421892"/>
          </a:xfrm>
          <a:prstGeom prst="rect">
            <a:avLst/>
          </a:prstGeom>
          <a:solidFill>
            <a:srgbClr val="EE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6F30D5-4040-E29B-8303-AF4DD855FF49}"/>
              </a:ext>
            </a:extLst>
          </p:cNvPr>
          <p:cNvSpPr txBox="1"/>
          <p:nvPr/>
        </p:nvSpPr>
        <p:spPr>
          <a:xfrm>
            <a:off x="7450573" y="3090672"/>
            <a:ext cx="289386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dirty="0">
                <a:solidFill>
                  <a:srgbClr val="0A1F33"/>
                </a:solidFill>
                <a:latin typeface="Aptos"/>
              </a:rPr>
              <a:t>MACHINE LEARNING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876B00-FD18-E5C8-B3B6-58E0540AC2FE}"/>
              </a:ext>
            </a:extLst>
          </p:cNvPr>
          <p:cNvSpPr txBox="1"/>
          <p:nvPr/>
        </p:nvSpPr>
        <p:spPr>
          <a:xfrm>
            <a:off x="7431715" y="3447288"/>
            <a:ext cx="293004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253441"/>
                </a:solidFill>
                <a:latin typeface="Aptos"/>
              </a:rPr>
              <a:t>Heat prediction (candidates: Random Forest / </a:t>
            </a:r>
            <a:r>
              <a:rPr sz="1400" b="0" dirty="0" err="1">
                <a:solidFill>
                  <a:srgbClr val="253441"/>
                </a:solidFill>
                <a:latin typeface="Aptos"/>
              </a:rPr>
              <a:t>XGBoost</a:t>
            </a:r>
            <a:r>
              <a:rPr sz="1400" b="0" dirty="0">
                <a:solidFill>
                  <a:srgbClr val="253441"/>
                </a:solidFill>
                <a:latin typeface="Aptos"/>
              </a:rPr>
              <a:t> / </a:t>
            </a:r>
            <a:r>
              <a:rPr sz="1400" b="0" dirty="0" err="1">
                <a:solidFill>
                  <a:srgbClr val="253441"/>
                </a:solidFill>
                <a:latin typeface="Aptos"/>
              </a:rPr>
              <a:t>LightGBM</a:t>
            </a:r>
            <a:r>
              <a:rPr sz="1400" b="0" dirty="0">
                <a:solidFill>
                  <a:srgbClr val="253441"/>
                </a:solidFill>
                <a:latin typeface="Aptos"/>
              </a:rPr>
              <a:t>)</a:t>
            </a:r>
          </a:p>
        </p:txBody>
      </p:sp>
      <p:pic>
        <p:nvPicPr>
          <p:cNvPr id="43" name="Picture 42" descr="image11.png">
            <a:extLst>
              <a:ext uri="{FF2B5EF4-FFF2-40B4-BE49-F238E27FC236}">
                <a16:creationId xmlns:a16="http://schemas.microsoft.com/office/drawing/2014/main" id="{9F956752-A898-D9E0-7D35-7BEC67301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749" y="3275338"/>
            <a:ext cx="720970" cy="720970"/>
          </a:xfrm>
          <a:prstGeom prst="rect">
            <a:avLst/>
          </a:prstGeom>
        </p:spPr>
      </p:pic>
      <p:sp>
        <p:nvSpPr>
          <p:cNvPr id="45" name="Rounded Rectangle 59">
            <a:extLst>
              <a:ext uri="{FF2B5EF4-FFF2-40B4-BE49-F238E27FC236}">
                <a16:creationId xmlns:a16="http://schemas.microsoft.com/office/drawing/2014/main" id="{9B5A1C1D-BCA7-B7D8-8BB1-B3B12C8AFE32}"/>
              </a:ext>
            </a:extLst>
          </p:cNvPr>
          <p:cNvSpPr/>
          <p:nvPr/>
        </p:nvSpPr>
        <p:spPr>
          <a:xfrm>
            <a:off x="1112315" y="4768527"/>
            <a:ext cx="3686491" cy="1405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AC544A-8CC3-7124-9E94-80CFF9A146FC}"/>
              </a:ext>
            </a:extLst>
          </p:cNvPr>
          <p:cNvSpPr/>
          <p:nvPr/>
        </p:nvSpPr>
        <p:spPr>
          <a:xfrm>
            <a:off x="1000141" y="4768526"/>
            <a:ext cx="45719" cy="1405637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EE6DB5-419D-F3DB-6583-40042E5FCD67}"/>
              </a:ext>
            </a:extLst>
          </p:cNvPr>
          <p:cNvSpPr txBox="1"/>
          <p:nvPr/>
        </p:nvSpPr>
        <p:spPr>
          <a:xfrm>
            <a:off x="1296281" y="4939766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dirty="0">
                <a:solidFill>
                  <a:srgbClr val="0A1F33"/>
                </a:solidFill>
                <a:latin typeface="Aptos"/>
              </a:rPr>
              <a:t>MAPPING / GIS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40D731-CEF1-9283-05B6-F40D0887CB80}"/>
              </a:ext>
            </a:extLst>
          </p:cNvPr>
          <p:cNvSpPr txBox="1"/>
          <p:nvPr/>
        </p:nvSpPr>
        <p:spPr>
          <a:xfrm>
            <a:off x="1299675" y="5468553"/>
            <a:ext cx="245327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253441"/>
                </a:solidFill>
                <a:latin typeface="Aptos"/>
              </a:rPr>
              <a:t>Leaflet • GIS layers</a:t>
            </a:r>
          </a:p>
        </p:txBody>
      </p:sp>
      <p:pic>
        <p:nvPicPr>
          <p:cNvPr id="53" name="Picture 52" descr="image10.png">
            <a:extLst>
              <a:ext uri="{FF2B5EF4-FFF2-40B4-BE49-F238E27FC236}">
                <a16:creationId xmlns:a16="http://schemas.microsoft.com/office/drawing/2014/main" id="{61E93B13-2DFC-AA07-B7C3-63532E32C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995" y="5167829"/>
            <a:ext cx="670056" cy="670056"/>
          </a:xfrm>
          <a:prstGeom prst="rect">
            <a:avLst/>
          </a:prstGeom>
        </p:spPr>
      </p:pic>
      <p:sp>
        <p:nvSpPr>
          <p:cNvPr id="55" name="Rounded Rectangle 64">
            <a:extLst>
              <a:ext uri="{FF2B5EF4-FFF2-40B4-BE49-F238E27FC236}">
                <a16:creationId xmlns:a16="http://schemas.microsoft.com/office/drawing/2014/main" id="{6219F596-E7C4-00D4-A314-D4C6EF9031B9}"/>
              </a:ext>
            </a:extLst>
          </p:cNvPr>
          <p:cNvSpPr/>
          <p:nvPr/>
        </p:nvSpPr>
        <p:spPr>
          <a:xfrm>
            <a:off x="7383211" y="4623813"/>
            <a:ext cx="3686491" cy="14284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8B03607-4F7F-4B04-52BA-0E266AD7822D}"/>
              </a:ext>
            </a:extLst>
          </p:cNvPr>
          <p:cNvSpPr/>
          <p:nvPr/>
        </p:nvSpPr>
        <p:spPr>
          <a:xfrm>
            <a:off x="7250154" y="4628560"/>
            <a:ext cx="54864" cy="1423679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E0E2D4-661E-B7F6-081A-2990779BF886}"/>
              </a:ext>
            </a:extLst>
          </p:cNvPr>
          <p:cNvSpPr txBox="1"/>
          <p:nvPr/>
        </p:nvSpPr>
        <p:spPr>
          <a:xfrm>
            <a:off x="7561806" y="4736570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dirty="0">
                <a:solidFill>
                  <a:srgbClr val="0A1F33"/>
                </a:solidFill>
                <a:latin typeface="Aptos"/>
              </a:rPr>
              <a:t>VISUALIZATION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5E3A38-52B1-F7A1-36E3-C11BEA2DE8AC}"/>
              </a:ext>
            </a:extLst>
          </p:cNvPr>
          <p:cNvSpPr txBox="1"/>
          <p:nvPr/>
        </p:nvSpPr>
        <p:spPr>
          <a:xfrm>
            <a:off x="7586669" y="5128580"/>
            <a:ext cx="21945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dirty="0">
                <a:solidFill>
                  <a:srgbClr val="253441"/>
                </a:solidFill>
                <a:latin typeface="Aptos"/>
              </a:rPr>
              <a:t>Chart.js dashboards</a:t>
            </a:r>
          </a:p>
        </p:txBody>
      </p:sp>
      <p:pic>
        <p:nvPicPr>
          <p:cNvPr id="63" name="Picture 62" descr="image12.png">
            <a:extLst>
              <a:ext uri="{FF2B5EF4-FFF2-40B4-BE49-F238E27FC236}">
                <a16:creationId xmlns:a16="http://schemas.microsoft.com/office/drawing/2014/main" id="{233462D0-5789-1813-0FDB-4F2D209E3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7992" y="4950384"/>
            <a:ext cx="640283" cy="6402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BADD6C-FDF1-B538-F8B9-5CDFBC1ECBED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2.png">
            <a:extLst>
              <a:ext uri="{FF2B5EF4-FFF2-40B4-BE49-F238E27FC236}">
                <a16:creationId xmlns:a16="http://schemas.microsoft.com/office/drawing/2014/main" id="{21CFAD25-D12E-2E63-5457-C8F224782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635" y="6332379"/>
            <a:ext cx="480668" cy="4806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866498-B6C9-0814-7599-E5986D657BC4}"/>
              </a:ext>
            </a:extLst>
          </p:cNvPr>
          <p:cNvSpPr txBox="1"/>
          <p:nvPr/>
        </p:nvSpPr>
        <p:spPr>
          <a:xfrm>
            <a:off x="708092" y="6446471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</p:spTree>
    <p:extLst>
      <p:ext uri="{BB962C8B-B14F-4D97-AF65-F5344CB8AC3E}">
        <p14:creationId xmlns:p14="http://schemas.microsoft.com/office/powerpoint/2010/main" val="1379508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9628"/>
            <a:ext cx="10881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A1F33"/>
                </a:solidFill>
                <a:latin typeface="Aptos"/>
              </a:rPr>
              <a:t>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04104" cy="210312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5708" y="1204668"/>
            <a:ext cx="45719" cy="210312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353312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A1F33"/>
                </a:solidFill>
                <a:latin typeface="Aptos"/>
              </a:rPr>
              <a:t>TECHNICAL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09928"/>
            <a:ext cx="50292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Satellite &amp; environmental data → urban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Computer vision → land-cover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ML models → heat prediction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Simulation → compare mitigation strategies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Web dashboard → visualize results for planners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4474" y="1234440"/>
            <a:ext cx="5559551" cy="2054882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4864" cy="2103120"/>
          </a:xfrm>
          <a:prstGeom prst="rect">
            <a:avLst/>
          </a:prstGeom>
          <a:solidFill>
            <a:srgbClr val="EE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1353312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A1F33"/>
                </a:solidFill>
                <a:latin typeface="Aptos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709928"/>
            <a:ext cx="5029200" cy="16158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Localized temperature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Image quality &amp; resolution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Urban variation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Model accuracy &amp;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Computational complexity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650" dirty="0"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603867"/>
            <a:ext cx="5349240" cy="2297311"/>
          </a:xfrm>
          <a:prstGeom prst="roundRect">
            <a:avLst/>
          </a:prstGeom>
          <a:solidFill>
            <a:srgbClr val="EAF4FA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7899" y="3665139"/>
            <a:ext cx="45719" cy="2297311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685032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A1F33"/>
                </a:solidFill>
                <a:latin typeface="Aptos"/>
              </a:rPr>
              <a:t>MITIGATION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133088"/>
            <a:ext cx="50292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Combine geospatial &amp; environmental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Start with city-block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Validate using temperature/LST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Use modular AI/ML architecture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dirty="0"/>
              <a:t>Scale from blocks to cities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9762" y="3532695"/>
            <a:ext cx="5495261" cy="23684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 flipH="1">
            <a:off x="6153913" y="3566159"/>
            <a:ext cx="45719" cy="2335019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364224" y="3685032"/>
            <a:ext cx="50292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0A1F33"/>
                </a:solidFill>
                <a:latin typeface="Aptos"/>
              </a:rPr>
              <a:t>SCALABILITY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34840"/>
            <a:ext cx="804672" cy="658368"/>
          </a:xfrm>
          <a:prstGeom prst="roundRect">
            <a:avLst/>
          </a:prstGeom>
          <a:solidFill>
            <a:srgbClr val="E8F6EE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6473952" y="4461267"/>
            <a:ext cx="74980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A1F33"/>
                </a:solidFill>
                <a:latin typeface="Aptos"/>
              </a:rPr>
              <a:t>City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4590288"/>
            <a:ext cx="16459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9207" y="4434840"/>
            <a:ext cx="953007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7406639" y="4376138"/>
            <a:ext cx="914299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A1F33"/>
                </a:solidFill>
                <a:latin typeface="Aptos"/>
              </a:rPr>
              <a:t>Campus / Local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6440" y="4590288"/>
            <a:ext cx="16459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13980" y="4434840"/>
            <a:ext cx="1028290" cy="658368"/>
          </a:xfrm>
          <a:prstGeom prst="roundRect">
            <a:avLst/>
          </a:prstGeom>
          <a:solidFill>
            <a:srgbClr val="E8F6EE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8475473" y="4502414"/>
            <a:ext cx="116941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0A1F33"/>
                </a:solidFill>
                <a:latin typeface="Aptos"/>
              </a:rPr>
              <a:t>Neighbour</a:t>
            </a:r>
            <a:r>
              <a:rPr lang="en-IN" sz="1400" b="1" dirty="0">
                <a:solidFill>
                  <a:srgbClr val="0A1F33"/>
                </a:solidFill>
                <a:latin typeface="Aptos"/>
              </a:rPr>
              <a:t>-</a:t>
            </a:r>
          </a:p>
          <a:p>
            <a:pPr algn="ctr"/>
            <a:r>
              <a:rPr sz="1400" b="1" dirty="0">
                <a:solidFill>
                  <a:srgbClr val="0A1F33"/>
                </a:solidFill>
                <a:latin typeface="Aptos"/>
              </a:rPr>
              <a:t>hood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448" y="4590288"/>
            <a:ext cx="16459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9054" y="4434840"/>
            <a:ext cx="804672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9738361" y="4461267"/>
            <a:ext cx="74980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A1F33"/>
                </a:solidFill>
                <a:latin typeface="Aptos"/>
              </a:rPr>
              <a:t>Urban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7951" y="4590288"/>
            <a:ext cx="16459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16768" y="4423338"/>
            <a:ext cx="804672" cy="658368"/>
          </a:xfrm>
          <a:prstGeom prst="roundRect">
            <a:avLst/>
          </a:prstGeom>
          <a:solidFill>
            <a:srgbClr val="E8F6EE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33" name="TextBox 32"/>
          <p:cNvSpPr txBox="1"/>
          <p:nvPr/>
        </p:nvSpPr>
        <p:spPr>
          <a:xfrm>
            <a:off x="10780776" y="4579779"/>
            <a:ext cx="74980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A1F33"/>
                </a:solidFill>
                <a:latin typeface="Aptos"/>
              </a:rPr>
              <a:t>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620" y="638251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pic>
        <p:nvPicPr>
          <p:cNvPr id="37" name="Picture 36" descr="image2.png">
            <a:extLst>
              <a:ext uri="{FF2B5EF4-FFF2-40B4-BE49-F238E27FC236}">
                <a16:creationId xmlns:a16="http://schemas.microsoft.com/office/drawing/2014/main" id="{BF2683DA-C0D9-3E78-7609-9E6F7F85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2" y="6253860"/>
            <a:ext cx="480668" cy="4806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A1F33"/>
                </a:solidFill>
                <a:latin typeface="Aptos"/>
              </a:rPr>
              <a:t>FROM DETECTION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1965960" cy="91440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54864" cy="9144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59" y="1475863"/>
            <a:ext cx="16459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AI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1348501"/>
            <a:ext cx="228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234440"/>
            <a:ext cx="1965960" cy="914400"/>
          </a:xfrm>
          <a:prstGeom prst="roundRect">
            <a:avLst/>
          </a:prstGeom>
          <a:solidFill>
            <a:srgbClr val="EAF4FA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2898648" y="1234440"/>
            <a:ext cx="54864" cy="914400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063240" y="1381593"/>
            <a:ext cx="164591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Hotspot
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357928"/>
            <a:ext cx="228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1234440"/>
            <a:ext cx="1965960" cy="914400"/>
          </a:xfrm>
          <a:prstGeom prst="roundRect">
            <a:avLst/>
          </a:prstGeom>
          <a:solidFill>
            <a:srgbClr val="EAF4FA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5138928" y="1234440"/>
            <a:ext cx="54864" cy="914400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303520" y="1381593"/>
            <a:ext cx="164591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Targeted
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376782"/>
            <a:ext cx="228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208" y="1234440"/>
            <a:ext cx="1965960" cy="91440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7379208" y="1234440"/>
            <a:ext cx="54864" cy="9144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543800" y="1494717"/>
            <a:ext cx="16459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1367355"/>
            <a:ext cx="228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1C8958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234440"/>
            <a:ext cx="1965960" cy="914400"/>
          </a:xfrm>
          <a:prstGeom prst="roundRect">
            <a:avLst/>
          </a:prstGeom>
          <a:solidFill>
            <a:srgbClr val="EAF4FA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9619488" y="1234440"/>
            <a:ext cx="54864" cy="914400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9784080" y="1409874"/>
            <a:ext cx="164591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Data-Driven
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3405" y="3007155"/>
            <a:ext cx="2880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1233405" y="3007155"/>
            <a:ext cx="54864" cy="118872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1397996" y="3173162"/>
            <a:ext cx="161848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Targeted Green
Infrastructure </a:t>
            </a:r>
            <a:endParaRPr lang="en-IN" sz="1600" b="1" dirty="0">
              <a:solidFill>
                <a:srgbClr val="0A1F33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Planning</a:t>
            </a:r>
          </a:p>
        </p:txBody>
      </p:sp>
      <p:pic>
        <p:nvPicPr>
          <p:cNvPr id="27" name="Picture 2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62" y="3327195"/>
            <a:ext cx="502920" cy="5029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616685" y="3007155"/>
            <a:ext cx="2880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4616685" y="3007155"/>
            <a:ext cx="54864" cy="1188720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4781277" y="3220297"/>
            <a:ext cx="19659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Optimized Water-</a:t>
            </a:r>
            <a:endParaRPr lang="en-IN" sz="1600" b="1" dirty="0">
              <a:solidFill>
                <a:srgbClr val="0A1F33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Based</a:t>
            </a:r>
            <a:r>
              <a:rPr lang="en-IN" sz="1600" b="1" dirty="0">
                <a:solidFill>
                  <a:srgbClr val="0A1F33"/>
                </a:solidFill>
                <a:latin typeface="Aptos"/>
              </a:rPr>
              <a:t> </a:t>
            </a:r>
            <a:r>
              <a:rPr sz="1600" b="1" dirty="0">
                <a:solidFill>
                  <a:srgbClr val="0A1F33"/>
                </a:solidFill>
                <a:latin typeface="Aptos"/>
              </a:rPr>
              <a:t>Cooling Interventions</a:t>
            </a:r>
          </a:p>
        </p:txBody>
      </p:sp>
      <p:pic>
        <p:nvPicPr>
          <p:cNvPr id="31" name="Picture 3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404" y="3327195"/>
            <a:ext cx="502920" cy="5029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999964" y="3007155"/>
            <a:ext cx="2880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7999964" y="3007155"/>
            <a:ext cx="54864" cy="1188720"/>
          </a:xfrm>
          <a:prstGeom prst="rect">
            <a:avLst/>
          </a:prstGeom>
          <a:solidFill>
            <a:srgbClr val="2D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164556" y="3239151"/>
            <a:ext cx="25603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High-Albedo / Cool-</a:t>
            </a:r>
            <a:endParaRPr lang="en-IN" sz="1600" b="1" dirty="0">
              <a:solidFill>
                <a:srgbClr val="0A1F33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Roof</a:t>
            </a:r>
            <a:r>
              <a:rPr lang="en-IN" sz="1600" b="1" dirty="0">
                <a:solidFill>
                  <a:srgbClr val="0A1F33"/>
                </a:solidFill>
                <a:latin typeface="Aptos"/>
              </a:rPr>
              <a:t> </a:t>
            </a:r>
            <a:r>
              <a:rPr sz="1600" b="1" dirty="0">
                <a:solidFill>
                  <a:srgbClr val="0A1F33"/>
                </a:solidFill>
                <a:latin typeface="Aptos"/>
              </a:rPr>
              <a:t>Area</a:t>
            </a:r>
            <a:endParaRPr lang="en-IN" sz="1600" b="1" dirty="0">
              <a:solidFill>
                <a:srgbClr val="0A1F33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Identification</a:t>
            </a:r>
          </a:p>
        </p:txBody>
      </p:sp>
      <p:pic>
        <p:nvPicPr>
          <p:cNvPr id="35" name="Picture 34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976" y="3327195"/>
            <a:ext cx="502920" cy="50292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233405" y="4515915"/>
            <a:ext cx="2880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1233405" y="4515915"/>
            <a:ext cx="54864" cy="1188720"/>
          </a:xfrm>
          <a:prstGeom prst="rect">
            <a:avLst/>
          </a:prstGeom>
          <a:solidFill>
            <a:srgbClr val="EE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1397996" y="4795046"/>
            <a:ext cx="25603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Potential Reduction </a:t>
            </a:r>
            <a:endParaRPr lang="en-IN" sz="1600" b="1" dirty="0">
              <a:solidFill>
                <a:srgbClr val="0A1F33"/>
              </a:solidFill>
              <a:latin typeface="Aptos"/>
            </a:endParaRPr>
          </a:p>
          <a:p>
            <a:pPr algn="l"/>
            <a:r>
              <a:rPr lang="en-IN" sz="1600" b="1" dirty="0">
                <a:solidFill>
                  <a:srgbClr val="0A1F33"/>
                </a:solidFill>
                <a:latin typeface="Aptos"/>
              </a:rPr>
              <a:t>O</a:t>
            </a:r>
            <a:r>
              <a:rPr sz="1600" b="1" dirty="0">
                <a:solidFill>
                  <a:srgbClr val="0A1F33"/>
                </a:solidFill>
                <a:latin typeface="Aptos"/>
              </a:rPr>
              <a:t>f</a:t>
            </a:r>
            <a:r>
              <a:rPr lang="en-IN" sz="1600" b="1" dirty="0">
                <a:solidFill>
                  <a:srgbClr val="0A1F33"/>
                </a:solidFill>
                <a:latin typeface="Aptos"/>
              </a:rPr>
              <a:t> </a:t>
            </a:r>
            <a:r>
              <a:rPr sz="1600" b="1" dirty="0">
                <a:solidFill>
                  <a:srgbClr val="0A1F33"/>
                </a:solidFill>
                <a:latin typeface="Aptos"/>
              </a:rPr>
              <a:t>Heat Stress</a:t>
            </a:r>
          </a:p>
        </p:txBody>
      </p:sp>
      <p:pic>
        <p:nvPicPr>
          <p:cNvPr id="39" name="Picture 38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405" y="4835955"/>
            <a:ext cx="502920" cy="50292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616685" y="4515915"/>
            <a:ext cx="2880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ectangle 40"/>
          <p:cNvSpPr/>
          <p:nvPr/>
        </p:nvSpPr>
        <p:spPr>
          <a:xfrm>
            <a:off x="4616685" y="4515915"/>
            <a:ext cx="54864" cy="1188720"/>
          </a:xfrm>
          <a:prstGeom prst="rect">
            <a:avLst/>
          </a:prstGeom>
          <a:solidFill>
            <a:srgbClr val="EE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4781277" y="4681922"/>
            <a:ext cx="2268747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Potential Reduction in
Cooling-Energy </a:t>
            </a:r>
            <a:endParaRPr lang="en-IN" sz="1600" b="1" dirty="0">
              <a:solidFill>
                <a:srgbClr val="0A1F33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Demand</a:t>
            </a:r>
          </a:p>
        </p:txBody>
      </p:sp>
      <p:pic>
        <p:nvPicPr>
          <p:cNvPr id="43" name="Picture 42" descr="image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685" y="4835955"/>
            <a:ext cx="502920" cy="50292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7999964" y="4515915"/>
            <a:ext cx="2880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Rectangle 44"/>
          <p:cNvSpPr/>
          <p:nvPr/>
        </p:nvSpPr>
        <p:spPr>
          <a:xfrm>
            <a:off x="7999964" y="4515915"/>
            <a:ext cx="54864" cy="118872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8126848" y="4795046"/>
            <a:ext cx="25603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A1F33"/>
                </a:solidFill>
                <a:latin typeface="Aptos"/>
              </a:rPr>
              <a:t>Scalable, Data-Driven
Urban Planning</a:t>
            </a:r>
          </a:p>
        </p:txBody>
      </p:sp>
      <p:pic>
        <p:nvPicPr>
          <p:cNvPr id="47" name="Picture 46" descr="imag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5965" y="4835955"/>
            <a:ext cx="50292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5765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0"/>
                </a:solidFill>
                <a:latin typeface="Aptos"/>
              </a:rPr>
              <a:t>5</a:t>
            </a:r>
          </a:p>
        </p:txBody>
      </p:sp>
      <p:pic>
        <p:nvPicPr>
          <p:cNvPr id="52" name="Picture 51" descr="image2.png">
            <a:extLst>
              <a:ext uri="{FF2B5EF4-FFF2-40B4-BE49-F238E27FC236}">
                <a16:creationId xmlns:a16="http://schemas.microsoft.com/office/drawing/2014/main" id="{0C3E35B2-1564-8228-3057-D5D40624F1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635" y="6332379"/>
            <a:ext cx="480668" cy="4806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0AF3032F-6D2B-5237-46D9-8C07103269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96" b="95443" l="8576" r="93823">
                        <a14:foregroundMark x1="89898" y1="54297" x2="92131" y2="61496"/>
                        <a14:foregroundMark x1="93340" y1="67024" x2="95058" y2="88932"/>
                        <a14:foregroundMark x1="95058" y1="88932" x2="50172" y2="93240"/>
                        <a14:foregroundMark x1="27629" y1="92201" x2="12718" y2="89063"/>
                        <a14:foregroundMark x1="12718" y1="89063" x2="11536" y2="87406"/>
                        <a14:foregroundMark x1="26897" y1="70637" x2="27616" y2="70573"/>
                        <a14:foregroundMark x1="27616" y1="70573" x2="30851" y2="60432"/>
                        <a14:foregroundMark x1="34490" y1="57324" x2="36919" y2="56901"/>
                        <a14:foregroundMark x1="36919" y1="56901" x2="37718" y2="51172"/>
                        <a14:foregroundMark x1="37718" y1="51172" x2="40334" y2="43490"/>
                        <a14:foregroundMark x1="40334" y1="43490" x2="46802" y2="41406"/>
                        <a14:foregroundMark x1="46802" y1="41406" x2="50872" y2="26953"/>
                        <a14:foregroundMark x1="50872" y1="26953" x2="60320" y2="23568"/>
                        <a14:foregroundMark x1="60320" y1="23568" x2="60320" y2="23568"/>
                        <a14:foregroundMark x1="50581" y1="33724" x2="46802" y2="37500"/>
                        <a14:foregroundMark x1="46802" y1="37500" x2="47529" y2="44010"/>
                        <a14:foregroundMark x1="47529" y1="44010" x2="50872" y2="42318"/>
                        <a14:foregroundMark x1="46512" y1="38411" x2="54506" y2="34635"/>
                        <a14:foregroundMark x1="49128" y1="36328" x2="47529" y2="42448"/>
                        <a14:foregroundMark x1="41279" y1="47005" x2="41279" y2="47005"/>
                        <a14:foregroundMark x1="40988" y1="47005" x2="36119" y2="46224"/>
                        <a14:foregroundMark x1="36119" y1="46224" x2="37137" y2="56901"/>
                        <a14:foregroundMark x1="37137" y1="56901" x2="37137" y2="56901"/>
                        <a14:foregroundMark x1="27295" y1="66994" x2="27398" y2="73568"/>
                        <a14:foregroundMark x1="27398" y1="73568" x2="27544" y2="74219"/>
                        <a14:foregroundMark x1="37645" y1="59375" x2="27765" y2="62687"/>
                        <a14:foregroundMark x1="27544" y1="71745" x2="26599" y2="88151"/>
                        <a14:foregroundMark x1="26599" y1="88151" x2="21366" y2="90495"/>
                        <a14:foregroundMark x1="21366" y1="90495" x2="13081" y2="85547"/>
                        <a14:foregroundMark x1="13081" y1="85547" x2="11505" y2="81871"/>
                        <a14:foregroundMark x1="26748" y1="72005" x2="30451" y2="72005"/>
                        <a14:foregroundMark x1="29651" y1="77865" x2="18886" y2="74992"/>
                        <a14:foregroundMark x1="15296" y1="75197" x2="12209" y2="79557"/>
                        <a14:foregroundMark x1="12209" y1="79557" x2="13299" y2="84635"/>
                        <a14:foregroundMark x1="13299" y1="84635" x2="15625" y2="90104"/>
                        <a14:foregroundMark x1="15625" y1="90104" x2="18539" y2="91782"/>
                        <a14:foregroundMark x1="20620" y1="91878" x2="24346" y2="89583"/>
                        <a14:foregroundMark x1="24346" y1="89583" x2="27689" y2="82031"/>
                        <a14:foregroundMark x1="27689" y1="82031" x2="28198" y2="77344"/>
                        <a14:foregroundMark x1="50872" y1="47266" x2="47384" y2="45052"/>
                        <a14:foregroundMark x1="47384" y1="45052" x2="43677" y2="44792"/>
                        <a14:foregroundMark x1="43677" y1="44792" x2="40262" y2="46354"/>
                        <a14:foregroundMark x1="40262" y1="46354" x2="36136" y2="51700"/>
                        <a14:foregroundMark x1="35621" y1="52792" x2="37064" y2="58333"/>
                        <a14:foregroundMark x1="37064" y1="58333" x2="42951" y2="62891"/>
                        <a14:foregroundMark x1="42951" y1="62891" x2="48692" y2="62370"/>
                        <a14:foregroundMark x1="48692" y1="62370" x2="51453" y2="57031"/>
                        <a14:foregroundMark x1="51453" y1="57031" x2="50872" y2="51823"/>
                        <a14:foregroundMark x1="50872" y1="51823" x2="49273" y2="47656"/>
                        <a14:foregroundMark x1="87500" y1="52734" x2="91715" y2="64453"/>
                        <a14:foregroundMark x1="91715" y1="64453" x2="91715" y2="65234"/>
                        <a14:foregroundMark x1="28343" y1="76693" x2="12718" y2="76042"/>
                        <a14:foregroundMark x1="12718" y1="76042" x2="11483" y2="81771"/>
                        <a14:foregroundMark x1="11483" y1="81771" x2="15407" y2="89323"/>
                        <a14:foregroundMark x1="15407" y1="89323" x2="23692" y2="89323"/>
                        <a14:foregroundMark x1="23692" y1="89323" x2="29942" y2="82552"/>
                        <a14:foregroundMark x1="29942" y1="82552" x2="29288" y2="77083"/>
                        <a14:foregroundMark x1="29288" y1="77083" x2="26962" y2="76823"/>
                        <a14:foregroundMark x1="22166" y1="82031" x2="22529" y2="88281"/>
                        <a14:foregroundMark x1="22529" y1="88281" x2="15843" y2="80729"/>
                        <a14:foregroundMark x1="15843" y1="80729" x2="14826" y2="76693"/>
                        <a14:foregroundMark x1="94186" y1="75911" x2="94774" y2="77492"/>
                        <a14:foregroundMark x1="11701" y1="78516" x2="10901" y2="86849"/>
                        <a14:foregroundMark x1="10901" y1="86849" x2="12427" y2="86328"/>
                        <a14:foregroundMark x1="11555" y1="79036" x2="10320" y2="84896"/>
                        <a14:foregroundMark x1="10320" y1="84896" x2="13590" y2="85417"/>
                        <a14:foregroundMark x1="13590" y1="85417" x2="14172" y2="84375"/>
                        <a14:backgroundMark x1="92956" y1="93107" x2="74988" y2="93252"/>
                        <a14:backgroundMark x1="13368" y1="91027" x2="12936" y2="91406"/>
                        <a14:backgroundMark x1="9532" y1="86990" x2="8721" y2="85938"/>
                        <a14:backgroundMark x1="10470" y1="88207" x2="9719" y2="87233"/>
                        <a14:backgroundMark x1="12936" y1="91406" x2="11041" y2="88947"/>
                        <a14:backgroundMark x1="8771" y1="75610" x2="8794" y2="70703"/>
                        <a14:backgroundMark x1="8741" y1="81835" x2="8749" y2="80198"/>
                        <a14:backgroundMark x1="8721" y1="85938" x2="8741" y2="81843"/>
                        <a14:backgroundMark x1="8794" y1="70703" x2="14608" y2="66797"/>
                        <a14:backgroundMark x1="14608" y1="66797" x2="18507" y2="69106"/>
                        <a14:backgroundMark x1="49503" y1="31142" x2="49564" y2="30469"/>
                        <a14:backgroundMark x1="49564" y1="30469" x2="50945" y2="24870"/>
                        <a14:backgroundMark x1="51324" y1="24788" x2="51573" y2="24734"/>
                        <a14:backgroundMark x1="50945" y1="24870" x2="51291" y2="24795"/>
                        <a14:backgroundMark x1="59148" y1="21851" x2="60392" y2="20052"/>
                        <a14:backgroundMark x1="12791" y1="93880" x2="55160" y2="95833"/>
                        <a14:backgroundMark x1="91497" y1="95182" x2="99564" y2="95964"/>
                        <a14:backgroundMark x1="95785" y1="78125" x2="97892" y2="84375"/>
                        <a14:backgroundMark x1="97892" y1="84375" x2="98256" y2="86458"/>
                        <a14:backgroundMark x1="97238" y1="85807" x2="97384" y2="95964"/>
                        <a14:backgroundMark x1="92951" y1="60677" x2="96076" y2="69661"/>
                        <a14:backgroundMark x1="96076" y1="75130" x2="96948" y2="82552"/>
                        <a14:backgroundMark x1="9991" y1="87276" x2="10029" y2="94141"/>
                        <a14:backgroundMark x1="9884" y1="68229" x2="9943" y2="78849"/>
                        <a14:backgroundMark x1="34302" y1="47526" x2="34666" y2="52995"/>
                        <a14:backgroundMark x1="34666" y1="52995" x2="31977" y2="58073"/>
                        <a14:backgroundMark x1="31977" y1="58073" x2="22674" y2="58203"/>
                        <a14:backgroundMark x1="26453" y1="60286" x2="25145" y2="72266"/>
                        <a14:backgroundMark x1="25145" y1="72266" x2="6904" y2="73307"/>
                      </a14:backgroundRemoval>
                    </a14:imgEffect>
                    <a14:imgEffect>
                      <a14:sharpenSoften amount="41000"/>
                    </a14:imgEffect>
                    <a14:imgEffect>
                      <a14:brightnessContrast bright="9000" contrast="43000"/>
                    </a14:imgEffect>
                  </a14:imgLayer>
                </a14:imgProps>
              </a:ext>
            </a:extLst>
          </a:blip>
          <a:srcRect l="8247" t="12040" r="1266" b="7017"/>
          <a:stretch>
            <a:fillRect/>
          </a:stretch>
        </p:blipFill>
        <p:spPr>
          <a:xfrm>
            <a:off x="1330961" y="1644314"/>
            <a:ext cx="10097802" cy="45850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CE6696-AB06-E4FF-908B-F97848A58111}"/>
              </a:ext>
            </a:extLst>
          </p:cNvPr>
          <p:cNvSpPr txBox="1"/>
          <p:nvPr/>
        </p:nvSpPr>
        <p:spPr>
          <a:xfrm>
            <a:off x="708092" y="6446471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pic>
        <p:nvPicPr>
          <p:cNvPr id="8" name="Picture 7" descr="image2.png">
            <a:extLst>
              <a:ext uri="{FF2B5EF4-FFF2-40B4-BE49-F238E27FC236}">
                <a16:creationId xmlns:a16="http://schemas.microsoft.com/office/drawing/2014/main" id="{6DF3852A-54CF-74A0-4665-F4B1672B4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89" y="6341806"/>
            <a:ext cx="480668" cy="48066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B29599-3126-BC2A-28D7-478D47F06774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D95D6-13C3-4F39-5A4F-997CA14E1712}"/>
              </a:ext>
            </a:extLst>
          </p:cNvPr>
          <p:cNvSpPr txBox="1"/>
          <p:nvPr/>
        </p:nvSpPr>
        <p:spPr>
          <a:xfrm>
            <a:off x="722630" y="994411"/>
            <a:ext cx="5729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Designed to scale progressively, requiring minimal structural changes as we expand the analysis area.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62E45-7112-6237-67FF-5A1C18CD330E}"/>
              </a:ext>
            </a:extLst>
          </p:cNvPr>
          <p:cNvSpPr txBox="1"/>
          <p:nvPr/>
        </p:nvSpPr>
        <p:spPr>
          <a:xfrm>
            <a:off x="621030" y="254069"/>
            <a:ext cx="4945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Aptos" panose="020B0004020202020204" pitchFamily="34" charset="0"/>
                <a:cs typeface="Aparajita" panose="02020603050405020304" pitchFamily="18" charset="0"/>
              </a:rPr>
              <a:t>DEPLOYMENT &amp; SCALABILITY</a:t>
            </a:r>
          </a:p>
        </p:txBody>
      </p:sp>
    </p:spTree>
    <p:extLst>
      <p:ext uri="{BB962C8B-B14F-4D97-AF65-F5344CB8AC3E}">
        <p14:creationId xmlns:p14="http://schemas.microsoft.com/office/powerpoint/2010/main" val="121360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A4BD96-6DE4-C273-3893-F5AD35DA3441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8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png">
            <a:extLst>
              <a:ext uri="{FF2B5EF4-FFF2-40B4-BE49-F238E27FC236}">
                <a16:creationId xmlns:a16="http://schemas.microsoft.com/office/drawing/2014/main" id="{D3FB8A0F-8D06-3914-E811-82A78AD17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89" y="6341806"/>
            <a:ext cx="480668" cy="4806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2E373B-5195-B32F-3340-5FBE009BD8BB}"/>
              </a:ext>
            </a:extLst>
          </p:cNvPr>
          <p:cNvSpPr txBox="1"/>
          <p:nvPr/>
        </p:nvSpPr>
        <p:spPr>
          <a:xfrm>
            <a:off x="701653" y="6445432"/>
            <a:ext cx="61205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0" dirty="0">
                <a:solidFill>
                  <a:srgbClr val="647480"/>
                </a:solidFill>
                <a:latin typeface="Aptos"/>
              </a:rPr>
              <a:t>Urban Heat Island Mitigation Simulation  |  Team Chandra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EC3EA-9639-78E1-349D-DA70C22F61BE}"/>
              </a:ext>
            </a:extLst>
          </p:cNvPr>
          <p:cNvSpPr txBox="1"/>
          <p:nvPr/>
        </p:nvSpPr>
        <p:spPr>
          <a:xfrm>
            <a:off x="2207342" y="2617380"/>
            <a:ext cx="777731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0" dirty="0">
                <a:latin typeface="Aparajita" panose="02020603050405020304" pitchFamily="18" charset="0"/>
                <a:cs typeface="Aparajita" panose="02020603050405020304" pitchFamily="18" charset="0"/>
              </a:rPr>
              <a:t>THANK YOU </a:t>
            </a:r>
            <a:endParaRPr lang="en-IN" sz="110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26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4341</TotalTime>
  <Words>501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Aparajita</vt:lpstr>
      <vt:lpstr>Aptos</vt:lpstr>
      <vt:lpstr>Arial</vt:lpstr>
      <vt:lpstr>Bookman Old Style</vt:lpstr>
      <vt:lpstr>Calibri</vt:lpstr>
      <vt:lpstr>Eras Demi ITC</vt:lpstr>
      <vt:lpstr>Gadugi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HIMANSHU SEKHAR DAS</dc:creator>
  <cp:keywords/>
  <dc:description>generated using python-pptx</dc:description>
  <cp:lastModifiedBy>Tirthapada Panda</cp:lastModifiedBy>
  <cp:revision>11</cp:revision>
  <dcterms:created xsi:type="dcterms:W3CDTF">2013-01-27T09:14:16Z</dcterms:created>
  <dcterms:modified xsi:type="dcterms:W3CDTF">2026-08-29T10:00:09Z</dcterms:modified>
  <cp:category/>
</cp:coreProperties>
</file>