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4"/>
  </p:notesMasterIdLst>
  <p:sldIdLst>
    <p:sldId id="256" r:id="rId2"/>
    <p:sldId id="281" r:id="rId3"/>
    <p:sldId id="257" r:id="rId4"/>
    <p:sldId id="258" r:id="rId5"/>
    <p:sldId id="259" r:id="rId6"/>
    <p:sldId id="260" r:id="rId7"/>
    <p:sldId id="261" r:id="rId8"/>
    <p:sldId id="262" r:id="rId9"/>
    <p:sldId id="263" r:id="rId10"/>
    <p:sldId id="264" r:id="rId11"/>
    <p:sldId id="266" r:id="rId12"/>
    <p:sldId id="267" r:id="rId13"/>
    <p:sldId id="271" r:id="rId14"/>
    <p:sldId id="273" r:id="rId15"/>
    <p:sldId id="274" r:id="rId16"/>
    <p:sldId id="276" r:id="rId17"/>
    <p:sldId id="277" r:id="rId18"/>
    <p:sldId id="278" r:id="rId19"/>
    <p:sldId id="279" r:id="rId20"/>
    <p:sldId id="282" r:id="rId21"/>
    <p:sldId id="280" r:id="rId22"/>
    <p:sldId id="283" r:id="rId23"/>
  </p:sldIdLst>
  <p:sldSz cx="9144000" cy="5143500" type="screen16x9"/>
  <p:notesSz cx="5143500" cy="9144000"/>
  <p:embeddedFontLst>
    <p:embeddedFont>
      <p:font typeface="Algerian" panose="04020705040A02060702" pitchFamily="82" charset="0"/>
      <p:regular r:id="rId25"/>
    </p:embeddedFont>
    <p:embeddedFont>
      <p:font typeface="Bahnschrift SemiBold Condensed" panose="020B0502040204020203" pitchFamily="34" charset="0"/>
      <p:bold r:id="rId26"/>
    </p:embeddedFont>
    <p:embeddedFont>
      <p:font typeface="Bahnschrift SemiLight SemiConde" panose="020B0502040204020203" pitchFamily="34" charset="0"/>
      <p:regular r:id="rId27"/>
    </p:embeddedFont>
    <p:embeddedFont>
      <p:font typeface="Book Antiqua" panose="02040602050305030304" pitchFamily="18" charset="0"/>
      <p:regular r:id="rId28"/>
      <p:bold r:id="rId29"/>
      <p:italic r:id="rId30"/>
      <p:boldItalic r:id="rId31"/>
    </p:embeddedFont>
    <p:embeddedFont>
      <p:font typeface="Bookman Old Style" panose="02050604050505020204" pitchFamily="18" charset="0"/>
      <p:regular r:id="rId32"/>
      <p:bold r:id="rId33"/>
      <p:italic r:id="rId34"/>
      <p:boldItalic r:id="rId35"/>
    </p:embeddedFont>
    <p:embeddedFont>
      <p:font typeface="Broadway" panose="04040905080B02020502" pitchFamily="82" charset="0"/>
      <p:regular r:id="rId36"/>
    </p:embeddedFont>
    <p:embeddedFont>
      <p:font typeface="Century" panose="02040604050505020304" pitchFamily="18" charset="0"/>
      <p:regular r:id="rId37"/>
    </p:embeddedFont>
    <p:embeddedFont>
      <p:font typeface="Comic Sans MS" panose="030F0702030302020204" pitchFamily="66" charset="0"/>
      <p:regular r:id="rId38"/>
      <p:bold r:id="rId39"/>
      <p:italic r:id="rId40"/>
      <p:boldItalic r:id="rId41"/>
    </p:embeddedFont>
    <p:embeddedFont>
      <p:font typeface="Consolas" panose="020B0609020204030204" pitchFamily="49" charset="0"/>
      <p:regular r:id="rId42"/>
      <p:bold r:id="rId43"/>
      <p:italic r:id="rId44"/>
      <p:boldItalic r:id="rId45"/>
    </p:embeddedFont>
    <p:embeddedFont>
      <p:font typeface="Cooper Black" panose="0208090404030B020404" pitchFamily="18" charset="0"/>
      <p:regular r:id="rId46"/>
    </p:embeddedFont>
    <p:embeddedFont>
      <p:font typeface="Copperplate Gothic Bold" panose="020E0705020206020404" pitchFamily="34" charset="0"/>
      <p:regular r:id="rId47"/>
    </p:embeddedFont>
    <p:embeddedFont>
      <p:font typeface="Eras Bold ITC" panose="020B0907030504020204" pitchFamily="34" charset="0"/>
      <p:regular r:id="rId48"/>
    </p:embeddedFont>
    <p:embeddedFont>
      <p:font typeface="Forte" panose="03060902040502070203" pitchFamily="66" charset="0"/>
      <p:regular r:id="rId49"/>
    </p:embeddedFont>
    <p:embeddedFont>
      <p:font typeface="Franklin Gothic Demi" panose="020B0703020102020204" pitchFamily="34" charset="0"/>
      <p:regular r:id="rId50"/>
      <p:italic r:id="rId51"/>
    </p:embeddedFont>
    <p:embeddedFont>
      <p:font typeface="Georgia" panose="02040502050405020303" pitchFamily="18" charset="0"/>
      <p:regular r:id="rId52"/>
      <p:bold r:id="rId53"/>
      <p:italic r:id="rId54"/>
      <p:boldItalic r:id="rId55"/>
    </p:embeddedFont>
    <p:embeddedFont>
      <p:font typeface="Lucida Handwriting" panose="03010101010101010101" pitchFamily="66" charset="0"/>
      <p:regular r:id="rId56"/>
    </p:embeddedFont>
    <p:embeddedFont>
      <p:font typeface="Monotype Corsiva" panose="03010101010201010101" pitchFamily="66" charset="0"/>
      <p:italic r:id="rId57"/>
    </p:embeddedFont>
    <p:embeddedFont>
      <p:font typeface="Mukta Bold" panose="020B0604020202020204" charset="0"/>
      <p:regular r:id="rId58"/>
    </p:embeddedFont>
    <p:embeddedFont>
      <p:font typeface="Mukta Light" panose="020B0604020202020204" charset="0"/>
      <p:regular r:id="rId59"/>
    </p:embeddedFont>
    <p:embeddedFont>
      <p:font typeface="MV Boli" panose="02000500030200090000" pitchFamily="2" charset="0"/>
      <p:regular r:id="rId60"/>
    </p:embeddedFont>
    <p:embeddedFont>
      <p:font typeface="Palatino Linotype" panose="02040502050505030304" pitchFamily="18" charset="0"/>
      <p:regular r:id="rId61"/>
      <p:bold r:id="rId62"/>
      <p:italic r:id="rId63"/>
      <p:boldItalic r:id="rId64"/>
    </p:embeddedFont>
    <p:embeddedFont>
      <p:font typeface="PMingLiU-ExtB" panose="02020500000000000000" pitchFamily="18" charset="-120"/>
      <p:regular r:id="rId65"/>
    </p:embeddedFont>
    <p:embeddedFont>
      <p:font typeface="Prompt Medium" panose="00000600000000000000" pitchFamily="2" charset="-34"/>
      <p:regular r:id="rId66"/>
    </p:embeddedFont>
    <p:embeddedFont>
      <p:font typeface="Rockwell Extra Bold" panose="02060903040505020403" pitchFamily="18" charset="0"/>
      <p:bold r:id="rId67"/>
    </p:embeddedFont>
    <p:embeddedFont>
      <p:font typeface="Segoe Script" panose="030B0504020000000003" pitchFamily="66" charset="0"/>
      <p:regular r:id="rId68"/>
      <p:bold r:id="rId69"/>
    </p:embeddedFont>
    <p:embeddedFont>
      <p:font typeface="Showcard Gothic" panose="04020904020102020604" pitchFamily="82" charset="0"/>
      <p:regular r:id="rId70"/>
    </p:embeddedFont>
    <p:embeddedFont>
      <p:font typeface="Sitka Subheading" pitchFamily="2" charset="0"/>
      <p:regular r:id="rId71"/>
      <p:bold r:id="rId72"/>
      <p:italic r:id="rId73"/>
      <p:boldItalic r:id="rId7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66"/>
    <a:srgbClr val="4BF3FB"/>
    <a:srgbClr val="00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82" y="1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font" Target="fonts/font2.fntdata"/><Relationship Id="rId21" Type="http://schemas.openxmlformats.org/officeDocument/2006/relationships/slide" Target="slides/slide20.xml"/><Relationship Id="rId42" Type="http://schemas.openxmlformats.org/officeDocument/2006/relationships/font" Target="fonts/font18.fntdata"/><Relationship Id="rId47" Type="http://schemas.openxmlformats.org/officeDocument/2006/relationships/font" Target="fonts/font23.fntdata"/><Relationship Id="rId63" Type="http://schemas.openxmlformats.org/officeDocument/2006/relationships/font" Target="fonts/font39.fntdata"/><Relationship Id="rId68" Type="http://schemas.openxmlformats.org/officeDocument/2006/relationships/font" Target="fonts/font44.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3" Type="http://schemas.openxmlformats.org/officeDocument/2006/relationships/font" Target="fonts/font29.fntdata"/><Relationship Id="rId58" Type="http://schemas.openxmlformats.org/officeDocument/2006/relationships/font" Target="fonts/font34.fntdata"/><Relationship Id="rId66" Type="http://schemas.openxmlformats.org/officeDocument/2006/relationships/font" Target="fonts/font42.fntdata"/><Relationship Id="rId74" Type="http://schemas.openxmlformats.org/officeDocument/2006/relationships/font" Target="fonts/font50.fntdata"/><Relationship Id="rId5" Type="http://schemas.openxmlformats.org/officeDocument/2006/relationships/slide" Target="slides/slide4.xml"/><Relationship Id="rId61" Type="http://schemas.openxmlformats.org/officeDocument/2006/relationships/font" Target="fonts/font3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font" Target="fonts/font24.fntdata"/><Relationship Id="rId56" Type="http://schemas.openxmlformats.org/officeDocument/2006/relationships/font" Target="fonts/font32.fntdata"/><Relationship Id="rId64" Type="http://schemas.openxmlformats.org/officeDocument/2006/relationships/font" Target="fonts/font40.fntdata"/><Relationship Id="rId69" Type="http://schemas.openxmlformats.org/officeDocument/2006/relationships/font" Target="fonts/font45.fntdata"/><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27.fntdata"/><Relationship Id="rId72" Type="http://schemas.openxmlformats.org/officeDocument/2006/relationships/font" Target="fonts/font4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59" Type="http://schemas.openxmlformats.org/officeDocument/2006/relationships/font" Target="fonts/font35.fntdata"/><Relationship Id="rId67" Type="http://schemas.openxmlformats.org/officeDocument/2006/relationships/font" Target="fonts/font43.fntdata"/><Relationship Id="rId20" Type="http://schemas.openxmlformats.org/officeDocument/2006/relationships/slide" Target="slides/slide19.xml"/><Relationship Id="rId41" Type="http://schemas.openxmlformats.org/officeDocument/2006/relationships/font" Target="fonts/font17.fntdata"/><Relationship Id="rId54" Type="http://schemas.openxmlformats.org/officeDocument/2006/relationships/font" Target="fonts/font30.fntdata"/><Relationship Id="rId62" Type="http://schemas.openxmlformats.org/officeDocument/2006/relationships/font" Target="fonts/font38.fntdata"/><Relationship Id="rId70" Type="http://schemas.openxmlformats.org/officeDocument/2006/relationships/font" Target="fonts/font46.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schemas.openxmlformats.org/officeDocument/2006/relationships/font" Target="fonts/font25.fntdata"/><Relationship Id="rId57" Type="http://schemas.openxmlformats.org/officeDocument/2006/relationships/font" Target="fonts/font33.fntdata"/><Relationship Id="rId10" Type="http://schemas.openxmlformats.org/officeDocument/2006/relationships/slide" Target="slides/slide9.xml"/><Relationship Id="rId31" Type="http://schemas.openxmlformats.org/officeDocument/2006/relationships/font" Target="fonts/font7.fntdata"/><Relationship Id="rId44" Type="http://schemas.openxmlformats.org/officeDocument/2006/relationships/font" Target="fonts/font20.fntdata"/><Relationship Id="rId52" Type="http://schemas.openxmlformats.org/officeDocument/2006/relationships/font" Target="fonts/font28.fntdata"/><Relationship Id="rId60" Type="http://schemas.openxmlformats.org/officeDocument/2006/relationships/font" Target="fonts/font36.fntdata"/><Relationship Id="rId65" Type="http://schemas.openxmlformats.org/officeDocument/2006/relationships/font" Target="fonts/font41.fntdata"/><Relationship Id="rId73" Type="http://schemas.openxmlformats.org/officeDocument/2006/relationships/font" Target="fonts/font49.fntdata"/><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15.fntdata"/><Relationship Id="rId34" Type="http://schemas.openxmlformats.org/officeDocument/2006/relationships/font" Target="fonts/font10.fntdata"/><Relationship Id="rId50" Type="http://schemas.openxmlformats.org/officeDocument/2006/relationships/font" Target="fonts/font26.fntdata"/><Relationship Id="rId55" Type="http://schemas.openxmlformats.org/officeDocument/2006/relationships/font" Target="fonts/font31.fntdata"/><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font" Target="fonts/font47.fntdata"/><Relationship Id="rId2" Type="http://schemas.openxmlformats.org/officeDocument/2006/relationships/slide" Target="slides/slide1.xml"/><Relationship Id="rId29"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7992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8E0F3-6933-E889-825F-35B9F75A1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1DCCA-8670-1D8A-C963-D190BDD3EF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D2D902-8411-E07D-214E-3550457E6F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6866B2-E708-2C9E-2860-C209139208F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427185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slide" Target="slide20.xml"/><Relationship Id="rId3" Type="http://schemas.openxmlformats.org/officeDocument/2006/relationships/slide" Target="slide7.xml"/><Relationship Id="rId7" Type="http://schemas.openxmlformats.org/officeDocument/2006/relationships/slide" Target="slide13.xml"/><Relationship Id="rId12" Type="http://schemas.openxmlformats.org/officeDocument/2006/relationships/slide" Target="slide19.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1.xml"/><Relationship Id="rId11" Type="http://schemas.openxmlformats.org/officeDocument/2006/relationships/slide" Target="slide18.xml"/><Relationship Id="rId5" Type="http://schemas.openxmlformats.org/officeDocument/2006/relationships/slide" Target="slide9.xml"/><Relationship Id="rId10" Type="http://schemas.openxmlformats.org/officeDocument/2006/relationships/slide" Target="slide17.xml"/><Relationship Id="rId4" Type="http://schemas.openxmlformats.org/officeDocument/2006/relationships/slide" Target="slide8.xml"/><Relationship Id="rId9" Type="http://schemas.openxmlformats.org/officeDocument/2006/relationships/slide" Target="slide1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8.svg"/><Relationship Id="rId10" Type="http://schemas.openxmlformats.org/officeDocument/2006/relationships/image" Target="../media/image3.png"/><Relationship Id="rId4" Type="http://schemas.openxmlformats.org/officeDocument/2006/relationships/image" Target="../media/image27.svg"/><Relationship Id="rId9" Type="http://schemas.openxmlformats.org/officeDocument/2006/relationships/image" Target="../media/image32.sv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3.jp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35.svg"/><Relationship Id="rId7" Type="http://schemas.openxmlformats.org/officeDocument/2006/relationships/image" Target="../media/image39.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sv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1.jpeg"/></Relationships>
</file>

<file path=ppt/slides/_rels/slide17.xml.rels><?xml version="1.0" encoding="UTF-8" standalone="yes"?>
<Relationships xmlns="http://schemas.openxmlformats.org/package/2006/relationships"><Relationship Id="rId3" Type="http://schemas.openxmlformats.org/officeDocument/2006/relationships/image" Target="../media/image42.jpeg"/><Relationship Id="rId7"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jpeg"/></Relationships>
</file>

<file path=ppt/slides/_rels/slide18.xml.rels><?xml version="1.0" encoding="UTF-8" standalone="yes"?>
<Relationships xmlns="http://schemas.openxmlformats.org/package/2006/relationships"><Relationship Id="rId3" Type="http://schemas.openxmlformats.org/officeDocument/2006/relationships/image" Target="../media/image46.svg"/><Relationship Id="rId7" Type="http://schemas.openxmlformats.org/officeDocument/2006/relationships/image" Target="../media/image4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3.png"/><Relationship Id="rId4" Type="http://schemas.openxmlformats.org/officeDocument/2006/relationships/image" Target="../media/image47.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0.svg"/><Relationship Id="rId7"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3.svg"/><Relationship Id="rId5" Type="http://schemas.openxmlformats.org/officeDocument/2006/relationships/image" Target="../media/image52.svg"/><Relationship Id="rId4" Type="http://schemas.openxmlformats.org/officeDocument/2006/relationships/image" Target="../media/image51.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79558" y="65334"/>
            <a:ext cx="7738280" cy="1032469"/>
          </a:xfrm>
          <a:prstGeom prst="rect">
            <a:avLst/>
          </a:prstGeom>
          <a:noFill/>
          <a:ln>
            <a:noFill/>
          </a:ln>
        </p:spPr>
        <p:txBody>
          <a:bodyPr wrap="square" lIns="0" tIns="0" rIns="0" bIns="0" rtlCol="0" anchor="t">
            <a:normAutofit fontScale="92500" lnSpcReduction="20000"/>
          </a:bodyPr>
          <a:lstStyle/>
          <a:p>
            <a:pPr marL="0" indent="0" algn="ctr">
              <a:lnSpc>
                <a:spcPct val="150000"/>
              </a:lnSpc>
              <a:buNone/>
            </a:pPr>
            <a:r>
              <a:rPr lang="en-US" sz="2800" b="1" dirty="0">
                <a:ln w="15875">
                  <a:solidFill>
                    <a:srgbClr val="FFFF00"/>
                  </a:solidFill>
                </a:ln>
                <a:effectLst>
                  <a:outerShdw blurRad="50800" dist="38100" dir="5400000" algn="t" rotWithShape="0">
                    <a:prstClr val="black">
                      <a:alpha val="40000"/>
                    </a:prstClr>
                  </a:outerShdw>
                </a:effectLst>
                <a:latin typeface="Eras Bold ITC" panose="020B0907030504020204" pitchFamily="34" charset="0"/>
                <a:ea typeface="Prompt Bold" pitchFamily="34" charset="-122"/>
                <a:cs typeface="Prompt Bold" pitchFamily="34" charset="-120"/>
              </a:rPr>
              <a:t>AI -ASSISTED LUNAR TERRAIN ANALYSIS &amp; </a:t>
            </a:r>
          </a:p>
          <a:p>
            <a:pPr marL="0" indent="0" algn="ctr">
              <a:lnSpc>
                <a:spcPct val="150000"/>
              </a:lnSpc>
              <a:buNone/>
            </a:pPr>
            <a:r>
              <a:rPr lang="en-US" sz="2800" b="1" dirty="0">
                <a:ln w="15875">
                  <a:solidFill>
                    <a:srgbClr val="FFFF00"/>
                  </a:solidFill>
                </a:ln>
                <a:effectLst>
                  <a:outerShdw blurRad="50800" dist="38100" dir="5400000" algn="t" rotWithShape="0">
                    <a:prstClr val="black">
                      <a:alpha val="40000"/>
                    </a:prstClr>
                  </a:outerShdw>
                </a:effectLst>
                <a:latin typeface="Eras Bold ITC" panose="020B0907030504020204" pitchFamily="34" charset="0"/>
                <a:ea typeface="Prompt Bold" pitchFamily="34" charset="-122"/>
                <a:cs typeface="Prompt Bold" pitchFamily="34" charset="-120"/>
              </a:rPr>
              <a:t>SAFE ROVER NAVIGATION</a:t>
            </a:r>
            <a:endParaRPr lang="en-US" sz="2800" dirty="0">
              <a:ln w="15875">
                <a:solidFill>
                  <a:srgbClr val="FFFF00"/>
                </a:solidFill>
              </a:ln>
              <a:effectLst>
                <a:outerShdw blurRad="50800" dist="38100" dir="5400000" algn="t" rotWithShape="0">
                  <a:prstClr val="black">
                    <a:alpha val="40000"/>
                  </a:prstClr>
                </a:outerShdw>
              </a:effectLst>
              <a:latin typeface="Eras Bold ITC" panose="020B0907030504020204" pitchFamily="34" charset="0"/>
            </a:endParaRPr>
          </a:p>
        </p:txBody>
      </p:sp>
      <p:sp>
        <p:nvSpPr>
          <p:cNvPr id="3" name="Text 1"/>
          <p:cNvSpPr/>
          <p:nvPr/>
        </p:nvSpPr>
        <p:spPr>
          <a:xfrm>
            <a:off x="1483350" y="2580469"/>
            <a:ext cx="6177300" cy="342826"/>
          </a:xfrm>
          <a:prstGeom prst="rect">
            <a:avLst/>
          </a:prstGeom>
          <a:noFill/>
          <a:ln>
            <a:noFill/>
          </a:ln>
          <a:effectLst>
            <a:outerShdw blurRad="279400" dir="600000" sx="106000" sy="106000" algn="t" rotWithShape="0">
              <a:prstClr val="black">
                <a:alpha val="40000"/>
              </a:prstClr>
            </a:outerShdw>
            <a:reflection blurRad="6350" stA="50000" endA="300" endPos="55000" dir="5400000" sy="-100000" algn="bl" rotWithShape="0"/>
          </a:effectLst>
        </p:spPr>
        <p:txBody>
          <a:bodyPr wrap="none" lIns="0" tIns="0" rIns="0" bIns="0" rtlCol="0" anchor="t"/>
          <a:lstStyle/>
          <a:p>
            <a:pPr marL="0" indent="0" algn="ctr">
              <a:lnSpc>
                <a:spcPct val="104000"/>
              </a:lnSpc>
              <a:buNone/>
            </a:pPr>
            <a:r>
              <a:rPr lang="en-US" sz="2150" dirty="0">
                <a:ln w="3175">
                  <a:solidFill>
                    <a:schemeClr val="tx1">
                      <a:lumMod val="95000"/>
                      <a:lumOff val="5000"/>
                    </a:schemeClr>
                  </a:solidFill>
                </a:ln>
                <a:solidFill>
                  <a:srgbClr val="C6BFEE"/>
                </a:solidFill>
                <a:highlight>
                  <a:srgbClr val="0000FF"/>
                </a:highlight>
                <a:latin typeface="Copperplate Gothic Bold" panose="020E0705020206020404" pitchFamily="34" charset="0"/>
                <a:ea typeface="Prompt Medium" pitchFamily="34" charset="-122"/>
                <a:cs typeface="Prompt Medium" pitchFamily="34" charset="-120"/>
              </a:rPr>
              <a:t>Team Chandra</a:t>
            </a:r>
            <a:endParaRPr lang="en-US" sz="2150" dirty="0">
              <a:ln w="3175">
                <a:solidFill>
                  <a:schemeClr val="tx1">
                    <a:lumMod val="95000"/>
                    <a:lumOff val="5000"/>
                  </a:schemeClr>
                </a:solidFill>
              </a:ln>
              <a:highlight>
                <a:srgbClr val="0000FF"/>
              </a:highlight>
              <a:latin typeface="Copperplate Gothic Bold" panose="020E0705020206020404" pitchFamily="34" charset="0"/>
            </a:endParaRPr>
          </a:p>
        </p:txBody>
      </p:sp>
      <p:sp>
        <p:nvSpPr>
          <p:cNvPr id="4" name="Text 2"/>
          <p:cNvSpPr/>
          <p:nvPr/>
        </p:nvSpPr>
        <p:spPr>
          <a:xfrm>
            <a:off x="540023" y="3184782"/>
            <a:ext cx="8063954" cy="342826"/>
          </a:xfrm>
          <a:prstGeom prst="rect">
            <a:avLst/>
          </a:prstGeom>
          <a:noFill/>
          <a:ln/>
        </p:spPr>
        <p:txBody>
          <a:bodyPr wrap="none" lIns="0" tIns="0" rIns="0" bIns="0" rtlCol="0" anchor="t"/>
          <a:lstStyle/>
          <a:p>
            <a:pPr marL="0" indent="0" algn="ctr">
              <a:lnSpc>
                <a:spcPct val="104000"/>
              </a:lnSpc>
              <a:buNone/>
            </a:pPr>
            <a:r>
              <a:rPr lang="en-US" sz="2150" dirty="0">
                <a:ln>
                  <a:solidFill>
                    <a:srgbClr val="FF0000"/>
                  </a:solidFill>
                </a:ln>
                <a:solidFill>
                  <a:schemeClr val="bg1"/>
                </a:solidFill>
                <a:latin typeface="Showcard Gothic" panose="04020904020102020604" pitchFamily="82" charset="0"/>
                <a:ea typeface="Prompt Medium" pitchFamily="34" charset="-122"/>
                <a:cs typeface="Prompt Medium" pitchFamily="34" charset="-120"/>
              </a:rPr>
              <a:t>Presented By - </a:t>
            </a:r>
            <a:endParaRPr lang="en-US" sz="2150" dirty="0">
              <a:ln>
                <a:solidFill>
                  <a:srgbClr val="FF0000"/>
                </a:solidFill>
              </a:ln>
              <a:solidFill>
                <a:schemeClr val="bg1"/>
              </a:solidFill>
              <a:latin typeface="Showcard Gothic" panose="04020904020102020604" pitchFamily="82" charset="0"/>
            </a:endParaRPr>
          </a:p>
        </p:txBody>
      </p:sp>
      <p:sp>
        <p:nvSpPr>
          <p:cNvPr id="5" name="Text 3"/>
          <p:cNvSpPr/>
          <p:nvPr/>
        </p:nvSpPr>
        <p:spPr>
          <a:xfrm>
            <a:off x="540023" y="3591806"/>
            <a:ext cx="8063954" cy="1261548"/>
          </a:xfrm>
          <a:prstGeom prst="rect">
            <a:avLst/>
          </a:prstGeom>
          <a:noFill/>
          <a:ln/>
        </p:spPr>
        <p:txBody>
          <a:bodyPr wrap="none" lIns="0" tIns="0" rIns="0" bIns="0" rtlCol="0" anchor="t"/>
          <a:lstStyle/>
          <a:p>
            <a:pPr marL="0" indent="0" algn="ctr">
              <a:lnSpc>
                <a:spcPct val="104000"/>
              </a:lnSpc>
              <a:buNone/>
            </a:pPr>
            <a:r>
              <a:rPr lang="en-US" sz="2150" dirty="0">
                <a:solidFill>
                  <a:srgbClr val="C6BFEE"/>
                </a:solidFill>
                <a:latin typeface="Prompt Medium" pitchFamily="34" charset="0"/>
                <a:ea typeface="Prompt Medium" pitchFamily="34" charset="-122"/>
                <a:cs typeface="Prompt Medium" pitchFamily="34" charset="-120"/>
              </a:rPr>
              <a:t> </a:t>
            </a:r>
            <a:r>
              <a:rPr lang="en-US" b="1" dirty="0">
                <a:solidFill>
                  <a:schemeClr val="bg1"/>
                </a:solidFill>
                <a:latin typeface="MV Boli" panose="02000500030200090000" pitchFamily="2" charset="0"/>
                <a:ea typeface="Prompt Medium" pitchFamily="34" charset="-122"/>
                <a:cs typeface="MV Boli" panose="02000500030200090000" pitchFamily="2" charset="0"/>
              </a:rPr>
              <a:t>TIRTHAPADA PANDA</a:t>
            </a:r>
          </a:p>
          <a:p>
            <a:pPr algn="ctr">
              <a:lnSpc>
                <a:spcPct val="104000"/>
              </a:lnSpc>
            </a:pPr>
            <a:r>
              <a:rPr lang="en-US" b="1" dirty="0">
                <a:solidFill>
                  <a:schemeClr val="bg1"/>
                </a:solidFill>
                <a:latin typeface="MV Boli" panose="02000500030200090000" pitchFamily="2" charset="0"/>
                <a:cs typeface="MV Boli" panose="02000500030200090000" pitchFamily="2" charset="0"/>
              </a:rPr>
              <a:t>ASHRITA BEHERA</a:t>
            </a:r>
            <a:endParaRPr lang="en-US" b="1" dirty="0">
              <a:solidFill>
                <a:schemeClr val="bg1"/>
              </a:solidFill>
              <a:latin typeface="MV Boli" panose="02000500030200090000" pitchFamily="2" charset="0"/>
              <a:ea typeface="Prompt Medium" pitchFamily="34" charset="-122"/>
              <a:cs typeface="MV Boli" panose="02000500030200090000" pitchFamily="2" charset="0"/>
            </a:endParaRPr>
          </a:p>
          <a:p>
            <a:pPr algn="ctr">
              <a:lnSpc>
                <a:spcPct val="104000"/>
              </a:lnSpc>
            </a:pPr>
            <a:r>
              <a:rPr lang="en-US" b="1" dirty="0">
                <a:solidFill>
                  <a:schemeClr val="bg1"/>
                </a:solidFill>
                <a:latin typeface="MV Boli" panose="02000500030200090000" pitchFamily="2" charset="0"/>
                <a:ea typeface="Prompt Medium" pitchFamily="34" charset="-122"/>
                <a:cs typeface="MV Boli" panose="02000500030200090000" pitchFamily="2" charset="0"/>
              </a:rPr>
              <a:t>SWAGATAM PRADHAN</a:t>
            </a:r>
          </a:p>
          <a:p>
            <a:pPr algn="ctr">
              <a:lnSpc>
                <a:spcPct val="104000"/>
              </a:lnSpc>
            </a:pPr>
            <a:r>
              <a:rPr lang="en-US" b="1" dirty="0">
                <a:solidFill>
                  <a:schemeClr val="bg1"/>
                </a:solidFill>
                <a:latin typeface="MV Boli" panose="02000500030200090000" pitchFamily="2" charset="0"/>
                <a:ea typeface="Prompt Medium" pitchFamily="34" charset="-122"/>
                <a:cs typeface="MV Boli" panose="02000500030200090000" pitchFamily="2" charset="0"/>
              </a:rPr>
              <a:t> RR HIMANSHU SEKHAR DAS </a:t>
            </a:r>
          </a:p>
          <a:p>
            <a:pPr marL="0" indent="0" algn="ctr">
              <a:lnSpc>
                <a:spcPct val="104000"/>
              </a:lnSpc>
              <a:buNone/>
            </a:pPr>
            <a:r>
              <a:rPr lang="en-US" sz="2000" dirty="0">
                <a:solidFill>
                  <a:srgbClr val="C6BFEE"/>
                </a:solidFill>
                <a:latin typeface="Prompt Medium" pitchFamily="34" charset="0"/>
                <a:ea typeface="Prompt Medium" pitchFamily="34" charset="-122"/>
                <a:cs typeface="Prompt Medium" pitchFamily="34" charset="-120"/>
              </a:rPr>
              <a:t> </a:t>
            </a:r>
            <a:endParaRPr lang="en-US" sz="2000" dirty="0"/>
          </a:p>
        </p:txBody>
      </p:sp>
      <p:sp>
        <p:nvSpPr>
          <p:cNvPr id="8" name="Text 6"/>
          <p:cNvSpPr/>
          <p:nvPr/>
        </p:nvSpPr>
        <p:spPr>
          <a:xfrm>
            <a:off x="540023" y="4003923"/>
            <a:ext cx="8521154" cy="246906"/>
          </a:xfrm>
          <a:prstGeom prst="rect">
            <a:avLst/>
          </a:prstGeom>
          <a:noFill/>
          <a:ln/>
        </p:spPr>
        <p:txBody>
          <a:bodyPr wrap="none" lIns="0" tIns="0" rIns="0" bIns="0" rtlCol="0" anchor="t"/>
          <a:lstStyle/>
          <a:p>
            <a:pPr marL="0" indent="0" algn="l">
              <a:lnSpc>
                <a:spcPct val="133000"/>
              </a:lnSpc>
              <a:buNone/>
            </a:pPr>
            <a:endParaRPr lang="en-US" sz="1200" dirty="0"/>
          </a:p>
        </p:txBody>
      </p:sp>
      <p:sp>
        <p:nvSpPr>
          <p:cNvPr id="10" name="Rectangle 9">
            <a:extLst>
              <a:ext uri="{FF2B5EF4-FFF2-40B4-BE49-F238E27FC236}">
                <a16:creationId xmlns:a16="http://schemas.microsoft.com/office/drawing/2014/main" id="{DE4F6923-FA03-4A6A-21D4-CD3002CBBC44}"/>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tx1">
                    <a:lumMod val="95000"/>
                    <a:lumOff val="5000"/>
                  </a:schemeClr>
                </a:solidFill>
                <a:latin typeface="Bahnschrift SemiBold Condensed" panose="020B0502040204020203" pitchFamily="34" charset="0"/>
              </a:rPr>
              <a:t>Next</a:t>
            </a:r>
          </a:p>
        </p:txBody>
      </p:sp>
      <p:pic>
        <p:nvPicPr>
          <p:cNvPr id="16" name="Picture 15">
            <a:extLst>
              <a:ext uri="{FF2B5EF4-FFF2-40B4-BE49-F238E27FC236}">
                <a16:creationId xmlns:a16="http://schemas.microsoft.com/office/drawing/2014/main" id="{CEF66B9D-E411-CA95-F69F-529D0FF5C477}"/>
              </a:ext>
            </a:extLst>
          </p:cNvPr>
          <p:cNvPicPr>
            <a:picLocks noChangeAspect="1"/>
          </p:cNvPicPr>
          <p:nvPr/>
        </p:nvPicPr>
        <p:blipFill>
          <a:blip r:embed="rId3"/>
          <a:stretch>
            <a:fillRect/>
          </a:stretch>
        </p:blipFill>
        <p:spPr>
          <a:xfrm>
            <a:off x="3861698" y="1159865"/>
            <a:ext cx="1420604" cy="1420604"/>
          </a:xfrm>
          <a:prstGeom prst="rect">
            <a:avLst/>
          </a:prstGeom>
          <a:effectLst>
            <a:softEdge rad="114300"/>
          </a:effectLst>
        </p:spPr>
      </p:pic>
      <p:sp>
        <p:nvSpPr>
          <p:cNvPr id="11" name="Action Button: Go Forward or Next 10">
            <a:hlinkClick r:id="" action="ppaction://hlinkshowjump?jump=nextslide" highlightClick="1"/>
            <a:extLst>
              <a:ext uri="{FF2B5EF4-FFF2-40B4-BE49-F238E27FC236}">
                <a16:creationId xmlns:a16="http://schemas.microsoft.com/office/drawing/2014/main" id="{3A5FBF1D-37C9-1E4E-28C1-454513F154CD}"/>
              </a:ext>
            </a:extLst>
          </p:cNvPr>
          <p:cNvSpPr/>
          <p:nvPr/>
        </p:nvSpPr>
        <p:spPr>
          <a:xfrm>
            <a:off x="8617838" y="490037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90A14731-B535-ABB8-049F-495CF94354D6}"/>
              </a:ext>
            </a:extLst>
          </p:cNvPr>
          <p:cNvPicPr>
            <a:picLocks noChangeAspect="1"/>
          </p:cNvPicPr>
          <p:nvPr/>
        </p:nvPicPr>
        <p:blipFill>
          <a:blip r:embed="rId4"/>
          <a:stretch>
            <a:fillRect/>
          </a:stretch>
        </p:blipFill>
        <p:spPr>
          <a:xfrm>
            <a:off x="128524" y="144027"/>
            <a:ext cx="811979" cy="748644"/>
          </a:xfrm>
          <a:prstGeom prst="rect">
            <a:avLst/>
          </a:prstGeom>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30C8BF-C312-FBE9-91DB-0E2DC7D6FDA3}"/>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ction Button: Go Back or Previous 4">
            <a:hlinkClick r:id="" action="ppaction://hlinkshowjump?jump=previousslide" highlightClick="1"/>
            <a:extLst>
              <a:ext uri="{FF2B5EF4-FFF2-40B4-BE49-F238E27FC236}">
                <a16:creationId xmlns:a16="http://schemas.microsoft.com/office/drawing/2014/main" id="{7B1294A6-2348-C540-F966-B4BBB4DCEE69}"/>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ction Button: Go Forward or Next 6">
            <a:hlinkClick r:id="" action="ppaction://hlinkshowjump?jump=nextslide" highlightClick="1"/>
            <a:extLst>
              <a:ext uri="{FF2B5EF4-FFF2-40B4-BE49-F238E27FC236}">
                <a16:creationId xmlns:a16="http://schemas.microsoft.com/office/drawing/2014/main" id="{9DD07A87-AC90-9156-DA65-3F2E4B34556E}"/>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 0">
            <a:extLst>
              <a:ext uri="{FF2B5EF4-FFF2-40B4-BE49-F238E27FC236}">
                <a16:creationId xmlns:a16="http://schemas.microsoft.com/office/drawing/2014/main" id="{667839DE-CB43-B26A-88B5-5122C4CF459C}"/>
              </a:ext>
            </a:extLst>
          </p:cNvPr>
          <p:cNvSpPr/>
          <p:nvPr/>
        </p:nvSpPr>
        <p:spPr>
          <a:xfrm>
            <a:off x="403860" y="152251"/>
            <a:ext cx="1738357" cy="487978"/>
          </a:xfrm>
          <a:prstGeom prst="rect">
            <a:avLst/>
          </a:prstGeom>
          <a:noFill/>
          <a:ln/>
        </p:spPr>
        <p:txBody>
          <a:bodyPr wrap="square" lIns="0" tIns="0" rIns="0" bIns="0" rtlCol="0" anchor="t">
            <a:normAutofit fontScale="92500"/>
          </a:bodyPr>
          <a:lstStyle/>
          <a:p>
            <a:pPr marL="0" indent="0" algn="l">
              <a:lnSpc>
                <a:spcPct val="104000"/>
              </a:lnSpc>
              <a:buNone/>
            </a:pPr>
            <a:r>
              <a:rPr lang="en-US" sz="2800" dirty="0">
                <a:solidFill>
                  <a:srgbClr val="00FFCC"/>
                </a:solidFill>
                <a:latin typeface="Broadway" panose="04040905080B02020502" pitchFamily="82" charset="0"/>
                <a:cs typeface="Prompt Medium" pitchFamily="34" charset="-120"/>
              </a:rPr>
              <a:t>Content :</a:t>
            </a:r>
            <a:endParaRPr lang="en-US" sz="2800" dirty="0">
              <a:solidFill>
                <a:srgbClr val="00FFCC"/>
              </a:solidFill>
              <a:latin typeface="Broadway" panose="04040905080B02020502" pitchFamily="82" charset="0"/>
            </a:endParaRPr>
          </a:p>
        </p:txBody>
      </p:sp>
      <p:sp>
        <p:nvSpPr>
          <p:cNvPr id="16" name="Action Button: Blank 15">
            <a:hlinkClick r:id="rId2" action="ppaction://hlinksldjump" highlightClick="1"/>
            <a:hlinkHover r:id="" action="ppaction://hlinkshowjump?jump=endshow"/>
            <a:extLst>
              <a:ext uri="{FF2B5EF4-FFF2-40B4-BE49-F238E27FC236}">
                <a16:creationId xmlns:a16="http://schemas.microsoft.com/office/drawing/2014/main" id="{090B1B95-0CFB-B0B9-BE48-619279D7C491}"/>
              </a:ext>
            </a:extLst>
          </p:cNvPr>
          <p:cNvSpPr/>
          <p:nvPr/>
        </p:nvSpPr>
        <p:spPr>
          <a:xfrm>
            <a:off x="336006" y="935902"/>
            <a:ext cx="8142615" cy="240495"/>
          </a:xfrm>
          <a:prstGeom prst="actionButtonBlank">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04000"/>
              </a:lnSpc>
              <a:buFont typeface="Wingdings" panose="05000000000000000000" pitchFamily="2" charset="2"/>
              <a:buChar char="Ø"/>
            </a:pPr>
            <a:r>
              <a:rPr lang="en-US" dirty="0">
                <a:solidFill>
                  <a:schemeClr val="bg1"/>
                </a:solidFill>
                <a:latin typeface="Bookman Old Style" panose="02050604050505020204" pitchFamily="18" charset="0"/>
                <a:ea typeface="Prompt Medium" pitchFamily="34" charset="-122"/>
                <a:cs typeface="Prompt Medium" pitchFamily="34" charset="-120"/>
              </a:rPr>
              <a:t>Lunar AI: Intelligent Landing Site Selection &amp; Rover Navigation </a:t>
            </a:r>
            <a:endParaRPr lang="en-US" dirty="0">
              <a:solidFill>
                <a:schemeClr val="bg1"/>
              </a:solidFill>
              <a:latin typeface="Bookman Old Style" panose="02050604050505020204" pitchFamily="18" charset="0"/>
            </a:endParaRPr>
          </a:p>
        </p:txBody>
      </p:sp>
      <p:sp>
        <p:nvSpPr>
          <p:cNvPr id="28" name="Action Button: Blank 27">
            <a:hlinkClick r:id="rId3" action="ppaction://hlinksldjump" highlightClick="1"/>
            <a:extLst>
              <a:ext uri="{FF2B5EF4-FFF2-40B4-BE49-F238E27FC236}">
                <a16:creationId xmlns:a16="http://schemas.microsoft.com/office/drawing/2014/main" id="{AE676C02-65A1-63B9-6391-32336DE72C86}"/>
              </a:ext>
            </a:extLst>
          </p:cNvPr>
          <p:cNvSpPr/>
          <p:nvPr/>
        </p:nvSpPr>
        <p:spPr>
          <a:xfrm>
            <a:off x="336006" y="1193348"/>
            <a:ext cx="8119110" cy="240495"/>
          </a:xfrm>
          <a:prstGeom prst="actionButtonBlank">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04000"/>
              </a:lnSpc>
              <a:buFont typeface="Wingdings" panose="05000000000000000000" pitchFamily="2" charset="2"/>
              <a:buChar char="Ø"/>
            </a:pPr>
            <a:r>
              <a:rPr lang="en-US" dirty="0">
                <a:solidFill>
                  <a:schemeClr val="bg1"/>
                </a:solidFill>
                <a:latin typeface="Bookman Old Style" panose="02050604050505020204" pitchFamily="18" charset="0"/>
                <a:ea typeface="Prompt Medium" pitchFamily="34" charset="-122"/>
                <a:cs typeface="Prompt Medium" pitchFamily="34" charset="-120"/>
              </a:rPr>
              <a:t>End-to-End AI Pipeline: From Image to Decision</a:t>
            </a:r>
            <a:endParaRPr lang="en-US" dirty="0">
              <a:solidFill>
                <a:schemeClr val="bg1"/>
              </a:solidFill>
              <a:latin typeface="Bookman Old Style" panose="02050604050505020204" pitchFamily="18" charset="0"/>
            </a:endParaRPr>
          </a:p>
        </p:txBody>
      </p:sp>
      <p:sp>
        <p:nvSpPr>
          <p:cNvPr id="31" name="Action Button: Blank 30">
            <a:hlinkClick r:id="rId4" action="ppaction://hlinksldjump" highlightClick="1"/>
            <a:extLst>
              <a:ext uri="{FF2B5EF4-FFF2-40B4-BE49-F238E27FC236}">
                <a16:creationId xmlns:a16="http://schemas.microsoft.com/office/drawing/2014/main" id="{50A7D083-6E1D-3F1F-C0D0-AA4B1C3D33C3}"/>
              </a:ext>
            </a:extLst>
          </p:cNvPr>
          <p:cNvSpPr/>
          <p:nvPr/>
        </p:nvSpPr>
        <p:spPr>
          <a:xfrm>
            <a:off x="321492" y="1459771"/>
            <a:ext cx="7848600" cy="218049"/>
          </a:xfrm>
          <a:prstGeom prst="actionButtonBlank">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04000"/>
              </a:lnSpc>
              <a:buFont typeface="Wingdings" panose="05000000000000000000" pitchFamily="2" charset="2"/>
              <a:buChar char="Ø"/>
            </a:pPr>
            <a:r>
              <a:rPr lang="en-US" dirty="0">
                <a:solidFill>
                  <a:schemeClr val="bg1"/>
                </a:solidFill>
                <a:latin typeface="Bookman Old Style" panose="02050604050505020204" pitchFamily="18" charset="0"/>
                <a:ea typeface="Prompt Medium" pitchFamily="34" charset="-122"/>
                <a:cs typeface="Prompt Medium" pitchFamily="34" charset="-120"/>
              </a:rPr>
              <a:t>Five Core Modules</a:t>
            </a:r>
            <a:endParaRPr lang="en-US" dirty="0">
              <a:solidFill>
                <a:schemeClr val="bg1"/>
              </a:solidFill>
              <a:latin typeface="Bookman Old Style" panose="02050604050505020204" pitchFamily="18" charset="0"/>
            </a:endParaRPr>
          </a:p>
        </p:txBody>
      </p:sp>
      <p:sp>
        <p:nvSpPr>
          <p:cNvPr id="32" name="Action Button: Blank 31">
            <a:hlinkClick r:id="rId5" action="ppaction://hlinksldjump" highlightClick="1"/>
            <a:extLst>
              <a:ext uri="{FF2B5EF4-FFF2-40B4-BE49-F238E27FC236}">
                <a16:creationId xmlns:a16="http://schemas.microsoft.com/office/drawing/2014/main" id="{DFDA15B2-6BE8-75CD-95C4-66FEA252C2B5}"/>
              </a:ext>
            </a:extLst>
          </p:cNvPr>
          <p:cNvSpPr/>
          <p:nvPr/>
        </p:nvSpPr>
        <p:spPr>
          <a:xfrm>
            <a:off x="328749" y="1711231"/>
            <a:ext cx="7254240" cy="218049"/>
          </a:xfrm>
          <a:prstGeom prst="actionButtonBlank">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04000"/>
              </a:lnSpc>
              <a:buFont typeface="Wingdings" panose="05000000000000000000" pitchFamily="2" charset="2"/>
              <a:buChar char="Ø"/>
            </a:pPr>
            <a:r>
              <a:rPr lang="en-US" dirty="0">
                <a:solidFill>
                  <a:schemeClr val="bg1"/>
                </a:solidFill>
                <a:latin typeface="Bookman Old Style" panose="02050604050505020204" pitchFamily="18" charset="0"/>
                <a:ea typeface="Prompt Medium" pitchFamily="34" charset="-122"/>
                <a:cs typeface="Prompt Medium" pitchFamily="34" charset="-120"/>
              </a:rPr>
              <a:t>System Architecture</a:t>
            </a:r>
            <a:endParaRPr lang="en-US" dirty="0">
              <a:solidFill>
                <a:schemeClr val="bg1"/>
              </a:solidFill>
              <a:latin typeface="Bookman Old Style" panose="02050604050505020204" pitchFamily="18" charset="0"/>
            </a:endParaRPr>
          </a:p>
        </p:txBody>
      </p:sp>
      <p:sp>
        <p:nvSpPr>
          <p:cNvPr id="33" name="Action Button: Blank 32">
            <a:hlinkClick r:id="rId6" action="ppaction://hlinksldjump" highlightClick="1"/>
            <a:extLst>
              <a:ext uri="{FF2B5EF4-FFF2-40B4-BE49-F238E27FC236}">
                <a16:creationId xmlns:a16="http://schemas.microsoft.com/office/drawing/2014/main" id="{FBCF09E1-5285-17DC-CBD4-CEC0D1250A57}"/>
              </a:ext>
            </a:extLst>
          </p:cNvPr>
          <p:cNvSpPr/>
          <p:nvPr/>
        </p:nvSpPr>
        <p:spPr>
          <a:xfrm>
            <a:off x="328749" y="1962691"/>
            <a:ext cx="8031480" cy="218048"/>
          </a:xfrm>
          <a:prstGeom prst="actionButtonBlank">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04000"/>
              </a:lnSpc>
              <a:buFont typeface="Wingdings" panose="05000000000000000000" pitchFamily="2" charset="2"/>
              <a:buChar char="Ø"/>
            </a:pPr>
            <a:r>
              <a:rPr lang="en-US" dirty="0">
                <a:solidFill>
                  <a:schemeClr val="bg1"/>
                </a:solidFill>
                <a:latin typeface="Bookman Old Style" panose="02050604050505020204" pitchFamily="18" charset="0"/>
                <a:ea typeface="Prompt Medium" pitchFamily="34" charset="-122"/>
                <a:cs typeface="Prompt Medium" pitchFamily="34" charset="-120"/>
              </a:rPr>
              <a:t>Feature Set &amp; Development Roadmap</a:t>
            </a:r>
            <a:endParaRPr lang="en-US" dirty="0">
              <a:solidFill>
                <a:schemeClr val="bg1"/>
              </a:solidFill>
              <a:latin typeface="Bookman Old Style" panose="02050604050505020204" pitchFamily="18" charset="0"/>
            </a:endParaRPr>
          </a:p>
        </p:txBody>
      </p:sp>
      <p:sp>
        <p:nvSpPr>
          <p:cNvPr id="34" name="Action Button: Blank 33">
            <a:hlinkClick r:id="rId7" action="ppaction://hlinksldjump" highlightClick="1"/>
            <a:extLst>
              <a:ext uri="{FF2B5EF4-FFF2-40B4-BE49-F238E27FC236}">
                <a16:creationId xmlns:a16="http://schemas.microsoft.com/office/drawing/2014/main" id="{45B1969F-849F-2D6F-40EB-CB768F7F7B3D}"/>
              </a:ext>
            </a:extLst>
          </p:cNvPr>
          <p:cNvSpPr/>
          <p:nvPr/>
        </p:nvSpPr>
        <p:spPr>
          <a:xfrm>
            <a:off x="314235" y="2264008"/>
            <a:ext cx="7585710" cy="133023"/>
          </a:xfrm>
          <a:prstGeom prst="actionButtonBlank">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04000"/>
              </a:lnSpc>
              <a:buFont typeface="Wingdings" panose="05000000000000000000" pitchFamily="2" charset="2"/>
              <a:buChar char="Ø"/>
            </a:pPr>
            <a:r>
              <a:rPr lang="en-US" dirty="0">
                <a:solidFill>
                  <a:schemeClr val="bg1"/>
                </a:solidFill>
                <a:latin typeface="Bookman Old Style" panose="02050604050505020204" pitchFamily="18" charset="0"/>
                <a:ea typeface="Prompt Medium" pitchFamily="34" charset="-122"/>
                <a:cs typeface="Prompt Medium" pitchFamily="34" charset="-120"/>
              </a:rPr>
              <a:t>Working Methodology</a:t>
            </a:r>
            <a:endParaRPr lang="en-US" dirty="0">
              <a:solidFill>
                <a:schemeClr val="bg1"/>
              </a:solidFill>
              <a:latin typeface="Bookman Old Style" panose="02050604050505020204" pitchFamily="18" charset="0"/>
            </a:endParaRPr>
          </a:p>
        </p:txBody>
      </p:sp>
      <p:sp>
        <p:nvSpPr>
          <p:cNvPr id="35" name="Action Button: Blank 34">
            <a:hlinkClick r:id="rId8" action="ppaction://hlinksldjump" highlightClick="1"/>
            <a:extLst>
              <a:ext uri="{FF2B5EF4-FFF2-40B4-BE49-F238E27FC236}">
                <a16:creationId xmlns:a16="http://schemas.microsoft.com/office/drawing/2014/main" id="{13B8984E-5D57-8154-04DC-049EC0EE8FE2}"/>
              </a:ext>
            </a:extLst>
          </p:cNvPr>
          <p:cNvSpPr/>
          <p:nvPr/>
        </p:nvSpPr>
        <p:spPr>
          <a:xfrm>
            <a:off x="306978" y="2480299"/>
            <a:ext cx="6797040" cy="229288"/>
          </a:xfrm>
          <a:prstGeom prst="actionButtonBlank">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04000"/>
              </a:lnSpc>
              <a:buFont typeface="Wingdings" panose="05000000000000000000" pitchFamily="2" charset="2"/>
              <a:buChar char="Ø"/>
            </a:pPr>
            <a:r>
              <a:rPr lang="en-US" dirty="0">
                <a:solidFill>
                  <a:schemeClr val="bg1"/>
                </a:solidFill>
                <a:latin typeface="Bookman Old Style" panose="02050604050505020204" pitchFamily="18" charset="0"/>
                <a:ea typeface="Prompt Medium" pitchFamily="34" charset="-122"/>
                <a:cs typeface="Prompt Medium" pitchFamily="34" charset="-120"/>
              </a:rPr>
              <a:t>Dashboard UI — Mission Intelligence at a Glance</a:t>
            </a:r>
            <a:endParaRPr lang="en-US" dirty="0">
              <a:solidFill>
                <a:schemeClr val="bg1"/>
              </a:solidFill>
              <a:latin typeface="Bookman Old Style" panose="02050604050505020204" pitchFamily="18" charset="0"/>
            </a:endParaRPr>
          </a:p>
        </p:txBody>
      </p:sp>
      <p:sp>
        <p:nvSpPr>
          <p:cNvPr id="36" name="Action Button: Blank 35">
            <a:hlinkClick r:id="rId9" action="ppaction://hlinksldjump" highlightClick="1"/>
            <a:extLst>
              <a:ext uri="{FF2B5EF4-FFF2-40B4-BE49-F238E27FC236}">
                <a16:creationId xmlns:a16="http://schemas.microsoft.com/office/drawing/2014/main" id="{CED3C178-44D9-69E3-B6C6-58AAA17535C5}"/>
              </a:ext>
            </a:extLst>
          </p:cNvPr>
          <p:cNvSpPr/>
          <p:nvPr/>
        </p:nvSpPr>
        <p:spPr>
          <a:xfrm>
            <a:off x="306978" y="2730271"/>
            <a:ext cx="7677150" cy="229288"/>
          </a:xfrm>
          <a:prstGeom prst="actionButtonBlank">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04000"/>
              </a:lnSpc>
              <a:buFont typeface="Wingdings" panose="05000000000000000000" pitchFamily="2" charset="2"/>
              <a:buChar char="Ø"/>
            </a:pPr>
            <a:r>
              <a:rPr lang="en-US" dirty="0">
                <a:solidFill>
                  <a:schemeClr val="bg1"/>
                </a:solidFill>
                <a:latin typeface="Bookman Old Style" panose="02050604050505020204" pitchFamily="18" charset="0"/>
                <a:ea typeface="Prompt Medium" pitchFamily="34" charset="-122"/>
                <a:cs typeface="Prompt Medium" pitchFamily="34" charset="-120"/>
              </a:rPr>
              <a:t>Expected Impact</a:t>
            </a:r>
            <a:endParaRPr lang="en-US" dirty="0">
              <a:solidFill>
                <a:schemeClr val="bg1"/>
              </a:solidFill>
              <a:latin typeface="Bookman Old Style" panose="02050604050505020204" pitchFamily="18" charset="0"/>
            </a:endParaRPr>
          </a:p>
        </p:txBody>
      </p:sp>
      <p:sp>
        <p:nvSpPr>
          <p:cNvPr id="37" name="Action Button: Blank 36">
            <a:hlinkClick r:id="rId10" action="ppaction://hlinksldjump" highlightClick="1"/>
            <a:extLst>
              <a:ext uri="{FF2B5EF4-FFF2-40B4-BE49-F238E27FC236}">
                <a16:creationId xmlns:a16="http://schemas.microsoft.com/office/drawing/2014/main" id="{4E2941D8-0F1C-61CE-ECBD-5EEC1DFD9D67}"/>
              </a:ext>
            </a:extLst>
          </p:cNvPr>
          <p:cNvSpPr/>
          <p:nvPr/>
        </p:nvSpPr>
        <p:spPr>
          <a:xfrm>
            <a:off x="300447" y="3009831"/>
            <a:ext cx="7315200" cy="214388"/>
          </a:xfrm>
          <a:prstGeom prst="actionButtonBlank">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04000"/>
              </a:lnSpc>
              <a:buFont typeface="Wingdings" panose="05000000000000000000" pitchFamily="2" charset="2"/>
              <a:buChar char="Ø"/>
            </a:pPr>
            <a:r>
              <a:rPr lang="en-US" dirty="0">
                <a:solidFill>
                  <a:schemeClr val="bg1"/>
                </a:solidFill>
                <a:latin typeface="Bookman Old Style" panose="02050604050505020204" pitchFamily="18" charset="0"/>
                <a:ea typeface="Prompt Medium" pitchFamily="34" charset="-122"/>
                <a:cs typeface="Prompt Medium" pitchFamily="34" charset="-120"/>
              </a:rPr>
              <a:t>Future Scope</a:t>
            </a:r>
            <a:endParaRPr lang="en-US" dirty="0">
              <a:solidFill>
                <a:schemeClr val="bg1"/>
              </a:solidFill>
              <a:latin typeface="Bookman Old Style" panose="02050604050505020204" pitchFamily="18" charset="0"/>
            </a:endParaRPr>
          </a:p>
        </p:txBody>
      </p:sp>
      <p:sp>
        <p:nvSpPr>
          <p:cNvPr id="38" name="Action Button: Blank 37">
            <a:hlinkClick r:id="rId11" action="ppaction://hlinksldjump" highlightClick="1"/>
            <a:extLst>
              <a:ext uri="{FF2B5EF4-FFF2-40B4-BE49-F238E27FC236}">
                <a16:creationId xmlns:a16="http://schemas.microsoft.com/office/drawing/2014/main" id="{B4A85CAF-2ED1-F183-46D8-444DC9B055A7}"/>
              </a:ext>
            </a:extLst>
          </p:cNvPr>
          <p:cNvSpPr/>
          <p:nvPr/>
        </p:nvSpPr>
        <p:spPr>
          <a:xfrm>
            <a:off x="308067" y="3296191"/>
            <a:ext cx="7372350" cy="214388"/>
          </a:xfrm>
          <a:prstGeom prst="actionButtonBlank">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04000"/>
              </a:lnSpc>
              <a:buFont typeface="Wingdings" panose="05000000000000000000" pitchFamily="2" charset="2"/>
              <a:buChar char="Ø"/>
            </a:pPr>
            <a:r>
              <a:rPr lang="en-US" dirty="0">
                <a:solidFill>
                  <a:schemeClr val="bg1"/>
                </a:solidFill>
                <a:latin typeface="Bookman Old Style" panose="02050604050505020204" pitchFamily="18" charset="0"/>
                <a:ea typeface="Prompt Medium" pitchFamily="34" charset="-122"/>
                <a:cs typeface="Prompt Medium" pitchFamily="34" charset="-120"/>
              </a:rPr>
              <a:t>Technical Feasibility</a:t>
            </a:r>
            <a:endParaRPr lang="en-US" dirty="0">
              <a:solidFill>
                <a:schemeClr val="bg1"/>
              </a:solidFill>
              <a:latin typeface="Bookman Old Style" panose="02050604050505020204" pitchFamily="18" charset="0"/>
            </a:endParaRPr>
          </a:p>
        </p:txBody>
      </p:sp>
      <p:sp>
        <p:nvSpPr>
          <p:cNvPr id="39" name="Action Button: Blank 38">
            <a:hlinkClick r:id="rId12" action="ppaction://hlinksldjump" highlightClick="1"/>
            <a:extLst>
              <a:ext uri="{FF2B5EF4-FFF2-40B4-BE49-F238E27FC236}">
                <a16:creationId xmlns:a16="http://schemas.microsoft.com/office/drawing/2014/main" id="{820FAF0D-8AA2-0374-057B-201DB921D6D0}"/>
              </a:ext>
            </a:extLst>
          </p:cNvPr>
          <p:cNvSpPr/>
          <p:nvPr/>
        </p:nvSpPr>
        <p:spPr>
          <a:xfrm>
            <a:off x="323307" y="3555271"/>
            <a:ext cx="7533249" cy="214388"/>
          </a:xfrm>
          <a:prstGeom prst="actionButtonBlank">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04000"/>
              </a:lnSpc>
              <a:buFont typeface="Wingdings" panose="05000000000000000000" pitchFamily="2" charset="2"/>
              <a:buChar char="Ø"/>
            </a:pPr>
            <a:r>
              <a:rPr lang="en-US" dirty="0">
                <a:solidFill>
                  <a:schemeClr val="bg1"/>
                </a:solidFill>
                <a:latin typeface="Bookman Old Style" panose="02050604050505020204" pitchFamily="18" charset="0"/>
                <a:ea typeface="Prompt Medium" pitchFamily="34" charset="-122"/>
                <a:cs typeface="Prompt Medium" pitchFamily="34" charset="-120"/>
              </a:rPr>
              <a:t>Implementation Timeline</a:t>
            </a:r>
            <a:endParaRPr lang="en-US" dirty="0">
              <a:solidFill>
                <a:schemeClr val="bg1"/>
              </a:solidFill>
              <a:latin typeface="Bookman Old Style" panose="02050604050505020204" pitchFamily="18" charset="0"/>
            </a:endParaRPr>
          </a:p>
        </p:txBody>
      </p:sp>
      <p:sp>
        <p:nvSpPr>
          <p:cNvPr id="2" name="Action Button: Blank 1">
            <a:hlinkClick r:id="rId13" action="ppaction://hlinksldjump" highlightClick="1"/>
            <a:extLst>
              <a:ext uri="{FF2B5EF4-FFF2-40B4-BE49-F238E27FC236}">
                <a16:creationId xmlns:a16="http://schemas.microsoft.com/office/drawing/2014/main" id="{26484729-C9AE-69CE-CCA4-9D5B6603BF47}"/>
              </a:ext>
            </a:extLst>
          </p:cNvPr>
          <p:cNvSpPr/>
          <p:nvPr/>
        </p:nvSpPr>
        <p:spPr>
          <a:xfrm>
            <a:off x="315324" y="3799260"/>
            <a:ext cx="7957274" cy="312057"/>
          </a:xfrm>
          <a:prstGeom prst="actionButtonBlank">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en-US" dirty="0">
                <a:latin typeface="Bookman Old Style" panose="02050604050505020204" pitchFamily="18" charset="0"/>
              </a:rPr>
              <a:t>Conclusion</a:t>
            </a:r>
            <a:endParaRPr lang="en-IN" dirty="0">
              <a:latin typeface="Bookman Old Style" panose="02050604050505020204" pitchFamily="18" charset="0"/>
            </a:endParaRPr>
          </a:p>
        </p:txBody>
      </p:sp>
    </p:spTree>
    <p:extLst>
      <p:ext uri="{BB962C8B-B14F-4D97-AF65-F5344CB8AC3E}">
        <p14:creationId xmlns:p14="http://schemas.microsoft.com/office/powerpoint/2010/main" val="209658676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4085135" y="799802"/>
            <a:ext cx="4634954" cy="1285875"/>
          </a:xfrm>
          <a:prstGeom prst="rect">
            <a:avLst/>
          </a:prstGeom>
          <a:noFill/>
          <a:ln/>
        </p:spPr>
        <p:txBody>
          <a:bodyPr wrap="square" lIns="0" tIns="0" rIns="0" bIns="0" rtlCol="0" anchor="t">
            <a:normAutofit/>
          </a:bodyPr>
          <a:lstStyle/>
          <a:p>
            <a:pPr marL="0" indent="0" algn="l">
              <a:lnSpc>
                <a:spcPct val="104000"/>
              </a:lnSpc>
              <a:buNone/>
            </a:pPr>
            <a:r>
              <a:rPr lang="en-US" sz="2700" dirty="0">
                <a:solidFill>
                  <a:srgbClr val="00FFCC"/>
                </a:solidFill>
                <a:latin typeface="Broadway" panose="04040905080B02020502" pitchFamily="82" charset="0"/>
                <a:ea typeface="Prompt Medium" pitchFamily="34" charset="-122"/>
                <a:cs typeface="Prompt Medium" pitchFamily="34" charset="-120"/>
              </a:rPr>
              <a:t>Lunar AI: Intelligent Landing Site Selection &amp; Rover Navigation</a:t>
            </a:r>
            <a:endParaRPr lang="en-US" sz="2700" dirty="0">
              <a:solidFill>
                <a:srgbClr val="00FFCC"/>
              </a:solidFill>
              <a:latin typeface="Broadway" panose="04040905080B02020502" pitchFamily="82" charset="0"/>
            </a:endParaRPr>
          </a:p>
        </p:txBody>
      </p:sp>
      <p:sp>
        <p:nvSpPr>
          <p:cNvPr id="4" name="Text 1"/>
          <p:cNvSpPr/>
          <p:nvPr/>
        </p:nvSpPr>
        <p:spPr>
          <a:xfrm>
            <a:off x="4114163" y="2317104"/>
            <a:ext cx="4858454" cy="1903204"/>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DAD8E9"/>
                </a:solidFill>
                <a:latin typeface="Book Antiqua" panose="02040602050305030304" pitchFamily="18" charset="0"/>
                <a:ea typeface="Mukta Light" pitchFamily="34" charset="-122"/>
                <a:cs typeface="Mukta Light" pitchFamily="34" charset="-120"/>
              </a:rPr>
              <a:t>An AI-powered system that analyzes lunar satellite imagery, detects terrain hazards, recommends the safest landing zones, and plans optimal rover paths — built for the next era of Moon and Mars exploration.</a:t>
            </a:r>
            <a:endParaRPr lang="en-US" sz="1600" dirty="0">
              <a:latin typeface="Book Antiqua" panose="02040602050305030304" pitchFamily="18" charset="0"/>
            </a:endParaRPr>
          </a:p>
        </p:txBody>
      </p:sp>
      <p:sp>
        <p:nvSpPr>
          <p:cNvPr id="5" name="Rectangle 4">
            <a:extLst>
              <a:ext uri="{FF2B5EF4-FFF2-40B4-BE49-F238E27FC236}">
                <a16:creationId xmlns:a16="http://schemas.microsoft.com/office/drawing/2014/main" id="{448D1C72-9847-C345-14D3-C173CE94E696}"/>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5DCD4AE9-4320-B539-1CC5-4A547A0B2E74}"/>
              </a:ext>
            </a:extLst>
          </p:cNvPr>
          <p:cNvPicPr>
            <a:picLocks noChangeAspect="1"/>
          </p:cNvPicPr>
          <p:nvPr/>
        </p:nvPicPr>
        <p:blipFill>
          <a:blip r:embed="rId3"/>
          <a:stretch>
            <a:fillRect/>
          </a:stretch>
        </p:blipFill>
        <p:spPr>
          <a:xfrm>
            <a:off x="75789" y="4632828"/>
            <a:ext cx="441052" cy="441052"/>
          </a:xfrm>
          <a:prstGeom prst="rect">
            <a:avLst/>
          </a:prstGeom>
        </p:spPr>
      </p:pic>
      <p:sp>
        <p:nvSpPr>
          <p:cNvPr id="8" name="Action Button: Go Forward or Next 7">
            <a:hlinkClick r:id="" action="ppaction://hlinkshowjump?jump=nextslide" highlightClick="1"/>
            <a:extLst>
              <a:ext uri="{FF2B5EF4-FFF2-40B4-BE49-F238E27FC236}">
                <a16:creationId xmlns:a16="http://schemas.microsoft.com/office/drawing/2014/main" id="{C930B60F-A2D0-6979-3896-8886D0023D28}"/>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ction Button: Go Back or Previous 11">
            <a:hlinkClick r:id="" action="ppaction://hlinkshowjump?jump=previousslide" highlightClick="1"/>
            <a:extLst>
              <a:ext uri="{FF2B5EF4-FFF2-40B4-BE49-F238E27FC236}">
                <a16:creationId xmlns:a16="http://schemas.microsoft.com/office/drawing/2014/main" id="{35C960A5-D9A3-CBBF-FB66-79DE10972229}"/>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1F860E63-89EB-3DA0-EDF9-BC99750C303F}"/>
              </a:ext>
            </a:extLst>
          </p:cNvPr>
          <p:cNvPicPr>
            <a:picLocks noChangeAspect="1"/>
          </p:cNvPicPr>
          <p:nvPr/>
        </p:nvPicPr>
        <p:blipFill>
          <a:blip r:embed="rId4"/>
          <a:stretch>
            <a:fillRect/>
          </a:stretch>
        </p:blipFill>
        <p:spPr>
          <a:xfrm>
            <a:off x="137886" y="960019"/>
            <a:ext cx="3766457" cy="28263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ext 2"/>
          <p:cNvSpPr/>
          <p:nvPr/>
        </p:nvSpPr>
        <p:spPr>
          <a:xfrm>
            <a:off x="357143" y="308519"/>
            <a:ext cx="8063954" cy="375047"/>
          </a:xfrm>
          <a:prstGeom prst="rect">
            <a:avLst/>
          </a:prstGeom>
          <a:noFill/>
          <a:ln/>
        </p:spPr>
        <p:txBody>
          <a:bodyPr wrap="none" lIns="0" tIns="0" rIns="0" bIns="0" rtlCol="0" anchor="t"/>
          <a:lstStyle/>
          <a:p>
            <a:pPr marL="0" indent="0" algn="l">
              <a:lnSpc>
                <a:spcPct val="104000"/>
              </a:lnSpc>
              <a:buNone/>
            </a:pPr>
            <a:r>
              <a:rPr lang="en-US" sz="2400" dirty="0">
                <a:solidFill>
                  <a:srgbClr val="00FFCC"/>
                </a:solidFill>
                <a:latin typeface="Broadway" panose="04040905080B02020502" pitchFamily="82" charset="0"/>
                <a:ea typeface="Prompt Medium" pitchFamily="34" charset="-122"/>
                <a:cs typeface="MV Boli" panose="02000500030200090000" pitchFamily="2" charset="0"/>
              </a:rPr>
              <a:t>Why Landing on the Moon Is Harder Than It Looks</a:t>
            </a:r>
            <a:endParaRPr lang="en-US" sz="2400" dirty="0">
              <a:solidFill>
                <a:srgbClr val="00FFCC"/>
              </a:solidFill>
              <a:latin typeface="Broadway" panose="04040905080B02020502" pitchFamily="82" charset="0"/>
              <a:cs typeface="MV Boli" panose="02000500030200090000" pitchFamily="2" charset="0"/>
            </a:endParaRPr>
          </a:p>
        </p:txBody>
      </p:sp>
      <p:sp>
        <p:nvSpPr>
          <p:cNvPr id="6" name="Text 3"/>
          <p:cNvSpPr/>
          <p:nvPr/>
        </p:nvSpPr>
        <p:spPr>
          <a:xfrm>
            <a:off x="5219851" y="894792"/>
            <a:ext cx="2074247" cy="318134"/>
          </a:xfrm>
          <a:prstGeom prst="rect">
            <a:avLst/>
          </a:prstGeom>
          <a:noFill/>
          <a:ln/>
        </p:spPr>
        <p:txBody>
          <a:bodyPr wrap="none" lIns="0" tIns="0" rIns="0" bIns="0" rtlCol="0" anchor="t"/>
          <a:lstStyle/>
          <a:p>
            <a:pPr marL="285750" indent="-285750" algn="l">
              <a:lnSpc>
                <a:spcPct val="104000"/>
              </a:lnSpc>
              <a:buFont typeface="Wingdings" panose="05000000000000000000" pitchFamily="2" charset="2"/>
              <a:buChar char="v"/>
            </a:pPr>
            <a:r>
              <a:rPr lang="en-US" sz="1600" dirty="0">
                <a:solidFill>
                  <a:srgbClr val="C6BFEE"/>
                </a:solidFill>
                <a:latin typeface="Cooper Black" panose="0208090404030B020404" pitchFamily="18" charset="0"/>
                <a:ea typeface="Prompt Medium" pitchFamily="34" charset="-122"/>
                <a:cs typeface="Prompt Medium" pitchFamily="34" charset="-120"/>
              </a:rPr>
              <a:t>Terrain Hazards</a:t>
            </a:r>
            <a:endParaRPr lang="en-US" sz="1600" dirty="0">
              <a:latin typeface="Cooper Black" panose="0208090404030B020404" pitchFamily="18" charset="0"/>
            </a:endParaRPr>
          </a:p>
        </p:txBody>
      </p:sp>
      <p:sp>
        <p:nvSpPr>
          <p:cNvPr id="7" name="Text 4"/>
          <p:cNvSpPr/>
          <p:nvPr/>
        </p:nvSpPr>
        <p:spPr>
          <a:xfrm>
            <a:off x="5219853" y="1288552"/>
            <a:ext cx="3635760" cy="928018"/>
          </a:xfrm>
          <a:prstGeom prst="rect">
            <a:avLst/>
          </a:prstGeom>
          <a:noFill/>
          <a:ln/>
        </p:spPr>
        <p:txBody>
          <a:bodyPr wrap="square" lIns="0" tIns="0" rIns="0" bIns="0" rtlCol="0" anchor="t">
            <a:normAutofit fontScale="85000" lnSpcReduction="10000"/>
          </a:bodyPr>
          <a:lstStyle/>
          <a:p>
            <a:pPr marL="0" indent="0" algn="l">
              <a:lnSpc>
                <a:spcPct val="125000"/>
              </a:lnSpc>
              <a:buNone/>
            </a:pPr>
            <a:r>
              <a:rPr lang="en-US" sz="1600" dirty="0">
                <a:solidFill>
                  <a:srgbClr val="DAD8E9"/>
                </a:solidFill>
                <a:latin typeface="Mukta Light" pitchFamily="34" charset="0"/>
                <a:ea typeface="Mukta Light" pitchFamily="34" charset="-122"/>
                <a:cs typeface="Mukta Light" pitchFamily="34" charset="-120"/>
              </a:rPr>
              <a:t>Craters, boulders, steep slopes, and regolith make manual landing site selection extremely risky. A single misjudgment can destroy a mission.</a:t>
            </a:r>
            <a:endParaRPr lang="en-US" sz="1600" dirty="0"/>
          </a:p>
        </p:txBody>
      </p:sp>
      <p:sp>
        <p:nvSpPr>
          <p:cNvPr id="8" name="Text 5"/>
          <p:cNvSpPr/>
          <p:nvPr/>
        </p:nvSpPr>
        <p:spPr>
          <a:xfrm>
            <a:off x="5182528" y="2220698"/>
            <a:ext cx="2911008" cy="177686"/>
          </a:xfrm>
          <a:prstGeom prst="rect">
            <a:avLst/>
          </a:prstGeom>
          <a:noFill/>
          <a:ln/>
        </p:spPr>
        <p:txBody>
          <a:bodyPr wrap="none" lIns="0" tIns="0" rIns="0" bIns="0" rtlCol="0" anchor="t"/>
          <a:lstStyle/>
          <a:p>
            <a:pPr marL="285750" indent="-285750" algn="l">
              <a:lnSpc>
                <a:spcPct val="104000"/>
              </a:lnSpc>
              <a:buFont typeface="Wingdings" panose="05000000000000000000" pitchFamily="2" charset="2"/>
              <a:buChar char="v"/>
            </a:pPr>
            <a:r>
              <a:rPr lang="en-US" sz="1600" dirty="0">
                <a:solidFill>
                  <a:srgbClr val="C6BFEE"/>
                </a:solidFill>
                <a:latin typeface="Cooper Black" panose="0208090404030B020404" pitchFamily="18" charset="0"/>
                <a:ea typeface="Prompt Medium" pitchFamily="34" charset="-122"/>
                <a:cs typeface="Prompt Medium" pitchFamily="34" charset="-120"/>
              </a:rPr>
              <a:t>Manual Analysis Is Too Slow</a:t>
            </a:r>
            <a:endParaRPr lang="en-US" sz="1600" dirty="0">
              <a:latin typeface="Cooper Black" panose="0208090404030B020404" pitchFamily="18" charset="0"/>
            </a:endParaRPr>
          </a:p>
        </p:txBody>
      </p:sp>
      <p:sp>
        <p:nvSpPr>
          <p:cNvPr id="9" name="Text 6"/>
          <p:cNvSpPr/>
          <p:nvPr/>
        </p:nvSpPr>
        <p:spPr>
          <a:xfrm>
            <a:off x="5219853" y="2576596"/>
            <a:ext cx="3384125" cy="928017"/>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DAD8E9"/>
                </a:solidFill>
                <a:latin typeface="Mukta Light" pitchFamily="34" charset="0"/>
                <a:ea typeface="Mukta Light" pitchFamily="34" charset="-122"/>
                <a:cs typeface="Mukta Light" pitchFamily="34" charset="-120"/>
              </a:rPr>
              <a:t>Human experts analyzing satellite imagery take hours or days — far too slow for autonomous or time-critical missions.</a:t>
            </a:r>
            <a:endParaRPr lang="en-US" sz="1400" dirty="0"/>
          </a:p>
        </p:txBody>
      </p:sp>
      <p:sp>
        <p:nvSpPr>
          <p:cNvPr id="10" name="Shape 7"/>
          <p:cNvSpPr/>
          <p:nvPr/>
        </p:nvSpPr>
        <p:spPr>
          <a:xfrm>
            <a:off x="5145205" y="3667956"/>
            <a:ext cx="2985655" cy="1082975"/>
          </a:xfrm>
          <a:prstGeom prst="roundRect">
            <a:avLst>
              <a:gd name="adj" fmla="val 6390"/>
            </a:avLst>
          </a:prstGeom>
          <a:solidFill>
            <a:srgbClr val="542C49"/>
          </a:solidFill>
          <a:ln/>
        </p:spPr>
      </p:sp>
      <p:pic>
        <p:nvPicPr>
          <p:cNvPr id="11" name="Image 1" descr="preencoded.png"/>
          <p:cNvPicPr>
            <a:picLocks noChangeAspect="1"/>
          </p:cNvPicPr>
          <p:nvPr/>
        </p:nvPicPr>
        <p:blipFill>
          <a:blip r:embed="rId3"/>
          <a:stretch>
            <a:fillRect/>
          </a:stretch>
        </p:blipFill>
        <p:spPr>
          <a:xfrm>
            <a:off x="5219853" y="3868157"/>
            <a:ext cx="168771" cy="134987"/>
          </a:xfrm>
          <a:prstGeom prst="rect">
            <a:avLst/>
          </a:prstGeom>
        </p:spPr>
      </p:pic>
      <p:sp>
        <p:nvSpPr>
          <p:cNvPr id="12" name="Text 8"/>
          <p:cNvSpPr/>
          <p:nvPr/>
        </p:nvSpPr>
        <p:spPr>
          <a:xfrm>
            <a:off x="5458829" y="3755800"/>
            <a:ext cx="2601826" cy="904734"/>
          </a:xfrm>
          <a:prstGeom prst="rect">
            <a:avLst/>
          </a:prstGeom>
          <a:noFill/>
          <a:ln/>
        </p:spPr>
        <p:txBody>
          <a:bodyPr wrap="square" lIns="0" tIns="0" rIns="0" bIns="0" rtlCol="0" anchor="t">
            <a:normAutofit/>
          </a:bodyPr>
          <a:lstStyle/>
          <a:p>
            <a:pPr marL="0" indent="0" algn="l">
              <a:lnSpc>
                <a:spcPct val="125000"/>
              </a:lnSpc>
              <a:buNone/>
            </a:pPr>
            <a:r>
              <a:rPr lang="en-US" sz="1600" dirty="0">
                <a:solidFill>
                  <a:srgbClr val="FFFFFF"/>
                </a:solidFill>
                <a:latin typeface="Mukta Light" pitchFamily="34" charset="0"/>
                <a:ea typeface="Mukta Light" pitchFamily="34" charset="-122"/>
                <a:cs typeface="Mukta Light" pitchFamily="34" charset="-120"/>
              </a:rPr>
              <a:t>An AI-assisted, real-time system is essential for safe, scalable lunar exploration.</a:t>
            </a:r>
            <a:endParaRPr lang="en-US" sz="1600" dirty="0"/>
          </a:p>
        </p:txBody>
      </p:sp>
      <p:sp>
        <p:nvSpPr>
          <p:cNvPr id="14" name="Rectangle 13">
            <a:extLst>
              <a:ext uri="{FF2B5EF4-FFF2-40B4-BE49-F238E27FC236}">
                <a16:creationId xmlns:a16="http://schemas.microsoft.com/office/drawing/2014/main" id="{194FAE7F-72BC-89BF-AD00-0EFFC671140B}"/>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a:extLst>
              <a:ext uri="{FF2B5EF4-FFF2-40B4-BE49-F238E27FC236}">
                <a16:creationId xmlns:a16="http://schemas.microsoft.com/office/drawing/2014/main" id="{B7961956-369A-F0BD-767E-0F0647B4836A}"/>
              </a:ext>
            </a:extLst>
          </p:cNvPr>
          <p:cNvPicPr>
            <a:picLocks noChangeAspect="1"/>
          </p:cNvPicPr>
          <p:nvPr/>
        </p:nvPicPr>
        <p:blipFill>
          <a:blip r:embed="rId4"/>
          <a:stretch>
            <a:fillRect/>
          </a:stretch>
        </p:blipFill>
        <p:spPr>
          <a:xfrm>
            <a:off x="75789" y="4632828"/>
            <a:ext cx="441052" cy="441052"/>
          </a:xfrm>
          <a:prstGeom prst="rect">
            <a:avLst/>
          </a:prstGeom>
        </p:spPr>
      </p:pic>
      <p:sp>
        <p:nvSpPr>
          <p:cNvPr id="3" name="Action Button: Go Forward or Next 2">
            <a:hlinkClick r:id="" action="ppaction://hlinkshowjump?jump=nextslide" highlightClick="1"/>
            <a:extLst>
              <a:ext uri="{FF2B5EF4-FFF2-40B4-BE49-F238E27FC236}">
                <a16:creationId xmlns:a16="http://schemas.microsoft.com/office/drawing/2014/main" id="{96563EAD-5B5A-76D9-3639-A23065617301}"/>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ction Button: Go Back or Previous 14">
            <a:hlinkClick r:id="" action="ppaction://hlinkshowjump?jump=previousslide" highlightClick="1"/>
            <a:extLst>
              <a:ext uri="{FF2B5EF4-FFF2-40B4-BE49-F238E27FC236}">
                <a16:creationId xmlns:a16="http://schemas.microsoft.com/office/drawing/2014/main" id="{CD24EAB5-A8C1-B56D-D4CE-FBA2EEC3DB91}"/>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8" name="Picture 17">
            <a:extLst>
              <a:ext uri="{FF2B5EF4-FFF2-40B4-BE49-F238E27FC236}">
                <a16:creationId xmlns:a16="http://schemas.microsoft.com/office/drawing/2014/main" id="{81B2A1DD-3F2D-C717-AC12-74E7FDA0FECC}"/>
              </a:ext>
            </a:extLst>
          </p:cNvPr>
          <p:cNvPicPr>
            <a:picLocks noChangeAspect="1"/>
          </p:cNvPicPr>
          <p:nvPr/>
        </p:nvPicPr>
        <p:blipFill>
          <a:blip r:embed="rId5"/>
          <a:stretch>
            <a:fillRect/>
          </a:stretch>
        </p:blipFill>
        <p:spPr>
          <a:xfrm>
            <a:off x="235222" y="1135373"/>
            <a:ext cx="4633182" cy="308801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2"/>
          <p:cNvSpPr/>
          <p:nvPr/>
        </p:nvSpPr>
        <p:spPr>
          <a:xfrm>
            <a:off x="465376" y="220013"/>
            <a:ext cx="8063954" cy="413774"/>
          </a:xfrm>
          <a:prstGeom prst="rect">
            <a:avLst/>
          </a:prstGeom>
          <a:noFill/>
          <a:ln/>
        </p:spPr>
        <p:txBody>
          <a:bodyPr wrap="none" lIns="0" tIns="0" rIns="0" bIns="0" rtlCol="0" anchor="t"/>
          <a:lstStyle/>
          <a:p>
            <a:pPr marL="0" indent="0" algn="l">
              <a:lnSpc>
                <a:spcPct val="104000"/>
              </a:lnSpc>
              <a:buNone/>
            </a:pPr>
            <a:r>
              <a:rPr lang="en-US" sz="2400" dirty="0">
                <a:solidFill>
                  <a:srgbClr val="00FFCC"/>
                </a:solidFill>
                <a:latin typeface="Broadway" panose="04040905080B02020502" pitchFamily="82" charset="0"/>
                <a:ea typeface="Prompt Medium" pitchFamily="34" charset="-122"/>
                <a:cs typeface="Prompt Medium" pitchFamily="34" charset="-120"/>
              </a:rPr>
              <a:t>The Moon Is Back — And the World Is Racing</a:t>
            </a:r>
            <a:endParaRPr lang="en-US" sz="2400" dirty="0">
              <a:solidFill>
                <a:srgbClr val="00FFCC"/>
              </a:solidFill>
              <a:latin typeface="Broadway" panose="04040905080B02020502" pitchFamily="82" charset="0"/>
            </a:endParaRPr>
          </a:p>
        </p:txBody>
      </p:sp>
      <p:pic>
        <p:nvPicPr>
          <p:cNvPr id="5" name="Image 0" descr="preencoded.png"/>
          <p:cNvPicPr>
            <a:picLocks noChangeAspect="1"/>
          </p:cNvPicPr>
          <p:nvPr/>
        </p:nvPicPr>
        <p:blipFill>
          <a:blip r:embed="rId3"/>
          <a:stretch>
            <a:fillRect/>
          </a:stretch>
        </p:blipFill>
        <p:spPr>
          <a:xfrm>
            <a:off x="230650" y="800099"/>
            <a:ext cx="4594568" cy="4222219"/>
          </a:xfrm>
          <a:prstGeom prst="rect">
            <a:avLst/>
          </a:prstGeom>
        </p:spPr>
      </p:pic>
      <p:sp>
        <p:nvSpPr>
          <p:cNvPr id="6" name="Text 3"/>
          <p:cNvSpPr/>
          <p:nvPr/>
        </p:nvSpPr>
        <p:spPr>
          <a:xfrm>
            <a:off x="4980079" y="1003527"/>
            <a:ext cx="3937918" cy="282527"/>
          </a:xfrm>
          <a:prstGeom prst="rect">
            <a:avLst/>
          </a:prstGeom>
          <a:noFill/>
          <a:ln/>
        </p:spPr>
        <p:txBody>
          <a:bodyPr wrap="none" lIns="0" tIns="0" rIns="0" bIns="0" rtlCol="0" anchor="t"/>
          <a:lstStyle/>
          <a:p>
            <a:pPr marL="285750" indent="-285750" algn="l">
              <a:lnSpc>
                <a:spcPct val="104000"/>
              </a:lnSpc>
              <a:buFont typeface="Wingdings" panose="05000000000000000000" pitchFamily="2" charset="2"/>
              <a:buChar char="q"/>
            </a:pPr>
            <a:r>
              <a:rPr lang="en-US" sz="1600" dirty="0">
                <a:solidFill>
                  <a:srgbClr val="C6BFEE"/>
                </a:solidFill>
                <a:latin typeface="Cooper Black" panose="0208090404030B020404" pitchFamily="18" charset="0"/>
                <a:ea typeface="Prompt Medium" pitchFamily="34" charset="-122"/>
                <a:cs typeface="Prompt Medium" pitchFamily="34" charset="-120"/>
              </a:rPr>
              <a:t>Why This Matters Now</a:t>
            </a:r>
            <a:endParaRPr lang="en-US" sz="1600" dirty="0">
              <a:latin typeface="Cooper Black" panose="0208090404030B020404" pitchFamily="18" charset="0"/>
            </a:endParaRPr>
          </a:p>
        </p:txBody>
      </p:sp>
      <p:sp>
        <p:nvSpPr>
          <p:cNvPr id="7" name="Text 4"/>
          <p:cNvSpPr/>
          <p:nvPr/>
        </p:nvSpPr>
        <p:spPr>
          <a:xfrm>
            <a:off x="4980079" y="1312944"/>
            <a:ext cx="3937918" cy="1182687"/>
          </a:xfrm>
          <a:prstGeom prst="rect">
            <a:avLst/>
          </a:prstGeom>
          <a:noFill/>
          <a:ln/>
        </p:spPr>
        <p:txBody>
          <a:bodyPr wrap="square" lIns="0" tIns="0" rIns="0" bIns="0" rtlCol="0" anchor="t">
            <a:noAutofit/>
          </a:bodyPr>
          <a:lstStyle/>
          <a:p>
            <a:pPr marL="0" indent="0" algn="l">
              <a:lnSpc>
                <a:spcPct val="100000"/>
              </a:lnSpc>
              <a:buNone/>
            </a:pPr>
            <a:r>
              <a:rPr lang="en-US" sz="1600" dirty="0">
                <a:solidFill>
                  <a:srgbClr val="DAD8E9"/>
                </a:solidFill>
                <a:latin typeface="Book Antiqua" panose="02040602050305030304" pitchFamily="18" charset="0"/>
                <a:ea typeface="Mukta Light" pitchFamily="34" charset="-122"/>
                <a:cs typeface="Mukta Light" pitchFamily="34" charset="-120"/>
              </a:rPr>
              <a:t>NASA's Artemis Program and ISRO's Chandrayaan missions have reignited global lunar exploration. Safe, autonomous landing and navigation are no longer optional — they are mission-critical requirements.</a:t>
            </a:r>
            <a:endParaRPr lang="en-US" sz="1600" dirty="0">
              <a:latin typeface="Book Antiqua" panose="02040602050305030304" pitchFamily="18" charset="0"/>
            </a:endParaRPr>
          </a:p>
        </p:txBody>
      </p:sp>
      <p:sp>
        <p:nvSpPr>
          <p:cNvPr id="8" name="Text 5"/>
          <p:cNvSpPr/>
          <p:nvPr/>
        </p:nvSpPr>
        <p:spPr>
          <a:xfrm>
            <a:off x="4975432" y="3100592"/>
            <a:ext cx="3937918" cy="1466618"/>
          </a:xfrm>
          <a:prstGeom prst="rect">
            <a:avLst/>
          </a:prstGeom>
          <a:noFill/>
          <a:ln/>
        </p:spPr>
        <p:txBody>
          <a:bodyPr wrap="square" lIns="0" tIns="0" rIns="0" bIns="0" rtlCol="0" anchor="t">
            <a:noAutofit/>
          </a:bodyPr>
          <a:lstStyle/>
          <a:p>
            <a:pPr marL="121920" indent="-121920" algn="l">
              <a:lnSpc>
                <a:spcPct val="100000"/>
              </a:lnSpc>
              <a:buSzPct val="100000"/>
              <a:buChar char="•"/>
            </a:pPr>
            <a:r>
              <a:rPr lang="en-US" sz="1600" dirty="0">
                <a:solidFill>
                  <a:srgbClr val="DAD8E9"/>
                </a:solidFill>
                <a:latin typeface="Book Antiqua" panose="02040602050305030304" pitchFamily="18" charset="0"/>
                <a:ea typeface="Mukta Light" pitchFamily="34" charset="-122"/>
                <a:cs typeface="Mukta Light" pitchFamily="34" charset="-120"/>
              </a:rPr>
              <a:t>Artemis III targets crewed south pole landing by 2026</a:t>
            </a:r>
            <a:endParaRPr lang="en-US" sz="1600" dirty="0">
              <a:latin typeface="Book Antiqua" panose="02040602050305030304" pitchFamily="18" charset="0"/>
            </a:endParaRPr>
          </a:p>
          <a:p>
            <a:pPr marL="121920" indent="-121920" algn="l">
              <a:lnSpc>
                <a:spcPct val="100000"/>
              </a:lnSpc>
              <a:buSzPct val="100000"/>
              <a:buChar char="•"/>
            </a:pPr>
            <a:r>
              <a:rPr lang="en-US" sz="1600" dirty="0">
                <a:solidFill>
                  <a:srgbClr val="DAD8E9"/>
                </a:solidFill>
                <a:latin typeface="Book Antiqua" panose="02040602050305030304" pitchFamily="18" charset="0"/>
                <a:ea typeface="Mukta Light" pitchFamily="34" charset="-122"/>
                <a:cs typeface="Mukta Light" pitchFamily="34" charset="-120"/>
              </a:rPr>
              <a:t>ISRO planning Chandrayaan-4 sample return mission</a:t>
            </a:r>
            <a:endParaRPr lang="en-US" sz="1600" dirty="0">
              <a:latin typeface="Book Antiqua" panose="02040602050305030304" pitchFamily="18" charset="0"/>
            </a:endParaRPr>
          </a:p>
          <a:p>
            <a:pPr marL="121920" indent="-121920" algn="l">
              <a:lnSpc>
                <a:spcPct val="100000"/>
              </a:lnSpc>
              <a:buSzPct val="100000"/>
              <a:buChar char="•"/>
            </a:pPr>
            <a:r>
              <a:rPr lang="en-US" sz="1600" dirty="0">
                <a:solidFill>
                  <a:srgbClr val="DAD8E9"/>
                </a:solidFill>
                <a:latin typeface="Book Antiqua" panose="02040602050305030304" pitchFamily="18" charset="0"/>
                <a:ea typeface="Mukta Light" pitchFamily="34" charset="-122"/>
                <a:cs typeface="Mukta Light" pitchFamily="34" charset="-120"/>
              </a:rPr>
              <a:t>Autonomous navigation reduces communication delay risks</a:t>
            </a:r>
            <a:endParaRPr lang="en-US" sz="1600" dirty="0">
              <a:latin typeface="Book Antiqua" panose="02040602050305030304" pitchFamily="18" charset="0"/>
            </a:endParaRPr>
          </a:p>
        </p:txBody>
      </p:sp>
      <p:sp>
        <p:nvSpPr>
          <p:cNvPr id="10" name="Rectangle 9">
            <a:extLst>
              <a:ext uri="{FF2B5EF4-FFF2-40B4-BE49-F238E27FC236}">
                <a16:creationId xmlns:a16="http://schemas.microsoft.com/office/drawing/2014/main" id="{50628C03-2F6F-45FB-B5FE-AF6DE154323A}"/>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3600"/>
          </a:p>
        </p:txBody>
      </p:sp>
      <p:pic>
        <p:nvPicPr>
          <p:cNvPr id="16" name="Picture 15">
            <a:extLst>
              <a:ext uri="{FF2B5EF4-FFF2-40B4-BE49-F238E27FC236}">
                <a16:creationId xmlns:a16="http://schemas.microsoft.com/office/drawing/2014/main" id="{F4951EBE-7B25-D2E2-8DE7-46E4C7980E64}"/>
              </a:ext>
            </a:extLst>
          </p:cNvPr>
          <p:cNvPicPr>
            <a:picLocks noChangeAspect="1"/>
          </p:cNvPicPr>
          <p:nvPr/>
        </p:nvPicPr>
        <p:blipFill>
          <a:blip r:embed="rId4"/>
          <a:stretch>
            <a:fillRect/>
          </a:stretch>
        </p:blipFill>
        <p:spPr>
          <a:xfrm>
            <a:off x="75789" y="4632828"/>
            <a:ext cx="441052" cy="441052"/>
          </a:xfrm>
          <a:prstGeom prst="rect">
            <a:avLst/>
          </a:prstGeom>
        </p:spPr>
      </p:pic>
      <p:sp>
        <p:nvSpPr>
          <p:cNvPr id="3" name="Action Button: Go Forward or Next 2">
            <a:hlinkClick r:id="" action="ppaction://hlinkshowjump?jump=nextslide" highlightClick="1"/>
            <a:extLst>
              <a:ext uri="{FF2B5EF4-FFF2-40B4-BE49-F238E27FC236}">
                <a16:creationId xmlns:a16="http://schemas.microsoft.com/office/drawing/2014/main" id="{67D5E900-62E1-7BF6-D396-17B2A1460816}"/>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ction Button: Go Back or Previous 14">
            <a:hlinkClick r:id="" action="ppaction://hlinkshowjump?jump=previousslide" highlightClick="1"/>
            <a:extLst>
              <a:ext uri="{FF2B5EF4-FFF2-40B4-BE49-F238E27FC236}">
                <a16:creationId xmlns:a16="http://schemas.microsoft.com/office/drawing/2014/main" id="{93FEF174-E028-3240-3F2C-F29552C20238}"/>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Text 2"/>
          <p:cNvSpPr/>
          <p:nvPr/>
        </p:nvSpPr>
        <p:spPr>
          <a:xfrm>
            <a:off x="465376" y="198447"/>
            <a:ext cx="8063954" cy="428625"/>
          </a:xfrm>
          <a:prstGeom prst="rect">
            <a:avLst/>
          </a:prstGeom>
          <a:noFill/>
          <a:ln/>
        </p:spPr>
        <p:txBody>
          <a:bodyPr wrap="none" lIns="0" tIns="0" rIns="0" bIns="0" rtlCol="0" anchor="t"/>
          <a:lstStyle/>
          <a:p>
            <a:pPr marL="0" indent="0" algn="l">
              <a:lnSpc>
                <a:spcPct val="104000"/>
              </a:lnSpc>
              <a:buNone/>
            </a:pPr>
            <a:r>
              <a:rPr lang="en-US" sz="2400" dirty="0">
                <a:solidFill>
                  <a:srgbClr val="00FFCC"/>
                </a:solidFill>
                <a:latin typeface="Broadway" panose="04040905080B02020502" pitchFamily="82" charset="0"/>
                <a:ea typeface="Prompt Medium" pitchFamily="34" charset="-122"/>
                <a:cs typeface="Prompt Medium" pitchFamily="34" charset="-120"/>
              </a:rPr>
              <a:t>What the System Must Do</a:t>
            </a:r>
            <a:endParaRPr lang="en-US" sz="2400" dirty="0">
              <a:solidFill>
                <a:srgbClr val="00FFCC"/>
              </a:solidFill>
              <a:latin typeface="Broadway" panose="04040905080B02020502" pitchFamily="82" charset="0"/>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5376" y="930301"/>
            <a:ext cx="308595" cy="308595"/>
          </a:xfrm>
          <a:prstGeom prst="rect">
            <a:avLst/>
          </a:prstGeom>
        </p:spPr>
      </p:pic>
      <p:sp>
        <p:nvSpPr>
          <p:cNvPr id="6" name="Text 3"/>
          <p:cNvSpPr/>
          <p:nvPr/>
        </p:nvSpPr>
        <p:spPr>
          <a:xfrm>
            <a:off x="465376" y="1288739"/>
            <a:ext cx="2559397" cy="214313"/>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Eras Bold ITC" panose="020B0907030504020204" pitchFamily="34" charset="0"/>
                <a:ea typeface="Prompt Medium" pitchFamily="34" charset="-122"/>
                <a:cs typeface="Prompt Medium" pitchFamily="34" charset="-120"/>
              </a:rPr>
              <a:t>Analyze Lunar Images</a:t>
            </a:r>
            <a:endParaRPr lang="en-US" sz="1600" dirty="0">
              <a:latin typeface="Eras Bold ITC" panose="020B0907030504020204" pitchFamily="34" charset="0"/>
            </a:endParaRPr>
          </a:p>
        </p:txBody>
      </p:sp>
      <p:sp>
        <p:nvSpPr>
          <p:cNvPr id="7" name="Text 4"/>
          <p:cNvSpPr/>
          <p:nvPr/>
        </p:nvSpPr>
        <p:spPr>
          <a:xfrm>
            <a:off x="465376" y="1607233"/>
            <a:ext cx="2621125" cy="885753"/>
          </a:xfrm>
          <a:prstGeom prst="rect">
            <a:avLst/>
          </a:prstGeom>
          <a:noFill/>
          <a:ln/>
        </p:spPr>
        <p:txBody>
          <a:bodyPr wrap="square" lIns="0" tIns="0" rIns="0" bIns="0" rtlCol="0" anchor="t">
            <a:normAutofit fontScale="92500"/>
          </a:bodyPr>
          <a:lstStyle/>
          <a:p>
            <a:pPr marL="0" indent="0" algn="l">
              <a:lnSpc>
                <a:spcPct val="133000"/>
              </a:lnSpc>
              <a:buNone/>
            </a:pPr>
            <a:r>
              <a:rPr lang="en-US" sz="1600" dirty="0">
                <a:solidFill>
                  <a:srgbClr val="DAD8E9"/>
                </a:solidFill>
                <a:latin typeface="Mukta Light" pitchFamily="34" charset="0"/>
                <a:ea typeface="Mukta Light" pitchFamily="34" charset="-122"/>
                <a:cs typeface="Mukta Light" pitchFamily="34" charset="-120"/>
              </a:rPr>
              <a:t>Process high-resolution satellite imagery of the lunar surface</a:t>
            </a:r>
            <a:endParaRPr lang="en-US" sz="16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38310" y="868334"/>
            <a:ext cx="308595" cy="308595"/>
          </a:xfrm>
          <a:prstGeom prst="rect">
            <a:avLst/>
          </a:prstGeom>
        </p:spPr>
      </p:pic>
      <p:sp>
        <p:nvSpPr>
          <p:cNvPr id="9" name="Text 5"/>
          <p:cNvSpPr/>
          <p:nvPr/>
        </p:nvSpPr>
        <p:spPr>
          <a:xfrm>
            <a:off x="3238310" y="1283709"/>
            <a:ext cx="2559397" cy="214313"/>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Eras Bold ITC" panose="020B0907030504020204" pitchFamily="34" charset="0"/>
                <a:ea typeface="Prompt Medium" pitchFamily="34" charset="-122"/>
                <a:cs typeface="Prompt Medium" pitchFamily="34" charset="-120"/>
              </a:rPr>
              <a:t>Detect Craters &amp; Rocks</a:t>
            </a:r>
            <a:endParaRPr lang="en-US" sz="1600" dirty="0">
              <a:latin typeface="Eras Bold ITC" panose="020B0907030504020204" pitchFamily="34" charset="0"/>
            </a:endParaRPr>
          </a:p>
        </p:txBody>
      </p:sp>
      <p:sp>
        <p:nvSpPr>
          <p:cNvPr id="10" name="Text 6"/>
          <p:cNvSpPr/>
          <p:nvPr/>
        </p:nvSpPr>
        <p:spPr>
          <a:xfrm>
            <a:off x="3238310" y="1574985"/>
            <a:ext cx="2621125" cy="701843"/>
          </a:xfrm>
          <a:prstGeom prst="rect">
            <a:avLst/>
          </a:prstGeom>
          <a:noFill/>
          <a:ln/>
        </p:spPr>
        <p:txBody>
          <a:bodyPr wrap="square" lIns="0" tIns="0" rIns="0" bIns="0" rtlCol="0" anchor="t">
            <a:normAutofit fontScale="92500"/>
          </a:bodyPr>
          <a:lstStyle/>
          <a:p>
            <a:pPr marL="0" indent="0" algn="l">
              <a:lnSpc>
                <a:spcPct val="133000"/>
              </a:lnSpc>
              <a:buNone/>
            </a:pPr>
            <a:r>
              <a:rPr lang="en-US" sz="1600" dirty="0">
                <a:solidFill>
                  <a:srgbClr val="DAD8E9"/>
                </a:solidFill>
                <a:latin typeface="Mukta Light" pitchFamily="34" charset="0"/>
                <a:ea typeface="Mukta Light" pitchFamily="34" charset="-122"/>
                <a:cs typeface="Mukta Light" pitchFamily="34" charset="-120"/>
              </a:rPr>
              <a:t>Identify surface hazards including craters, boulders, and debris</a:t>
            </a:r>
            <a:endParaRPr lang="en-US" sz="16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60601" y="930301"/>
            <a:ext cx="308595" cy="308595"/>
          </a:xfrm>
          <a:prstGeom prst="rect">
            <a:avLst/>
          </a:prstGeom>
        </p:spPr>
      </p:pic>
      <p:sp>
        <p:nvSpPr>
          <p:cNvPr id="12" name="Text 7"/>
          <p:cNvSpPr/>
          <p:nvPr/>
        </p:nvSpPr>
        <p:spPr>
          <a:xfrm>
            <a:off x="6260601" y="1281601"/>
            <a:ext cx="2559397" cy="214313"/>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Eras Bold ITC" panose="020B0907030504020204" pitchFamily="34" charset="0"/>
                <a:ea typeface="Prompt Medium" pitchFamily="34" charset="-122"/>
                <a:cs typeface="Prompt Medium" pitchFamily="34" charset="-120"/>
              </a:rPr>
              <a:t>Terrain Classification</a:t>
            </a:r>
            <a:endParaRPr lang="en-US" sz="1600" dirty="0">
              <a:latin typeface="Eras Bold ITC" panose="020B0907030504020204" pitchFamily="34" charset="0"/>
            </a:endParaRPr>
          </a:p>
        </p:txBody>
      </p:sp>
      <p:sp>
        <p:nvSpPr>
          <p:cNvPr id="13" name="Text 8"/>
          <p:cNvSpPr/>
          <p:nvPr/>
        </p:nvSpPr>
        <p:spPr>
          <a:xfrm>
            <a:off x="6275245" y="1564310"/>
            <a:ext cx="2559397" cy="701843"/>
          </a:xfrm>
          <a:prstGeom prst="rect">
            <a:avLst/>
          </a:prstGeom>
          <a:noFill/>
          <a:ln/>
        </p:spPr>
        <p:txBody>
          <a:bodyPr wrap="square" lIns="0" tIns="0" rIns="0" bIns="0" rtlCol="0" anchor="t">
            <a:normAutofit/>
          </a:bodyPr>
          <a:lstStyle/>
          <a:p>
            <a:pPr marL="0" indent="0" algn="l">
              <a:lnSpc>
                <a:spcPct val="133000"/>
              </a:lnSpc>
              <a:buNone/>
            </a:pPr>
            <a:r>
              <a:rPr lang="en-US" sz="1500" dirty="0">
                <a:solidFill>
                  <a:srgbClr val="DAD8E9"/>
                </a:solidFill>
                <a:latin typeface="Mukta Light" pitchFamily="34" charset="0"/>
                <a:ea typeface="Mukta Light" pitchFamily="34" charset="-122"/>
                <a:cs typeface="Mukta Light" pitchFamily="34" charset="-120"/>
              </a:rPr>
              <a:t>Classify slopes, flat zones, and dangerous terrain types</a:t>
            </a:r>
            <a:endParaRPr lang="en-US" sz="15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26654" y="3038245"/>
            <a:ext cx="308595" cy="308595"/>
          </a:xfrm>
          <a:prstGeom prst="rect">
            <a:avLst/>
          </a:prstGeom>
        </p:spPr>
      </p:pic>
      <p:sp>
        <p:nvSpPr>
          <p:cNvPr id="15" name="Text 9"/>
          <p:cNvSpPr/>
          <p:nvPr/>
        </p:nvSpPr>
        <p:spPr>
          <a:xfrm>
            <a:off x="1326654" y="3412350"/>
            <a:ext cx="2559397" cy="214313"/>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Eras Bold ITC" panose="020B0907030504020204" pitchFamily="34" charset="0"/>
                <a:ea typeface="Prompt Medium" pitchFamily="34" charset="-122"/>
                <a:cs typeface="Prompt Medium" pitchFamily="34" charset="-120"/>
              </a:rPr>
              <a:t>Recommend Landing Zone</a:t>
            </a:r>
            <a:endParaRPr lang="en-US" sz="1600" dirty="0">
              <a:latin typeface="Eras Bold ITC" panose="020B0907030504020204" pitchFamily="34" charset="0"/>
            </a:endParaRPr>
          </a:p>
        </p:txBody>
      </p:sp>
      <p:sp>
        <p:nvSpPr>
          <p:cNvPr id="16" name="Text 10"/>
          <p:cNvSpPr/>
          <p:nvPr/>
        </p:nvSpPr>
        <p:spPr>
          <a:xfrm>
            <a:off x="1326654" y="3692173"/>
            <a:ext cx="2947871" cy="831068"/>
          </a:xfrm>
          <a:prstGeom prst="rect">
            <a:avLst/>
          </a:prstGeom>
          <a:noFill/>
          <a:ln/>
        </p:spPr>
        <p:txBody>
          <a:bodyPr wrap="square" lIns="0" tIns="0" rIns="0" bIns="0" rtlCol="0" anchor="t">
            <a:normAutofit/>
          </a:bodyPr>
          <a:lstStyle/>
          <a:p>
            <a:pPr marL="0" indent="0" algn="l">
              <a:lnSpc>
                <a:spcPct val="133000"/>
              </a:lnSpc>
              <a:buNone/>
            </a:pPr>
            <a:r>
              <a:rPr lang="en-US" sz="1500" dirty="0">
                <a:solidFill>
                  <a:srgbClr val="DAD8E9"/>
                </a:solidFill>
                <a:latin typeface="Mukta Light" pitchFamily="34" charset="0"/>
                <a:ea typeface="Mukta Light" pitchFamily="34" charset="-122"/>
                <a:cs typeface="Mukta Light" pitchFamily="34" charset="-120"/>
              </a:rPr>
              <a:t>Generate hazard maps and recommend the safest landing area</a:t>
            </a:r>
            <a:endParaRPr lang="en-US" sz="150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61837" y="3038244"/>
            <a:ext cx="308595" cy="308595"/>
          </a:xfrm>
          <a:prstGeom prst="rect">
            <a:avLst/>
          </a:prstGeom>
        </p:spPr>
      </p:pic>
      <p:sp>
        <p:nvSpPr>
          <p:cNvPr id="18" name="Text 11"/>
          <p:cNvSpPr/>
          <p:nvPr/>
        </p:nvSpPr>
        <p:spPr>
          <a:xfrm>
            <a:off x="4961837" y="3412350"/>
            <a:ext cx="2559397" cy="214313"/>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Eras Bold ITC" panose="020B0907030504020204" pitchFamily="34" charset="0"/>
                <a:ea typeface="Prompt Medium" pitchFamily="34" charset="-122"/>
                <a:cs typeface="Prompt Medium" pitchFamily="34" charset="-120"/>
              </a:rPr>
              <a:t>Rover Path Planning</a:t>
            </a:r>
            <a:endParaRPr lang="en-US" sz="1600" dirty="0">
              <a:latin typeface="Eras Bold ITC" panose="020B0907030504020204" pitchFamily="34" charset="0"/>
            </a:endParaRPr>
          </a:p>
        </p:txBody>
      </p:sp>
      <p:sp>
        <p:nvSpPr>
          <p:cNvPr id="19" name="Text 12"/>
          <p:cNvSpPr/>
          <p:nvPr/>
        </p:nvSpPr>
        <p:spPr>
          <a:xfrm>
            <a:off x="4938858" y="3675549"/>
            <a:ext cx="3435522" cy="605644"/>
          </a:xfrm>
          <a:prstGeom prst="rect">
            <a:avLst/>
          </a:prstGeom>
          <a:noFill/>
          <a:ln/>
        </p:spPr>
        <p:txBody>
          <a:bodyPr wrap="square" lIns="0" tIns="0" rIns="0" bIns="0" rtlCol="0" anchor="t">
            <a:noAutofit/>
          </a:bodyPr>
          <a:lstStyle/>
          <a:p>
            <a:pPr marL="0" indent="0" algn="l">
              <a:lnSpc>
                <a:spcPct val="133000"/>
              </a:lnSpc>
              <a:buNone/>
            </a:pPr>
            <a:r>
              <a:rPr lang="en-US" sz="1500" dirty="0">
                <a:solidFill>
                  <a:srgbClr val="DAD8E9"/>
                </a:solidFill>
                <a:latin typeface="Mukta Light" pitchFamily="34" charset="0"/>
                <a:ea typeface="Mukta Light" pitchFamily="34" charset="-122"/>
                <a:cs typeface="Mukta Light" pitchFamily="34" charset="-120"/>
              </a:rPr>
              <a:t>Compute the safest, most efficient traversal route for rovers</a:t>
            </a:r>
            <a:endParaRPr lang="en-US" sz="1500" dirty="0"/>
          </a:p>
        </p:txBody>
      </p:sp>
      <p:sp>
        <p:nvSpPr>
          <p:cNvPr id="21" name="Rectangle 20">
            <a:extLst>
              <a:ext uri="{FF2B5EF4-FFF2-40B4-BE49-F238E27FC236}">
                <a16:creationId xmlns:a16="http://schemas.microsoft.com/office/drawing/2014/main" id="{429D1888-F2AB-E5AD-A8CF-F3574A4361DE}"/>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7" name="Picture 26">
            <a:extLst>
              <a:ext uri="{FF2B5EF4-FFF2-40B4-BE49-F238E27FC236}">
                <a16:creationId xmlns:a16="http://schemas.microsoft.com/office/drawing/2014/main" id="{4113172C-AAA3-DB75-95DC-F994657AD6ED}"/>
              </a:ext>
            </a:extLst>
          </p:cNvPr>
          <p:cNvPicPr>
            <a:picLocks noChangeAspect="1"/>
          </p:cNvPicPr>
          <p:nvPr/>
        </p:nvPicPr>
        <p:blipFill>
          <a:blip r:embed="rId8"/>
          <a:stretch>
            <a:fillRect/>
          </a:stretch>
        </p:blipFill>
        <p:spPr>
          <a:xfrm>
            <a:off x="75789" y="4632828"/>
            <a:ext cx="441052" cy="441052"/>
          </a:xfrm>
          <a:prstGeom prst="rect">
            <a:avLst/>
          </a:prstGeom>
        </p:spPr>
      </p:pic>
      <p:sp>
        <p:nvSpPr>
          <p:cNvPr id="3" name="Action Button: Go Forward or Next 2">
            <a:hlinkClick r:id="" action="ppaction://hlinkshowjump?jump=nextslide" highlightClick="1"/>
            <a:extLst>
              <a:ext uri="{FF2B5EF4-FFF2-40B4-BE49-F238E27FC236}">
                <a16:creationId xmlns:a16="http://schemas.microsoft.com/office/drawing/2014/main" id="{3E5506B7-C489-A6A5-D2CF-6EC90D8EC860}"/>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ction Button: Go Back or Previous 21">
            <a:hlinkClick r:id="" action="ppaction://hlinkshowjump?jump=previousslide" highlightClick="1"/>
            <a:extLst>
              <a:ext uri="{FF2B5EF4-FFF2-40B4-BE49-F238E27FC236}">
                <a16:creationId xmlns:a16="http://schemas.microsoft.com/office/drawing/2014/main" id="{860A42AE-94C0-54C8-E318-D1D7E3721C3B}"/>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Text 2"/>
          <p:cNvSpPr/>
          <p:nvPr/>
        </p:nvSpPr>
        <p:spPr>
          <a:xfrm>
            <a:off x="182880" y="90207"/>
            <a:ext cx="8397915" cy="407759"/>
          </a:xfrm>
          <a:prstGeom prst="rect">
            <a:avLst/>
          </a:prstGeom>
          <a:noFill/>
          <a:ln/>
        </p:spPr>
        <p:txBody>
          <a:bodyPr wrap="none" lIns="0" tIns="0" rIns="0" bIns="0" rtlCol="0" anchor="t"/>
          <a:lstStyle/>
          <a:p>
            <a:pPr marL="0" indent="0" algn="l">
              <a:lnSpc>
                <a:spcPct val="104000"/>
              </a:lnSpc>
              <a:buNone/>
            </a:pPr>
            <a:r>
              <a:rPr lang="en-US" sz="2000" dirty="0">
                <a:solidFill>
                  <a:srgbClr val="00FFCC"/>
                </a:solidFill>
                <a:latin typeface="Broadway" panose="04040905080B02020502" pitchFamily="82" charset="0"/>
                <a:ea typeface="Prompt Medium" pitchFamily="34" charset="-122"/>
                <a:cs typeface="Prompt Medium" pitchFamily="34" charset="-120"/>
              </a:rPr>
              <a:t>End-to-End AI Pipeline: From Image to Decision</a:t>
            </a:r>
            <a:endParaRPr lang="en-US" sz="2000" dirty="0">
              <a:solidFill>
                <a:srgbClr val="00FFCC"/>
              </a:solidFill>
              <a:latin typeface="Broadway" panose="04040905080B02020502" pitchFamily="82" charset="0"/>
            </a:endParaRPr>
          </a:p>
        </p:txBody>
      </p:sp>
      <p:pic>
        <p:nvPicPr>
          <p:cNvPr id="5" name="Image 0" descr="preencoded.png"/>
          <p:cNvPicPr>
            <a:picLocks noChangeAspect="1"/>
          </p:cNvPicPr>
          <p:nvPr/>
        </p:nvPicPr>
        <p:blipFill>
          <a:blip r:embed="rId3"/>
          <a:srcRect t="8749" b="-8749"/>
          <a:stretch>
            <a:fillRect/>
          </a:stretch>
        </p:blipFill>
        <p:spPr>
          <a:xfrm>
            <a:off x="296314" y="618260"/>
            <a:ext cx="8481925" cy="4114800"/>
          </a:xfrm>
          <a:prstGeom prst="rect">
            <a:avLst/>
          </a:prstGeom>
        </p:spPr>
      </p:pic>
      <p:sp>
        <p:nvSpPr>
          <p:cNvPr id="6" name="Text 3"/>
          <p:cNvSpPr/>
          <p:nvPr/>
        </p:nvSpPr>
        <p:spPr>
          <a:xfrm>
            <a:off x="541401" y="3836710"/>
            <a:ext cx="8076437" cy="716253"/>
          </a:xfrm>
          <a:prstGeom prst="rect">
            <a:avLst/>
          </a:prstGeom>
          <a:noFill/>
          <a:ln/>
        </p:spPr>
        <p:txBody>
          <a:bodyPr wrap="square" lIns="0" tIns="0" rIns="0" bIns="0" rtlCol="0" anchor="t">
            <a:normAutofit fontScale="92500"/>
          </a:bodyPr>
          <a:lstStyle/>
          <a:p>
            <a:pPr marL="0" indent="0" algn="l">
              <a:lnSpc>
                <a:spcPct val="100000"/>
              </a:lnSpc>
              <a:buNone/>
            </a:pPr>
            <a:r>
              <a:rPr lang="en-US" sz="1600" dirty="0">
                <a:solidFill>
                  <a:srgbClr val="DAD8E9"/>
                </a:solidFill>
                <a:latin typeface="Sitka Subheading" pitchFamily="2" charset="0"/>
                <a:ea typeface="Mukta Light" pitchFamily="34" charset="-122"/>
                <a:cs typeface="Mukta Light" pitchFamily="34" charset="-120"/>
              </a:rPr>
              <a:t>Every stage feeds the next — raw satellite imagery is transformed through AI processing, terrain analysis, and hazard detection into a ranked landing recommendation with a quantified safety score and an optimal rover path, all visualized on an interactive mission dashboard.</a:t>
            </a:r>
            <a:endParaRPr lang="en-US" sz="1600" dirty="0">
              <a:latin typeface="Sitka Subheading" pitchFamily="2" charset="0"/>
            </a:endParaRPr>
          </a:p>
        </p:txBody>
      </p:sp>
      <p:sp>
        <p:nvSpPr>
          <p:cNvPr id="8" name="Rectangle 7">
            <a:extLst>
              <a:ext uri="{FF2B5EF4-FFF2-40B4-BE49-F238E27FC236}">
                <a16:creationId xmlns:a16="http://schemas.microsoft.com/office/drawing/2014/main" id="{B085338B-0493-3BCB-0345-4B433B364BE3}"/>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20F9A8E3-56EC-3CF0-D4BB-2310E218FE23}"/>
              </a:ext>
            </a:extLst>
          </p:cNvPr>
          <p:cNvPicPr>
            <a:picLocks noChangeAspect="1"/>
          </p:cNvPicPr>
          <p:nvPr/>
        </p:nvPicPr>
        <p:blipFill>
          <a:blip r:embed="rId4"/>
          <a:stretch>
            <a:fillRect/>
          </a:stretch>
        </p:blipFill>
        <p:spPr>
          <a:xfrm>
            <a:off x="75789" y="4632828"/>
            <a:ext cx="441052" cy="441052"/>
          </a:xfrm>
          <a:prstGeom prst="rect">
            <a:avLst/>
          </a:prstGeom>
        </p:spPr>
      </p:pic>
      <p:sp>
        <p:nvSpPr>
          <p:cNvPr id="2" name="Action Button: Go Forward or Next 1">
            <a:hlinkClick r:id="" action="ppaction://hlinkshowjump?jump=nextslide" highlightClick="1"/>
            <a:extLst>
              <a:ext uri="{FF2B5EF4-FFF2-40B4-BE49-F238E27FC236}">
                <a16:creationId xmlns:a16="http://schemas.microsoft.com/office/drawing/2014/main" id="{FB5C675A-4A36-8FBD-6ED3-47F5790E8F40}"/>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Action Button: Go Back or Previous 2">
            <a:hlinkClick r:id="" action="ppaction://hlinkshowjump?jump=previousslide" highlightClick="1"/>
            <a:extLst>
              <a:ext uri="{FF2B5EF4-FFF2-40B4-BE49-F238E27FC236}">
                <a16:creationId xmlns:a16="http://schemas.microsoft.com/office/drawing/2014/main" id="{5CB13B4E-69F0-5F73-12BE-C89679187968}"/>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Text 2"/>
          <p:cNvSpPr/>
          <p:nvPr/>
        </p:nvSpPr>
        <p:spPr>
          <a:xfrm>
            <a:off x="405676" y="135880"/>
            <a:ext cx="8063954" cy="361652"/>
          </a:xfrm>
          <a:prstGeom prst="rect">
            <a:avLst/>
          </a:prstGeom>
          <a:noFill/>
          <a:ln/>
        </p:spPr>
        <p:txBody>
          <a:bodyPr wrap="none" lIns="0" tIns="0" rIns="0" bIns="0" rtlCol="0" anchor="t"/>
          <a:lstStyle/>
          <a:p>
            <a:pPr marL="0" indent="0" algn="l">
              <a:lnSpc>
                <a:spcPct val="104000"/>
              </a:lnSpc>
              <a:buNone/>
            </a:pPr>
            <a:r>
              <a:rPr lang="en-US" sz="2400" dirty="0">
                <a:solidFill>
                  <a:srgbClr val="00FFCC"/>
                </a:solidFill>
                <a:latin typeface="Broadway" panose="04040905080B02020502" pitchFamily="82" charset="0"/>
                <a:ea typeface="Prompt Medium" pitchFamily="34" charset="-122"/>
                <a:cs typeface="Prompt Medium" pitchFamily="34" charset="-120"/>
              </a:rPr>
              <a:t>Five Core Modules</a:t>
            </a:r>
            <a:endParaRPr lang="en-US" sz="2400" dirty="0">
              <a:solidFill>
                <a:srgbClr val="00FFCC"/>
              </a:solidFill>
              <a:latin typeface="Broadway" panose="04040905080B02020502" pitchFamily="82" charset="0"/>
            </a:endParaRPr>
          </a:p>
        </p:txBody>
      </p:sp>
      <p:pic>
        <p:nvPicPr>
          <p:cNvPr id="5" name="Image 0" descr="preencoded.png"/>
          <p:cNvPicPr>
            <a:picLocks noChangeAspect="1"/>
          </p:cNvPicPr>
          <p:nvPr/>
        </p:nvPicPr>
        <p:blipFill>
          <a:blip r:embed="rId3"/>
          <a:stretch>
            <a:fillRect/>
          </a:stretch>
        </p:blipFill>
        <p:spPr>
          <a:xfrm>
            <a:off x="425722" y="615953"/>
            <a:ext cx="1700258" cy="914255"/>
          </a:xfrm>
          <a:prstGeom prst="rect">
            <a:avLst/>
          </a:prstGeom>
        </p:spPr>
      </p:pic>
      <p:sp>
        <p:nvSpPr>
          <p:cNvPr id="6" name="Text 3"/>
          <p:cNvSpPr/>
          <p:nvPr/>
        </p:nvSpPr>
        <p:spPr>
          <a:xfrm>
            <a:off x="425723" y="1667501"/>
            <a:ext cx="1912962" cy="180826"/>
          </a:xfrm>
          <a:prstGeom prst="rect">
            <a:avLst/>
          </a:prstGeom>
          <a:noFill/>
          <a:ln/>
        </p:spPr>
        <p:txBody>
          <a:bodyPr wrap="none" lIns="0" tIns="0" rIns="0" bIns="0" rtlCol="0" anchor="t"/>
          <a:lstStyle/>
          <a:p>
            <a:pPr marL="0" indent="0">
              <a:lnSpc>
                <a:spcPct val="104000"/>
              </a:lnSpc>
              <a:buNone/>
            </a:pPr>
            <a:r>
              <a:rPr lang="en-US" dirty="0">
                <a:solidFill>
                  <a:srgbClr val="DAD8E9"/>
                </a:solidFill>
                <a:latin typeface="Eras Bold ITC" panose="020B0907030504020204" pitchFamily="34" charset="0"/>
                <a:ea typeface="Prompt Medium" pitchFamily="34" charset="-122"/>
                <a:cs typeface="Prompt Medium" pitchFamily="34" charset="-120"/>
              </a:rPr>
              <a:t>Terrain </a:t>
            </a:r>
            <a:r>
              <a:rPr lang="en-US" sz="1600" dirty="0">
                <a:solidFill>
                  <a:srgbClr val="DAD8E9"/>
                </a:solidFill>
                <a:latin typeface="Eras Bold ITC" panose="020B0907030504020204" pitchFamily="34" charset="0"/>
                <a:ea typeface="Prompt Medium" pitchFamily="34" charset="-122"/>
                <a:cs typeface="Prompt Medium" pitchFamily="34" charset="-120"/>
              </a:rPr>
              <a:t>Analysis</a:t>
            </a:r>
            <a:endParaRPr lang="en-US" dirty="0">
              <a:latin typeface="Eras Bold ITC" panose="020B0907030504020204" pitchFamily="34" charset="0"/>
            </a:endParaRPr>
          </a:p>
        </p:txBody>
      </p:sp>
      <p:sp>
        <p:nvSpPr>
          <p:cNvPr id="7" name="Text 4"/>
          <p:cNvSpPr/>
          <p:nvPr/>
        </p:nvSpPr>
        <p:spPr>
          <a:xfrm>
            <a:off x="425722" y="1914183"/>
            <a:ext cx="2599417" cy="825475"/>
          </a:xfrm>
          <a:prstGeom prst="rect">
            <a:avLst/>
          </a:prstGeom>
          <a:noFill/>
          <a:ln/>
        </p:spPr>
        <p:txBody>
          <a:bodyPr wrap="square" lIns="0" tIns="0" rIns="0" bIns="0" rtlCol="0" anchor="t">
            <a:noAutofit/>
          </a:bodyPr>
          <a:lstStyle/>
          <a:p>
            <a:pPr marL="0" indent="0">
              <a:lnSpc>
                <a:spcPct val="123000"/>
              </a:lnSpc>
              <a:buNone/>
            </a:pPr>
            <a:r>
              <a:rPr lang="en-US" sz="1400" dirty="0">
                <a:solidFill>
                  <a:srgbClr val="DAD8E9"/>
                </a:solidFill>
                <a:latin typeface="Mukta Light" pitchFamily="34" charset="0"/>
                <a:ea typeface="Mukta Light" pitchFamily="34" charset="-122"/>
                <a:cs typeface="Mukta Light" pitchFamily="34" charset="-120"/>
              </a:rPr>
              <a:t>Classifies surface types — flat, sloped, rough — using elevation and texture data</a:t>
            </a:r>
            <a:endParaRPr lang="en-US" sz="1400" dirty="0"/>
          </a:p>
        </p:txBody>
      </p:sp>
      <p:pic>
        <p:nvPicPr>
          <p:cNvPr id="8" name="Image 1" descr="preencoded.png"/>
          <p:cNvPicPr>
            <a:picLocks noChangeAspect="1"/>
          </p:cNvPicPr>
          <p:nvPr/>
        </p:nvPicPr>
        <p:blipFill>
          <a:blip r:embed="rId4"/>
          <a:stretch>
            <a:fillRect/>
          </a:stretch>
        </p:blipFill>
        <p:spPr>
          <a:xfrm>
            <a:off x="3481818" y="615953"/>
            <a:ext cx="1700258" cy="914255"/>
          </a:xfrm>
          <a:prstGeom prst="rect">
            <a:avLst/>
          </a:prstGeom>
        </p:spPr>
      </p:pic>
      <p:sp>
        <p:nvSpPr>
          <p:cNvPr id="9" name="Text 5"/>
          <p:cNvSpPr/>
          <p:nvPr/>
        </p:nvSpPr>
        <p:spPr>
          <a:xfrm>
            <a:off x="3481819" y="1667501"/>
            <a:ext cx="1913037" cy="180826"/>
          </a:xfrm>
          <a:prstGeom prst="rect">
            <a:avLst/>
          </a:prstGeom>
          <a:noFill/>
          <a:ln/>
        </p:spPr>
        <p:txBody>
          <a:bodyPr wrap="none" lIns="0" tIns="0" rIns="0" bIns="0" rtlCol="0" anchor="t"/>
          <a:lstStyle/>
          <a:p>
            <a:pPr marL="0" indent="0">
              <a:lnSpc>
                <a:spcPct val="104000"/>
              </a:lnSpc>
              <a:buNone/>
            </a:pPr>
            <a:r>
              <a:rPr lang="en-US" sz="1600" dirty="0">
                <a:solidFill>
                  <a:srgbClr val="DAD8E9"/>
                </a:solidFill>
                <a:latin typeface="Eras Bold ITC" panose="020B0907030504020204" pitchFamily="34" charset="0"/>
                <a:ea typeface="Prompt Medium" pitchFamily="34" charset="-122"/>
                <a:cs typeface="Prompt Medium" pitchFamily="34" charset="-120"/>
              </a:rPr>
              <a:t>Hazard Detection</a:t>
            </a:r>
            <a:endParaRPr lang="en-US" sz="1600" dirty="0">
              <a:latin typeface="Eras Bold ITC" panose="020B0907030504020204" pitchFamily="34" charset="0"/>
            </a:endParaRPr>
          </a:p>
        </p:txBody>
      </p:sp>
      <p:sp>
        <p:nvSpPr>
          <p:cNvPr id="10" name="Text 6"/>
          <p:cNvSpPr/>
          <p:nvPr/>
        </p:nvSpPr>
        <p:spPr>
          <a:xfrm>
            <a:off x="3481819" y="1914183"/>
            <a:ext cx="2423681" cy="962769"/>
          </a:xfrm>
          <a:prstGeom prst="rect">
            <a:avLst/>
          </a:prstGeom>
          <a:noFill/>
          <a:ln/>
        </p:spPr>
        <p:txBody>
          <a:bodyPr wrap="square" lIns="0" tIns="0" rIns="0" bIns="0" rtlCol="0" anchor="t">
            <a:noAutofit/>
          </a:bodyPr>
          <a:lstStyle/>
          <a:p>
            <a:pPr marL="0" indent="0">
              <a:lnSpc>
                <a:spcPct val="123000"/>
              </a:lnSpc>
              <a:buNone/>
            </a:pPr>
            <a:r>
              <a:rPr lang="en-US" sz="1400" dirty="0">
                <a:solidFill>
                  <a:srgbClr val="DAD8E9"/>
                </a:solidFill>
                <a:latin typeface="Mukta Light" pitchFamily="34" charset="0"/>
                <a:ea typeface="Mukta Light" pitchFamily="34" charset="-122"/>
                <a:cs typeface="Mukta Light" pitchFamily="34" charset="-120"/>
              </a:rPr>
              <a:t>YOLO-based detection of craters, boulders, and dangerous terrain features</a:t>
            </a:r>
            <a:endParaRPr lang="en-US" sz="1400" dirty="0"/>
          </a:p>
        </p:txBody>
      </p:sp>
      <p:pic>
        <p:nvPicPr>
          <p:cNvPr id="11" name="Image 2" descr="preencoded.png"/>
          <p:cNvPicPr>
            <a:picLocks noChangeAspect="1"/>
          </p:cNvPicPr>
          <p:nvPr/>
        </p:nvPicPr>
        <p:blipFill>
          <a:blip r:embed="rId5"/>
          <a:stretch>
            <a:fillRect/>
          </a:stretch>
        </p:blipFill>
        <p:spPr>
          <a:xfrm>
            <a:off x="6141750" y="615954"/>
            <a:ext cx="1700258" cy="914254"/>
          </a:xfrm>
          <a:prstGeom prst="rect">
            <a:avLst/>
          </a:prstGeom>
        </p:spPr>
      </p:pic>
      <p:sp>
        <p:nvSpPr>
          <p:cNvPr id="12" name="Text 7"/>
          <p:cNvSpPr/>
          <p:nvPr/>
        </p:nvSpPr>
        <p:spPr>
          <a:xfrm>
            <a:off x="6141750" y="1667501"/>
            <a:ext cx="1913037" cy="180826"/>
          </a:xfrm>
          <a:prstGeom prst="rect">
            <a:avLst/>
          </a:prstGeom>
          <a:noFill/>
          <a:ln/>
        </p:spPr>
        <p:txBody>
          <a:bodyPr wrap="none" lIns="0" tIns="0" rIns="0" bIns="0" rtlCol="0" anchor="t"/>
          <a:lstStyle/>
          <a:p>
            <a:pPr marL="0" indent="0">
              <a:lnSpc>
                <a:spcPct val="104000"/>
              </a:lnSpc>
              <a:buNone/>
            </a:pPr>
            <a:r>
              <a:rPr lang="en-US" sz="1600" dirty="0">
                <a:solidFill>
                  <a:srgbClr val="DAD8E9"/>
                </a:solidFill>
                <a:latin typeface="Eras Bold ITC" panose="020B0907030504020204" pitchFamily="34" charset="0"/>
                <a:ea typeface="Prompt Medium" pitchFamily="34" charset="-122"/>
                <a:cs typeface="Prompt Medium" pitchFamily="34" charset="-120"/>
              </a:rPr>
              <a:t>Landing Recommendation</a:t>
            </a:r>
            <a:endParaRPr lang="en-US" sz="1600" dirty="0">
              <a:latin typeface="Eras Bold ITC" panose="020B0907030504020204" pitchFamily="34" charset="0"/>
            </a:endParaRPr>
          </a:p>
        </p:txBody>
      </p:sp>
      <p:sp>
        <p:nvSpPr>
          <p:cNvPr id="13" name="Text 8"/>
          <p:cNvSpPr/>
          <p:nvPr/>
        </p:nvSpPr>
        <p:spPr>
          <a:xfrm>
            <a:off x="6141749" y="1914184"/>
            <a:ext cx="2926461" cy="879816"/>
          </a:xfrm>
          <a:prstGeom prst="rect">
            <a:avLst/>
          </a:prstGeom>
          <a:noFill/>
          <a:ln/>
        </p:spPr>
        <p:txBody>
          <a:bodyPr wrap="square" lIns="0" tIns="0" rIns="0" bIns="0" rtlCol="0" anchor="t">
            <a:normAutofit/>
          </a:bodyPr>
          <a:lstStyle/>
          <a:p>
            <a:pPr marL="0" indent="0">
              <a:lnSpc>
                <a:spcPct val="123000"/>
              </a:lnSpc>
              <a:buNone/>
            </a:pPr>
            <a:r>
              <a:rPr lang="en-US" sz="1400" dirty="0">
                <a:solidFill>
                  <a:srgbClr val="DAD8E9"/>
                </a:solidFill>
                <a:latin typeface="Mukta Light" pitchFamily="34" charset="0"/>
                <a:ea typeface="Mukta Light" pitchFamily="34" charset="-122"/>
                <a:cs typeface="Mukta Light" pitchFamily="34" charset="-120"/>
              </a:rPr>
              <a:t>Scores and ranks candidate zones, recommending the safest with explainability</a:t>
            </a:r>
            <a:endParaRPr lang="en-US" sz="1400" dirty="0"/>
          </a:p>
        </p:txBody>
      </p:sp>
      <p:pic>
        <p:nvPicPr>
          <p:cNvPr id="14" name="Image 3" descr="preencoded.png"/>
          <p:cNvPicPr>
            <a:picLocks noChangeAspect="1"/>
          </p:cNvPicPr>
          <p:nvPr/>
        </p:nvPicPr>
        <p:blipFill>
          <a:blip r:embed="rId6"/>
          <a:stretch>
            <a:fillRect/>
          </a:stretch>
        </p:blipFill>
        <p:spPr>
          <a:xfrm>
            <a:off x="5309858" y="2734552"/>
            <a:ext cx="1788410" cy="1105312"/>
          </a:xfrm>
          <a:prstGeom prst="rect">
            <a:avLst/>
          </a:prstGeom>
        </p:spPr>
      </p:pic>
      <p:sp>
        <p:nvSpPr>
          <p:cNvPr id="15" name="Text 9"/>
          <p:cNvSpPr/>
          <p:nvPr/>
        </p:nvSpPr>
        <p:spPr>
          <a:xfrm>
            <a:off x="5332481" y="3993907"/>
            <a:ext cx="3083598" cy="74740"/>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Eras Bold ITC" panose="020B0907030504020204" pitchFamily="34" charset="0"/>
                <a:ea typeface="Prompt Medium" pitchFamily="34" charset="-122"/>
                <a:cs typeface="Prompt Medium" pitchFamily="34" charset="-120"/>
              </a:rPr>
              <a:t>Rover Navigation</a:t>
            </a:r>
            <a:endParaRPr lang="en-US" sz="1600" dirty="0">
              <a:latin typeface="Eras Bold ITC" panose="020B0907030504020204" pitchFamily="34" charset="0"/>
            </a:endParaRPr>
          </a:p>
        </p:txBody>
      </p:sp>
      <p:sp>
        <p:nvSpPr>
          <p:cNvPr id="16" name="Text 10"/>
          <p:cNvSpPr/>
          <p:nvPr/>
        </p:nvSpPr>
        <p:spPr>
          <a:xfrm>
            <a:off x="5332480" y="4279765"/>
            <a:ext cx="3400040" cy="569910"/>
          </a:xfrm>
          <a:prstGeom prst="rect">
            <a:avLst/>
          </a:prstGeom>
          <a:noFill/>
          <a:ln/>
        </p:spPr>
        <p:txBody>
          <a:bodyPr wrap="square" lIns="0" tIns="0" rIns="0" bIns="0" rtlCol="0" anchor="t">
            <a:noAutofit/>
          </a:bodyPr>
          <a:lstStyle/>
          <a:p>
            <a:pPr marL="0" indent="0" algn="l">
              <a:lnSpc>
                <a:spcPct val="123000"/>
              </a:lnSpc>
              <a:buNone/>
            </a:pPr>
            <a:r>
              <a:rPr lang="en-US" sz="1400" dirty="0">
                <a:solidFill>
                  <a:srgbClr val="DAD8E9"/>
                </a:solidFill>
                <a:latin typeface="Mukta Light" pitchFamily="34" charset="0"/>
                <a:ea typeface="Mukta Light" pitchFamily="34" charset="-122"/>
                <a:cs typeface="Mukta Light" pitchFamily="34" charset="-120"/>
              </a:rPr>
              <a:t>A* algorithm computes obstacle-free, energy-efficient traversal paths</a:t>
            </a:r>
            <a:endParaRPr lang="en-US" sz="1400" dirty="0"/>
          </a:p>
        </p:txBody>
      </p:sp>
      <p:pic>
        <p:nvPicPr>
          <p:cNvPr id="17" name="Image 4" descr="preencoded.png"/>
          <p:cNvPicPr>
            <a:picLocks noChangeAspect="1"/>
          </p:cNvPicPr>
          <p:nvPr/>
        </p:nvPicPr>
        <p:blipFill>
          <a:blip r:embed="rId7"/>
          <a:stretch>
            <a:fillRect/>
          </a:stretch>
        </p:blipFill>
        <p:spPr>
          <a:xfrm>
            <a:off x="1509205" y="2712322"/>
            <a:ext cx="1788411" cy="1105312"/>
          </a:xfrm>
          <a:prstGeom prst="rect">
            <a:avLst/>
          </a:prstGeom>
        </p:spPr>
      </p:pic>
      <p:sp>
        <p:nvSpPr>
          <p:cNvPr id="18" name="Text 11"/>
          <p:cNvSpPr/>
          <p:nvPr/>
        </p:nvSpPr>
        <p:spPr>
          <a:xfrm>
            <a:off x="1509206" y="3966673"/>
            <a:ext cx="2133776" cy="89164"/>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Eras Bold ITC" panose="020B0907030504020204" pitchFamily="34" charset="0"/>
                <a:ea typeface="Prompt Medium" pitchFamily="34" charset="-122"/>
                <a:cs typeface="Prompt Medium" pitchFamily="34" charset="-120"/>
              </a:rPr>
              <a:t>Dashboard Visualization</a:t>
            </a:r>
            <a:endParaRPr lang="en-US" sz="1600" dirty="0">
              <a:latin typeface="Eras Bold ITC" panose="020B0907030504020204" pitchFamily="34" charset="0"/>
            </a:endParaRPr>
          </a:p>
        </p:txBody>
      </p:sp>
      <p:sp>
        <p:nvSpPr>
          <p:cNvPr id="19" name="Text 12"/>
          <p:cNvSpPr/>
          <p:nvPr/>
        </p:nvSpPr>
        <p:spPr>
          <a:xfrm>
            <a:off x="1509205" y="4265445"/>
            <a:ext cx="3009455" cy="668759"/>
          </a:xfrm>
          <a:prstGeom prst="rect">
            <a:avLst/>
          </a:prstGeom>
          <a:noFill/>
          <a:ln/>
        </p:spPr>
        <p:txBody>
          <a:bodyPr wrap="square" lIns="0" tIns="0" rIns="0" bIns="0" rtlCol="0" anchor="t">
            <a:normAutofit/>
          </a:bodyPr>
          <a:lstStyle/>
          <a:p>
            <a:pPr marL="0" indent="0" algn="l">
              <a:lnSpc>
                <a:spcPct val="123000"/>
              </a:lnSpc>
              <a:buNone/>
            </a:pPr>
            <a:r>
              <a:rPr lang="en-US" sz="1400" dirty="0">
                <a:solidFill>
                  <a:srgbClr val="DAD8E9"/>
                </a:solidFill>
                <a:latin typeface="Mukta Light" pitchFamily="34" charset="0"/>
                <a:ea typeface="Mukta Light" pitchFamily="34" charset="-122"/>
                <a:cs typeface="Mukta Light" pitchFamily="34" charset="-120"/>
              </a:rPr>
              <a:t>Real-time interactive mission dashboard with hazard maps, scores, and reports</a:t>
            </a:r>
            <a:endParaRPr lang="en-US" sz="1400" dirty="0"/>
          </a:p>
        </p:txBody>
      </p:sp>
      <p:sp>
        <p:nvSpPr>
          <p:cNvPr id="21" name="Rectangle 20">
            <a:extLst>
              <a:ext uri="{FF2B5EF4-FFF2-40B4-BE49-F238E27FC236}">
                <a16:creationId xmlns:a16="http://schemas.microsoft.com/office/drawing/2014/main" id="{5696A810-5FFD-D3CF-A967-FD8E781490AE}"/>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7" name="Picture 26">
            <a:extLst>
              <a:ext uri="{FF2B5EF4-FFF2-40B4-BE49-F238E27FC236}">
                <a16:creationId xmlns:a16="http://schemas.microsoft.com/office/drawing/2014/main" id="{3E1719D0-869C-2D9D-75C9-8747880EFDEA}"/>
              </a:ext>
            </a:extLst>
          </p:cNvPr>
          <p:cNvPicPr>
            <a:picLocks noChangeAspect="1"/>
          </p:cNvPicPr>
          <p:nvPr/>
        </p:nvPicPr>
        <p:blipFill>
          <a:blip r:embed="rId8"/>
          <a:stretch>
            <a:fillRect/>
          </a:stretch>
        </p:blipFill>
        <p:spPr>
          <a:xfrm>
            <a:off x="75789" y="4632828"/>
            <a:ext cx="441052" cy="441052"/>
          </a:xfrm>
          <a:prstGeom prst="rect">
            <a:avLst/>
          </a:prstGeom>
        </p:spPr>
      </p:pic>
      <p:sp>
        <p:nvSpPr>
          <p:cNvPr id="3" name="Action Button: Go Forward or Next 2">
            <a:hlinkClick r:id="" action="ppaction://hlinkshowjump?jump=nextslide" highlightClick="1"/>
            <a:extLst>
              <a:ext uri="{FF2B5EF4-FFF2-40B4-BE49-F238E27FC236}">
                <a16:creationId xmlns:a16="http://schemas.microsoft.com/office/drawing/2014/main" id="{22EA1C9B-39B4-7EDE-9486-85CCC9374981}"/>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ction Button: Go Back or Previous 21">
            <a:hlinkClick r:id="" action="ppaction://hlinkshowjump?jump=previousslide" highlightClick="1"/>
            <a:extLst>
              <a:ext uri="{FF2B5EF4-FFF2-40B4-BE49-F238E27FC236}">
                <a16:creationId xmlns:a16="http://schemas.microsoft.com/office/drawing/2014/main" id="{05FA7E79-3758-CE37-98B7-3E2A2D6992A2}"/>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 name="Text 2"/>
          <p:cNvSpPr/>
          <p:nvPr/>
        </p:nvSpPr>
        <p:spPr>
          <a:xfrm>
            <a:off x="540023" y="283025"/>
            <a:ext cx="3103063" cy="370118"/>
          </a:xfrm>
          <a:prstGeom prst="rect">
            <a:avLst/>
          </a:prstGeom>
          <a:noFill/>
          <a:ln/>
        </p:spPr>
        <p:txBody>
          <a:bodyPr wrap="none" lIns="0" tIns="0" rIns="0" bIns="0" rtlCol="0" anchor="t"/>
          <a:lstStyle/>
          <a:p>
            <a:pPr marL="0" indent="0" algn="l">
              <a:lnSpc>
                <a:spcPct val="104000"/>
              </a:lnSpc>
              <a:buNone/>
            </a:pPr>
            <a:r>
              <a:rPr lang="en-US" sz="2400" dirty="0">
                <a:solidFill>
                  <a:srgbClr val="00FFCC"/>
                </a:solidFill>
                <a:latin typeface="Broadway" panose="04040905080B02020502" pitchFamily="82" charset="0"/>
                <a:ea typeface="Prompt Medium" pitchFamily="34" charset="-122"/>
                <a:cs typeface="Prompt Medium" pitchFamily="34" charset="-120"/>
              </a:rPr>
              <a:t>System Architecture</a:t>
            </a:r>
            <a:endParaRPr lang="en-US" sz="2400" dirty="0">
              <a:solidFill>
                <a:srgbClr val="00FFCC"/>
              </a:solidFill>
              <a:latin typeface="Broadway" panose="04040905080B02020502" pitchFamily="82" charset="0"/>
            </a:endParaRPr>
          </a:p>
        </p:txBody>
      </p:sp>
      <p:pic>
        <p:nvPicPr>
          <p:cNvPr id="5" name="Image 0" descr="preencoded.png"/>
          <p:cNvPicPr>
            <a:picLocks noChangeAspect="1"/>
          </p:cNvPicPr>
          <p:nvPr/>
        </p:nvPicPr>
        <p:blipFill>
          <a:blip r:embed="rId3"/>
          <a:stretch>
            <a:fillRect/>
          </a:stretch>
        </p:blipFill>
        <p:spPr>
          <a:xfrm>
            <a:off x="535262" y="872430"/>
            <a:ext cx="3937918" cy="3937918"/>
          </a:xfrm>
          <a:prstGeom prst="rect">
            <a:avLst/>
          </a:prstGeom>
        </p:spPr>
      </p:pic>
      <p:sp>
        <p:nvSpPr>
          <p:cNvPr id="6" name="Text 3"/>
          <p:cNvSpPr/>
          <p:nvPr/>
        </p:nvSpPr>
        <p:spPr>
          <a:xfrm>
            <a:off x="4755915" y="798583"/>
            <a:ext cx="3937918" cy="282601"/>
          </a:xfrm>
          <a:prstGeom prst="rect">
            <a:avLst/>
          </a:prstGeom>
          <a:noFill/>
          <a:ln/>
        </p:spPr>
        <p:txBody>
          <a:bodyPr wrap="none" lIns="0" tIns="0" rIns="0" bIns="0" rtlCol="0" anchor="t"/>
          <a:lstStyle/>
          <a:p>
            <a:pPr marL="0" indent="0" algn="l">
              <a:lnSpc>
                <a:spcPct val="104000"/>
              </a:lnSpc>
              <a:buNone/>
            </a:pPr>
            <a:r>
              <a:rPr lang="en-US" sz="1600" dirty="0">
                <a:solidFill>
                  <a:srgbClr val="C6BFEE"/>
                </a:solidFill>
                <a:latin typeface="Rockwell Extra Bold" panose="02060903040505020403" pitchFamily="18" charset="0"/>
                <a:ea typeface="Prompt Medium" pitchFamily="34" charset="-122"/>
                <a:cs typeface="Prompt Medium" pitchFamily="34" charset="-120"/>
              </a:rPr>
              <a:t>Architecture Overview</a:t>
            </a:r>
            <a:endParaRPr lang="en-US" sz="1600" dirty="0">
              <a:latin typeface="Rockwell Extra Bold" panose="02060903040505020403" pitchFamily="18" charset="0"/>
            </a:endParaRPr>
          </a:p>
        </p:txBody>
      </p:sp>
      <p:sp>
        <p:nvSpPr>
          <p:cNvPr id="7" name="Text 4"/>
          <p:cNvSpPr/>
          <p:nvPr/>
        </p:nvSpPr>
        <p:spPr>
          <a:xfrm>
            <a:off x="4670821" y="1301032"/>
            <a:ext cx="4312776" cy="1487268"/>
          </a:xfrm>
          <a:prstGeom prst="rect">
            <a:avLst/>
          </a:prstGeom>
          <a:noFill/>
          <a:ln/>
        </p:spPr>
        <p:txBody>
          <a:bodyPr wrap="square" lIns="0" tIns="0" rIns="0" bIns="0" rtlCol="0" anchor="t">
            <a:normAutofit/>
          </a:bodyPr>
          <a:lstStyle/>
          <a:p>
            <a:pPr marL="0" indent="0" algn="l">
              <a:lnSpc>
                <a:spcPct val="160000"/>
              </a:lnSpc>
              <a:buNone/>
            </a:pPr>
            <a:r>
              <a:rPr lang="en-US" sz="1400" dirty="0">
                <a:solidFill>
                  <a:srgbClr val="DAD8E9"/>
                </a:solidFill>
                <a:latin typeface="Mukta Light" pitchFamily="34" charset="0"/>
                <a:ea typeface="Mukta Light" pitchFamily="34" charset="-122"/>
                <a:cs typeface="Mukta Light" pitchFamily="34" charset="-120"/>
              </a:rPr>
              <a:t>The system follows a clean four-layer architecture — from raw data ingestion through AI processing and decision-making to an interactive output layer — ensuring modularity, scalability, and real-time performance.</a:t>
            </a:r>
            <a:endParaRPr lang="en-US" sz="1400" dirty="0"/>
          </a:p>
        </p:txBody>
      </p:sp>
      <p:sp>
        <p:nvSpPr>
          <p:cNvPr id="8" name="Text 5"/>
          <p:cNvSpPr/>
          <p:nvPr/>
        </p:nvSpPr>
        <p:spPr>
          <a:xfrm>
            <a:off x="4670821" y="2831306"/>
            <a:ext cx="4397390" cy="1979042"/>
          </a:xfrm>
          <a:prstGeom prst="rect">
            <a:avLst/>
          </a:prstGeom>
          <a:noFill/>
          <a:ln/>
        </p:spPr>
        <p:txBody>
          <a:bodyPr wrap="square" lIns="0" tIns="0" rIns="0" bIns="0" rtlCol="0" anchor="t">
            <a:normAutofit/>
          </a:bodyPr>
          <a:lstStyle/>
          <a:p>
            <a:pPr marL="121920" indent="-121920" algn="l">
              <a:lnSpc>
                <a:spcPct val="100000"/>
              </a:lnSpc>
              <a:buSzPct val="100000"/>
              <a:buChar char="•"/>
            </a:pPr>
            <a:r>
              <a:rPr lang="en-US" sz="1600" b="1" dirty="0">
                <a:solidFill>
                  <a:srgbClr val="DAD8E9"/>
                </a:solidFill>
                <a:latin typeface="Mukta Bold" pitchFamily="34" charset="0"/>
                <a:ea typeface="Mukta Bold" pitchFamily="34" charset="-122"/>
                <a:cs typeface="Mukta Bold" pitchFamily="34" charset="-120"/>
              </a:rPr>
              <a:t>Input Layer:</a:t>
            </a:r>
            <a:r>
              <a:rPr lang="en-US" sz="1600" dirty="0">
                <a:solidFill>
                  <a:srgbClr val="DAD8E9"/>
                </a:solidFill>
                <a:latin typeface="Mukta Light" pitchFamily="34" charset="0"/>
                <a:ea typeface="Mukta Light" pitchFamily="34" charset="-122"/>
                <a:cs typeface="Mukta Light" pitchFamily="34" charset="-120"/>
              </a:rPr>
              <a:t> NASA lunar datasets + user-uploaded imagery</a:t>
            </a:r>
            <a:endParaRPr lang="en-US" sz="1600" dirty="0"/>
          </a:p>
          <a:p>
            <a:pPr marL="121920" indent="-121920" algn="l">
              <a:lnSpc>
                <a:spcPct val="100000"/>
              </a:lnSpc>
              <a:buSzPct val="100000"/>
              <a:buChar char="•"/>
            </a:pPr>
            <a:r>
              <a:rPr lang="en-US" sz="1600" b="1" dirty="0">
                <a:solidFill>
                  <a:srgbClr val="DAD8E9"/>
                </a:solidFill>
                <a:latin typeface="Mukta Bold" pitchFamily="34" charset="0"/>
                <a:ea typeface="Mukta Bold" pitchFamily="34" charset="-122"/>
                <a:cs typeface="Mukta Bold" pitchFamily="34" charset="-120"/>
              </a:rPr>
              <a:t>Processing Layer:</a:t>
            </a:r>
            <a:r>
              <a:rPr lang="en-US" sz="1600" dirty="0">
                <a:solidFill>
                  <a:srgbClr val="DAD8E9"/>
                </a:solidFill>
                <a:latin typeface="Mukta Light" pitchFamily="34" charset="0"/>
                <a:ea typeface="Mukta Light" pitchFamily="34" charset="-122"/>
                <a:cs typeface="Mukta Light" pitchFamily="34" charset="-120"/>
              </a:rPr>
              <a:t> OpenCV preprocessing, YOLO detection, TensorFlow classification</a:t>
            </a:r>
            <a:endParaRPr lang="en-US" sz="1600" dirty="0"/>
          </a:p>
          <a:p>
            <a:pPr marL="121920" indent="-121920" algn="l">
              <a:lnSpc>
                <a:spcPct val="100000"/>
              </a:lnSpc>
              <a:buSzPct val="100000"/>
              <a:buChar char="•"/>
            </a:pPr>
            <a:r>
              <a:rPr lang="en-US" sz="1600" b="1" dirty="0">
                <a:solidFill>
                  <a:srgbClr val="DAD8E9"/>
                </a:solidFill>
                <a:latin typeface="Mukta Bold" pitchFamily="34" charset="0"/>
                <a:ea typeface="Mukta Bold" pitchFamily="34" charset="-122"/>
                <a:cs typeface="Mukta Bold" pitchFamily="34" charset="-120"/>
              </a:rPr>
              <a:t>Decision Layer:</a:t>
            </a:r>
            <a:r>
              <a:rPr lang="en-US" sz="1600" dirty="0">
                <a:solidFill>
                  <a:srgbClr val="DAD8E9"/>
                </a:solidFill>
                <a:latin typeface="Mukta Light" pitchFamily="34" charset="0"/>
                <a:ea typeface="Mukta Light" pitchFamily="34" charset="-122"/>
                <a:cs typeface="Mukta Light" pitchFamily="34" charset="-120"/>
              </a:rPr>
              <a:t> Terrain scoring, hazard mapping, A* path planning</a:t>
            </a:r>
            <a:endParaRPr lang="en-US" sz="1600" dirty="0"/>
          </a:p>
          <a:p>
            <a:pPr marL="121920" indent="-121920" algn="l">
              <a:lnSpc>
                <a:spcPct val="100000"/>
              </a:lnSpc>
              <a:buSzPct val="100000"/>
              <a:buChar char="•"/>
            </a:pPr>
            <a:r>
              <a:rPr lang="en-US" sz="1600" b="1" dirty="0">
                <a:solidFill>
                  <a:srgbClr val="DAD8E9"/>
                </a:solidFill>
                <a:latin typeface="Mukta Bold" pitchFamily="34" charset="0"/>
                <a:ea typeface="Mukta Bold" pitchFamily="34" charset="-122"/>
                <a:cs typeface="Mukta Bold" pitchFamily="34" charset="-120"/>
              </a:rPr>
              <a:t>Output Layer:</a:t>
            </a:r>
            <a:r>
              <a:rPr lang="en-US" sz="1600" dirty="0">
                <a:solidFill>
                  <a:srgbClr val="DAD8E9"/>
                </a:solidFill>
                <a:latin typeface="Mukta Light" pitchFamily="34" charset="0"/>
                <a:ea typeface="Mukta Light" pitchFamily="34" charset="-122"/>
                <a:cs typeface="Mukta Light" pitchFamily="34" charset="-120"/>
              </a:rPr>
              <a:t> Dashboard, safety reports, heat maps, mission summaries</a:t>
            </a:r>
            <a:endParaRPr lang="en-US" sz="1600" dirty="0"/>
          </a:p>
        </p:txBody>
      </p:sp>
      <p:sp>
        <p:nvSpPr>
          <p:cNvPr id="10" name="Rectangle 9">
            <a:extLst>
              <a:ext uri="{FF2B5EF4-FFF2-40B4-BE49-F238E27FC236}">
                <a16:creationId xmlns:a16="http://schemas.microsoft.com/office/drawing/2014/main" id="{C3150B5B-55A2-FD61-A723-BB2F2B31065F}"/>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Picture 15">
            <a:extLst>
              <a:ext uri="{FF2B5EF4-FFF2-40B4-BE49-F238E27FC236}">
                <a16:creationId xmlns:a16="http://schemas.microsoft.com/office/drawing/2014/main" id="{1D703B14-B09B-96A6-5065-F69BF66A93C6}"/>
              </a:ext>
            </a:extLst>
          </p:cNvPr>
          <p:cNvPicPr>
            <a:picLocks noChangeAspect="1"/>
          </p:cNvPicPr>
          <p:nvPr/>
        </p:nvPicPr>
        <p:blipFill>
          <a:blip r:embed="rId4"/>
          <a:stretch>
            <a:fillRect/>
          </a:stretch>
        </p:blipFill>
        <p:spPr>
          <a:xfrm>
            <a:off x="75789" y="4632828"/>
            <a:ext cx="441052" cy="441052"/>
          </a:xfrm>
          <a:prstGeom prst="rect">
            <a:avLst/>
          </a:prstGeom>
        </p:spPr>
      </p:pic>
      <p:sp>
        <p:nvSpPr>
          <p:cNvPr id="3" name="Action Button: Go Forward or Next 2">
            <a:hlinkClick r:id="" action="ppaction://hlinkshowjump?jump=nextslide" highlightClick="1"/>
            <a:extLst>
              <a:ext uri="{FF2B5EF4-FFF2-40B4-BE49-F238E27FC236}">
                <a16:creationId xmlns:a16="http://schemas.microsoft.com/office/drawing/2014/main" id="{8CB0B51C-855D-3339-9B74-680C4325AE1E}"/>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ction Button: Go Back or Previous 10">
            <a:hlinkClick r:id="" action="ppaction://hlinkshowjump?jump=previousslide" highlightClick="1"/>
            <a:extLst>
              <a:ext uri="{FF2B5EF4-FFF2-40B4-BE49-F238E27FC236}">
                <a16:creationId xmlns:a16="http://schemas.microsoft.com/office/drawing/2014/main" id="{D58D35EB-ED22-3BB5-EE44-187CFF7E7C0A}"/>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4" name="Text 2"/>
          <p:cNvSpPr/>
          <p:nvPr/>
        </p:nvSpPr>
        <p:spPr>
          <a:xfrm>
            <a:off x="465376" y="325996"/>
            <a:ext cx="8063954" cy="408533"/>
          </a:xfrm>
          <a:prstGeom prst="rect">
            <a:avLst/>
          </a:prstGeom>
          <a:noFill/>
          <a:ln/>
        </p:spPr>
        <p:txBody>
          <a:bodyPr wrap="none" lIns="0" tIns="0" rIns="0" bIns="0" rtlCol="0" anchor="t"/>
          <a:lstStyle/>
          <a:p>
            <a:pPr marL="0" indent="0" algn="l">
              <a:lnSpc>
                <a:spcPct val="104000"/>
              </a:lnSpc>
              <a:buNone/>
            </a:pPr>
            <a:r>
              <a:rPr lang="en-US" sz="2550" dirty="0">
                <a:solidFill>
                  <a:srgbClr val="00FFCC"/>
                </a:solidFill>
                <a:latin typeface="Broadway" panose="04040905080B02020502" pitchFamily="82" charset="0"/>
                <a:ea typeface="Prompt Medium" pitchFamily="34" charset="-122"/>
                <a:cs typeface="Prompt Medium" pitchFamily="34" charset="-120"/>
              </a:rPr>
              <a:t>Technologies Powering Lunar AI</a:t>
            </a:r>
            <a:endParaRPr lang="en-US" sz="2550" dirty="0">
              <a:solidFill>
                <a:srgbClr val="00FFCC"/>
              </a:solidFill>
              <a:latin typeface="Broadway" panose="04040905080B02020502" pitchFamily="82" charset="0"/>
            </a:endParaRPr>
          </a:p>
        </p:txBody>
      </p:sp>
      <p:sp>
        <p:nvSpPr>
          <p:cNvPr id="5" name="Shape 3"/>
          <p:cNvSpPr/>
          <p:nvPr/>
        </p:nvSpPr>
        <p:spPr>
          <a:xfrm>
            <a:off x="465377" y="1137489"/>
            <a:ext cx="2669168" cy="1632719"/>
          </a:xfrm>
          <a:prstGeom prst="roundRect">
            <a:avLst>
              <a:gd name="adj" fmla="val 3783"/>
            </a:avLst>
          </a:prstGeom>
          <a:solidFill>
            <a:srgbClr val="542C49"/>
          </a:solidFill>
          <a:ln w="4763">
            <a:solidFill>
              <a:srgbClr val="6D4562"/>
            </a:solidFill>
            <a:prstDash val="solid"/>
          </a:ln>
        </p:spPr>
      </p:sp>
      <p:sp>
        <p:nvSpPr>
          <p:cNvPr id="6" name="Shape 4"/>
          <p:cNvSpPr/>
          <p:nvPr/>
        </p:nvSpPr>
        <p:spPr>
          <a:xfrm>
            <a:off x="691828" y="1289294"/>
            <a:ext cx="441201" cy="441201"/>
          </a:xfrm>
          <a:prstGeom prst="ellipse">
            <a:avLst/>
          </a:prstGeom>
          <a:solidFill>
            <a:srgbClr val="A95B95"/>
          </a:solidFill>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122" y="1410589"/>
            <a:ext cx="198537" cy="198537"/>
          </a:xfrm>
          <a:prstGeom prst="rect">
            <a:avLst/>
          </a:prstGeom>
        </p:spPr>
      </p:pic>
      <p:sp>
        <p:nvSpPr>
          <p:cNvPr id="8" name="Text 5"/>
          <p:cNvSpPr/>
          <p:nvPr/>
        </p:nvSpPr>
        <p:spPr>
          <a:xfrm>
            <a:off x="691828" y="1870617"/>
            <a:ext cx="2290911" cy="204267"/>
          </a:xfrm>
          <a:prstGeom prst="rect">
            <a:avLst/>
          </a:prstGeom>
          <a:noFill/>
          <a:ln/>
        </p:spPr>
        <p:txBody>
          <a:bodyPr wrap="none" lIns="0" tIns="0" rIns="0" bIns="0" rtlCol="0" anchor="t"/>
          <a:lstStyle/>
          <a:p>
            <a:pPr marL="0" indent="0" algn="l">
              <a:lnSpc>
                <a:spcPct val="104000"/>
              </a:lnSpc>
              <a:buNone/>
            </a:pPr>
            <a:r>
              <a:rPr lang="en-US" sz="1400" b="1" dirty="0">
                <a:solidFill>
                  <a:srgbClr val="DAD8E9"/>
                </a:solidFill>
                <a:latin typeface="Eras Bold ITC" panose="020B0907030504020204" pitchFamily="34" charset="0"/>
                <a:ea typeface="Prompt Medium" pitchFamily="34" charset="-122"/>
                <a:cs typeface="Prompt Medium" pitchFamily="34" charset="-120"/>
              </a:rPr>
              <a:t>Frontend</a:t>
            </a:r>
            <a:endParaRPr lang="en-US" sz="1400" b="1" dirty="0">
              <a:latin typeface="Eras Bold ITC" panose="020B0907030504020204" pitchFamily="34" charset="0"/>
            </a:endParaRPr>
          </a:p>
        </p:txBody>
      </p:sp>
      <p:sp>
        <p:nvSpPr>
          <p:cNvPr id="9" name="Text 6"/>
          <p:cNvSpPr/>
          <p:nvPr/>
        </p:nvSpPr>
        <p:spPr>
          <a:xfrm>
            <a:off x="502699" y="2166446"/>
            <a:ext cx="2669168" cy="526172"/>
          </a:xfrm>
          <a:prstGeom prst="rect">
            <a:avLst/>
          </a:prstGeom>
          <a:noFill/>
          <a:ln/>
        </p:spPr>
        <p:txBody>
          <a:bodyPr wrap="square" lIns="0" tIns="0" rIns="0" bIns="0" rtlCol="0" anchor="t">
            <a:noAutofit/>
          </a:bodyPr>
          <a:lstStyle/>
          <a:p>
            <a:pPr marL="0" indent="0" algn="l">
              <a:lnSpc>
                <a:spcPct val="130000"/>
              </a:lnSpc>
              <a:buNone/>
            </a:pPr>
            <a:r>
              <a:rPr lang="en-US" sz="1400" dirty="0">
                <a:solidFill>
                  <a:srgbClr val="DAD8E9"/>
                </a:solidFill>
                <a:latin typeface="Palatino Linotype" panose="02040502050505030304" pitchFamily="18" charset="0"/>
                <a:ea typeface="Cascadia Mono SemiBold" panose="020B0609020000020004" pitchFamily="49" charset="0"/>
                <a:cs typeface="Mukta Light" pitchFamily="34" charset="-120"/>
              </a:rPr>
              <a:t>HTML · CSS · JavaScript — responsive mission dashboard UI</a:t>
            </a:r>
            <a:endParaRPr lang="en-US" sz="1400" dirty="0">
              <a:latin typeface="Palatino Linotype" panose="02040502050505030304" pitchFamily="18" charset="0"/>
            </a:endParaRPr>
          </a:p>
        </p:txBody>
      </p:sp>
      <p:sp>
        <p:nvSpPr>
          <p:cNvPr id="10" name="Shape 7"/>
          <p:cNvSpPr/>
          <p:nvPr/>
        </p:nvSpPr>
        <p:spPr>
          <a:xfrm>
            <a:off x="3274665" y="1137489"/>
            <a:ext cx="2594595" cy="1632719"/>
          </a:xfrm>
          <a:prstGeom prst="roundRect">
            <a:avLst>
              <a:gd name="adj" fmla="val 3783"/>
            </a:avLst>
          </a:prstGeom>
          <a:solidFill>
            <a:srgbClr val="542C49"/>
          </a:solidFill>
          <a:ln w="4763">
            <a:solidFill>
              <a:srgbClr val="6D4562"/>
            </a:solidFill>
            <a:prstDash val="solid"/>
          </a:ln>
        </p:spPr>
      </p:sp>
      <p:sp>
        <p:nvSpPr>
          <p:cNvPr id="11" name="Shape 8"/>
          <p:cNvSpPr/>
          <p:nvPr/>
        </p:nvSpPr>
        <p:spPr>
          <a:xfrm>
            <a:off x="3426470" y="1289294"/>
            <a:ext cx="441201" cy="441201"/>
          </a:xfrm>
          <a:prstGeom prst="ellipse">
            <a:avLst/>
          </a:prstGeom>
          <a:solidFill>
            <a:srgbClr val="A95B95"/>
          </a:solidFill>
          <a:ln/>
        </p:spPr>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47765" y="1410589"/>
            <a:ext cx="198537" cy="198537"/>
          </a:xfrm>
          <a:prstGeom prst="rect">
            <a:avLst/>
          </a:prstGeom>
        </p:spPr>
      </p:pic>
      <p:sp>
        <p:nvSpPr>
          <p:cNvPr id="13" name="Text 9"/>
          <p:cNvSpPr/>
          <p:nvPr/>
        </p:nvSpPr>
        <p:spPr>
          <a:xfrm>
            <a:off x="3426470" y="1870617"/>
            <a:ext cx="2290986" cy="204267"/>
          </a:xfrm>
          <a:prstGeom prst="rect">
            <a:avLst/>
          </a:prstGeom>
          <a:noFill/>
          <a:ln/>
        </p:spPr>
        <p:txBody>
          <a:bodyPr wrap="none" lIns="0" tIns="0" rIns="0" bIns="0" rtlCol="0" anchor="t"/>
          <a:lstStyle/>
          <a:p>
            <a:pPr marL="0" indent="0" algn="l">
              <a:lnSpc>
                <a:spcPct val="104000"/>
              </a:lnSpc>
              <a:buNone/>
            </a:pPr>
            <a:r>
              <a:rPr lang="en-US" sz="1400" b="1" dirty="0">
                <a:solidFill>
                  <a:srgbClr val="DAD8E9"/>
                </a:solidFill>
                <a:latin typeface="Eras Bold ITC" panose="020B0907030504020204" pitchFamily="34" charset="0"/>
                <a:ea typeface="Prompt Medium" pitchFamily="34" charset="-122"/>
                <a:cs typeface="Prompt Medium" pitchFamily="34" charset="-120"/>
              </a:rPr>
              <a:t>Backend</a:t>
            </a:r>
            <a:endParaRPr lang="en-US" sz="1400" b="1" dirty="0">
              <a:latin typeface="Eras Bold ITC" panose="020B0907030504020204" pitchFamily="34" charset="0"/>
            </a:endParaRPr>
          </a:p>
        </p:txBody>
      </p:sp>
      <p:sp>
        <p:nvSpPr>
          <p:cNvPr id="14" name="Text 10"/>
          <p:cNvSpPr/>
          <p:nvPr/>
        </p:nvSpPr>
        <p:spPr>
          <a:xfrm>
            <a:off x="3426470" y="2158971"/>
            <a:ext cx="2290986" cy="459432"/>
          </a:xfrm>
          <a:prstGeom prst="rect">
            <a:avLst/>
          </a:prstGeom>
          <a:noFill/>
          <a:ln/>
        </p:spPr>
        <p:txBody>
          <a:bodyPr wrap="square" lIns="0" tIns="0" rIns="0" bIns="0" rtlCol="0" anchor="t">
            <a:noAutofit/>
          </a:bodyPr>
          <a:lstStyle/>
          <a:p>
            <a:pPr marL="0" indent="0" algn="l">
              <a:lnSpc>
                <a:spcPct val="130000"/>
              </a:lnSpc>
              <a:buNone/>
            </a:pPr>
            <a:r>
              <a:rPr lang="en-US" sz="1300" dirty="0">
                <a:solidFill>
                  <a:srgbClr val="DAD8E9"/>
                </a:solidFill>
                <a:latin typeface="Palatino Linotype" panose="02040502050505030304" pitchFamily="18" charset="0"/>
                <a:ea typeface="Mukta Light" pitchFamily="34" charset="-122"/>
                <a:cs typeface="Mukta Light" pitchFamily="34" charset="-120"/>
              </a:rPr>
              <a:t>Python · Flask — lightweight REST API for model serving</a:t>
            </a:r>
            <a:endParaRPr lang="en-US" sz="1300" dirty="0">
              <a:latin typeface="Palatino Linotype" panose="02040502050505030304" pitchFamily="18" charset="0"/>
            </a:endParaRPr>
          </a:p>
        </p:txBody>
      </p:sp>
      <p:sp>
        <p:nvSpPr>
          <p:cNvPr id="15" name="Shape 11"/>
          <p:cNvSpPr/>
          <p:nvPr/>
        </p:nvSpPr>
        <p:spPr>
          <a:xfrm>
            <a:off x="6009382" y="1137489"/>
            <a:ext cx="2712357" cy="1632719"/>
          </a:xfrm>
          <a:prstGeom prst="roundRect">
            <a:avLst>
              <a:gd name="adj" fmla="val 3783"/>
            </a:avLst>
          </a:prstGeom>
          <a:solidFill>
            <a:srgbClr val="542C49"/>
          </a:solidFill>
          <a:ln w="4763">
            <a:solidFill>
              <a:srgbClr val="6D4562"/>
            </a:solidFill>
            <a:prstDash val="solid"/>
          </a:ln>
        </p:spPr>
      </p:sp>
      <p:sp>
        <p:nvSpPr>
          <p:cNvPr id="16" name="Shape 12"/>
          <p:cNvSpPr/>
          <p:nvPr/>
        </p:nvSpPr>
        <p:spPr>
          <a:xfrm>
            <a:off x="6161187" y="1289294"/>
            <a:ext cx="441201" cy="441201"/>
          </a:xfrm>
          <a:prstGeom prst="ellipse">
            <a:avLst/>
          </a:prstGeom>
          <a:solidFill>
            <a:srgbClr val="A95B95"/>
          </a:solidFill>
          <a:ln/>
        </p:spPr>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82482" y="1410589"/>
            <a:ext cx="198537" cy="198537"/>
          </a:xfrm>
          <a:prstGeom prst="rect">
            <a:avLst/>
          </a:prstGeom>
        </p:spPr>
      </p:pic>
      <p:sp>
        <p:nvSpPr>
          <p:cNvPr id="18" name="Text 13"/>
          <p:cNvSpPr/>
          <p:nvPr/>
        </p:nvSpPr>
        <p:spPr>
          <a:xfrm>
            <a:off x="6161187" y="1870617"/>
            <a:ext cx="2290911" cy="204267"/>
          </a:xfrm>
          <a:prstGeom prst="rect">
            <a:avLst/>
          </a:prstGeom>
          <a:noFill/>
          <a:ln/>
        </p:spPr>
        <p:txBody>
          <a:bodyPr wrap="none" lIns="0" tIns="0" rIns="0" bIns="0" rtlCol="0" anchor="t"/>
          <a:lstStyle/>
          <a:p>
            <a:pPr marL="0" indent="0" algn="l">
              <a:lnSpc>
                <a:spcPct val="104000"/>
              </a:lnSpc>
              <a:buNone/>
            </a:pPr>
            <a:r>
              <a:rPr lang="en-US" sz="1400" b="1" dirty="0">
                <a:solidFill>
                  <a:srgbClr val="DAD8E9"/>
                </a:solidFill>
                <a:latin typeface="Eras Bold ITC" panose="020B0907030504020204" pitchFamily="34" charset="0"/>
                <a:ea typeface="Prompt Medium" pitchFamily="34" charset="-122"/>
                <a:cs typeface="Prompt Medium" pitchFamily="34" charset="-120"/>
              </a:rPr>
              <a:t>AI / ML</a:t>
            </a:r>
            <a:endParaRPr lang="en-US" sz="1400" b="1" dirty="0">
              <a:latin typeface="Eras Bold ITC" panose="020B0907030504020204" pitchFamily="34" charset="0"/>
            </a:endParaRPr>
          </a:p>
        </p:txBody>
      </p:sp>
      <p:sp>
        <p:nvSpPr>
          <p:cNvPr id="19" name="Text 14"/>
          <p:cNvSpPr/>
          <p:nvPr/>
        </p:nvSpPr>
        <p:spPr>
          <a:xfrm>
            <a:off x="6088742" y="2158971"/>
            <a:ext cx="2712357" cy="459432"/>
          </a:xfrm>
          <a:prstGeom prst="rect">
            <a:avLst/>
          </a:prstGeom>
          <a:noFill/>
          <a:ln/>
        </p:spPr>
        <p:txBody>
          <a:bodyPr wrap="square" lIns="0" tIns="0" rIns="0" bIns="0" rtlCol="0" anchor="t">
            <a:noAutofit/>
          </a:bodyPr>
          <a:lstStyle/>
          <a:p>
            <a:pPr marL="0" indent="0" algn="l">
              <a:lnSpc>
                <a:spcPct val="130000"/>
              </a:lnSpc>
              <a:buNone/>
            </a:pPr>
            <a:r>
              <a:rPr lang="en-US" sz="1400" dirty="0">
                <a:solidFill>
                  <a:srgbClr val="DAD8E9"/>
                </a:solidFill>
                <a:latin typeface="Palatino Linotype" panose="02040502050505030304" pitchFamily="18" charset="0"/>
                <a:ea typeface="Mukta Light" pitchFamily="34" charset="-122"/>
                <a:cs typeface="Mukta Light" pitchFamily="34" charset="-120"/>
              </a:rPr>
              <a:t>OpenCV · YOLO · Computer vision ,</a:t>
            </a:r>
            <a:endParaRPr lang="en-US" sz="1400" dirty="0">
              <a:latin typeface="Palatino Linotype" panose="02040502050505030304" pitchFamily="18" charset="0"/>
            </a:endParaRPr>
          </a:p>
        </p:txBody>
      </p:sp>
      <p:sp>
        <p:nvSpPr>
          <p:cNvPr id="20" name="Shape 15"/>
          <p:cNvSpPr/>
          <p:nvPr/>
        </p:nvSpPr>
        <p:spPr>
          <a:xfrm>
            <a:off x="540023" y="2910330"/>
            <a:ext cx="3961879" cy="1531041"/>
          </a:xfrm>
          <a:prstGeom prst="roundRect">
            <a:avLst>
              <a:gd name="adj" fmla="val 4403"/>
            </a:avLst>
          </a:prstGeom>
          <a:solidFill>
            <a:srgbClr val="542C49"/>
          </a:solidFill>
          <a:ln w="4763">
            <a:solidFill>
              <a:srgbClr val="6D4562"/>
            </a:solidFill>
            <a:prstDash val="solid"/>
          </a:ln>
        </p:spPr>
      </p:sp>
      <p:sp>
        <p:nvSpPr>
          <p:cNvPr id="21" name="Shape 16"/>
          <p:cNvSpPr/>
          <p:nvPr/>
        </p:nvSpPr>
        <p:spPr>
          <a:xfrm>
            <a:off x="691828" y="3062134"/>
            <a:ext cx="441201" cy="441201"/>
          </a:xfrm>
          <a:prstGeom prst="ellipse">
            <a:avLst/>
          </a:prstGeom>
          <a:solidFill>
            <a:srgbClr val="A95B95"/>
          </a:solidFill>
          <a:ln/>
        </p:spPr>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3122" y="3183429"/>
            <a:ext cx="198537" cy="198537"/>
          </a:xfrm>
          <a:prstGeom prst="rect">
            <a:avLst/>
          </a:prstGeom>
        </p:spPr>
      </p:pic>
      <p:sp>
        <p:nvSpPr>
          <p:cNvPr id="23" name="Text 17"/>
          <p:cNvSpPr/>
          <p:nvPr/>
        </p:nvSpPr>
        <p:spPr>
          <a:xfrm>
            <a:off x="761887" y="3629314"/>
            <a:ext cx="3658270" cy="204267"/>
          </a:xfrm>
          <a:prstGeom prst="rect">
            <a:avLst/>
          </a:prstGeom>
          <a:noFill/>
          <a:ln/>
        </p:spPr>
        <p:txBody>
          <a:bodyPr wrap="none" lIns="0" tIns="0" rIns="0" bIns="0" rtlCol="0" anchor="t"/>
          <a:lstStyle/>
          <a:p>
            <a:pPr marL="0" indent="0" algn="l">
              <a:lnSpc>
                <a:spcPct val="104000"/>
              </a:lnSpc>
              <a:buNone/>
            </a:pPr>
            <a:r>
              <a:rPr lang="en-US" sz="1400" b="1" dirty="0">
                <a:solidFill>
                  <a:srgbClr val="DAD8E9"/>
                </a:solidFill>
                <a:latin typeface="Eras Bold ITC" panose="020B0907030504020204" pitchFamily="34" charset="0"/>
                <a:ea typeface="Prompt Medium" pitchFamily="34" charset="-122"/>
                <a:cs typeface="Prompt Medium" pitchFamily="34" charset="-120"/>
              </a:rPr>
              <a:t>Algorithm</a:t>
            </a:r>
            <a:endParaRPr lang="en-US" sz="1400" b="1" dirty="0">
              <a:latin typeface="Eras Bold ITC" panose="020B0907030504020204" pitchFamily="34" charset="0"/>
            </a:endParaRPr>
          </a:p>
        </p:txBody>
      </p:sp>
      <p:sp>
        <p:nvSpPr>
          <p:cNvPr id="24" name="Text 18"/>
          <p:cNvSpPr/>
          <p:nvPr/>
        </p:nvSpPr>
        <p:spPr>
          <a:xfrm>
            <a:off x="767731" y="3836458"/>
            <a:ext cx="3798391" cy="542847"/>
          </a:xfrm>
          <a:prstGeom prst="rect">
            <a:avLst/>
          </a:prstGeom>
          <a:noFill/>
          <a:ln/>
        </p:spPr>
        <p:txBody>
          <a:bodyPr wrap="none" lIns="0" tIns="0" rIns="0" bIns="0" rtlCol="0" anchor="t"/>
          <a:lstStyle/>
          <a:p>
            <a:pPr marL="0" indent="0" algn="l">
              <a:lnSpc>
                <a:spcPct val="130000"/>
              </a:lnSpc>
              <a:buNone/>
            </a:pPr>
            <a:r>
              <a:rPr lang="en-US" sz="1400" dirty="0">
                <a:solidFill>
                  <a:srgbClr val="DAD8E9"/>
                </a:solidFill>
                <a:latin typeface="Palatino Linotype" panose="02040502050505030304" pitchFamily="18" charset="0"/>
                <a:ea typeface="Mukta Light" pitchFamily="34" charset="-122"/>
                <a:cs typeface="Mukta Light" pitchFamily="34" charset="-120"/>
              </a:rPr>
              <a:t>A* Path Planning — optimal, obstacle-aware </a:t>
            </a:r>
          </a:p>
          <a:p>
            <a:pPr marL="0" indent="0" algn="l">
              <a:lnSpc>
                <a:spcPct val="130000"/>
              </a:lnSpc>
              <a:buNone/>
            </a:pPr>
            <a:r>
              <a:rPr lang="en-US" sz="1400" dirty="0">
                <a:solidFill>
                  <a:srgbClr val="DAD8E9"/>
                </a:solidFill>
                <a:latin typeface="Palatino Linotype" panose="02040502050505030304" pitchFamily="18" charset="0"/>
                <a:ea typeface="Mukta Light" pitchFamily="34" charset="-122"/>
                <a:cs typeface="Mukta Light" pitchFamily="34" charset="-120"/>
              </a:rPr>
              <a:t>rover routing</a:t>
            </a:r>
            <a:endParaRPr lang="en-US" sz="1400" dirty="0">
              <a:latin typeface="Palatino Linotype" panose="02040502050505030304" pitchFamily="18" charset="0"/>
            </a:endParaRPr>
          </a:p>
        </p:txBody>
      </p:sp>
      <p:sp>
        <p:nvSpPr>
          <p:cNvPr id="25" name="Shape 19"/>
          <p:cNvSpPr/>
          <p:nvPr/>
        </p:nvSpPr>
        <p:spPr>
          <a:xfrm>
            <a:off x="4655959" y="2910330"/>
            <a:ext cx="3961879" cy="1531041"/>
          </a:xfrm>
          <a:prstGeom prst="roundRect">
            <a:avLst>
              <a:gd name="adj" fmla="val 4403"/>
            </a:avLst>
          </a:prstGeom>
          <a:solidFill>
            <a:srgbClr val="542C49"/>
          </a:solidFill>
          <a:ln w="4763">
            <a:solidFill>
              <a:srgbClr val="6D4562"/>
            </a:solidFill>
            <a:prstDash val="solid"/>
          </a:ln>
        </p:spPr>
      </p:sp>
      <p:sp>
        <p:nvSpPr>
          <p:cNvPr id="26" name="Shape 20"/>
          <p:cNvSpPr/>
          <p:nvPr/>
        </p:nvSpPr>
        <p:spPr>
          <a:xfrm>
            <a:off x="4793828" y="3062134"/>
            <a:ext cx="441201" cy="441201"/>
          </a:xfrm>
          <a:prstGeom prst="ellipse">
            <a:avLst/>
          </a:prstGeom>
          <a:solidFill>
            <a:srgbClr val="A95B95"/>
          </a:solidFill>
          <a:ln/>
        </p:spPr>
      </p:sp>
      <p:pic>
        <p:nvPicPr>
          <p:cNvPr id="2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15123" y="3183429"/>
            <a:ext cx="198537" cy="198537"/>
          </a:xfrm>
          <a:prstGeom prst="rect">
            <a:avLst/>
          </a:prstGeom>
        </p:spPr>
      </p:pic>
      <p:sp>
        <p:nvSpPr>
          <p:cNvPr id="28" name="Text 21"/>
          <p:cNvSpPr/>
          <p:nvPr/>
        </p:nvSpPr>
        <p:spPr>
          <a:xfrm>
            <a:off x="4793828" y="3617007"/>
            <a:ext cx="3658270" cy="204267"/>
          </a:xfrm>
          <a:prstGeom prst="rect">
            <a:avLst/>
          </a:prstGeom>
          <a:noFill/>
          <a:ln/>
        </p:spPr>
        <p:txBody>
          <a:bodyPr wrap="none" lIns="0" tIns="0" rIns="0" bIns="0" rtlCol="0" anchor="t"/>
          <a:lstStyle/>
          <a:p>
            <a:pPr marL="0" indent="0" algn="l">
              <a:lnSpc>
                <a:spcPct val="104000"/>
              </a:lnSpc>
              <a:buNone/>
            </a:pPr>
            <a:r>
              <a:rPr lang="en-US" sz="1400" b="1" dirty="0">
                <a:solidFill>
                  <a:srgbClr val="DAD8E9"/>
                </a:solidFill>
                <a:latin typeface="Eras Bold ITC" panose="020B0907030504020204" pitchFamily="34" charset="0"/>
                <a:ea typeface="Prompt Medium" pitchFamily="34" charset="-122"/>
                <a:cs typeface="Prompt Medium" pitchFamily="34" charset="-120"/>
              </a:rPr>
              <a:t>Dataset</a:t>
            </a:r>
            <a:endParaRPr lang="en-US" sz="1400" b="1" dirty="0">
              <a:latin typeface="Eras Bold ITC" panose="020B0907030504020204" pitchFamily="34" charset="0"/>
            </a:endParaRPr>
          </a:p>
        </p:txBody>
      </p:sp>
      <p:sp>
        <p:nvSpPr>
          <p:cNvPr id="29" name="Text 22"/>
          <p:cNvSpPr/>
          <p:nvPr/>
        </p:nvSpPr>
        <p:spPr>
          <a:xfrm>
            <a:off x="4793828" y="3810990"/>
            <a:ext cx="3812187" cy="445683"/>
          </a:xfrm>
          <a:prstGeom prst="rect">
            <a:avLst/>
          </a:prstGeom>
          <a:noFill/>
          <a:ln/>
        </p:spPr>
        <p:txBody>
          <a:bodyPr wrap="none" lIns="0" tIns="0" rIns="0" bIns="0" rtlCol="0" anchor="t"/>
          <a:lstStyle/>
          <a:p>
            <a:pPr marL="0" indent="0" algn="l">
              <a:lnSpc>
                <a:spcPct val="130000"/>
              </a:lnSpc>
              <a:buNone/>
            </a:pPr>
            <a:r>
              <a:rPr lang="en-US" sz="1400" dirty="0">
                <a:solidFill>
                  <a:srgbClr val="DAD8E9"/>
                </a:solidFill>
                <a:latin typeface="Palatino Linotype" panose="02040502050505030304" pitchFamily="18" charset="0"/>
                <a:ea typeface="Mukta Light" pitchFamily="34" charset="-122"/>
                <a:cs typeface="Mukta Light" pitchFamily="34" charset="-120"/>
              </a:rPr>
              <a:t>NASA Lunar Reconnaissance Orbiter  Camera</a:t>
            </a:r>
          </a:p>
          <a:p>
            <a:pPr marL="0" indent="0" algn="l">
              <a:lnSpc>
                <a:spcPct val="130000"/>
              </a:lnSpc>
              <a:buNone/>
            </a:pPr>
            <a:r>
              <a:rPr lang="en-US" sz="1400" dirty="0">
                <a:solidFill>
                  <a:srgbClr val="DAD8E9"/>
                </a:solidFill>
                <a:latin typeface="Palatino Linotype" panose="02040502050505030304" pitchFamily="18" charset="0"/>
                <a:ea typeface="Mukta Light" pitchFamily="34" charset="-122"/>
                <a:cs typeface="Mukta Light" pitchFamily="34" charset="-120"/>
              </a:rPr>
              <a:t>(LROC) imagery database</a:t>
            </a:r>
            <a:endParaRPr lang="en-US" sz="1400" dirty="0">
              <a:latin typeface="Palatino Linotype" panose="02040502050505030304" pitchFamily="18" charset="0"/>
            </a:endParaRPr>
          </a:p>
        </p:txBody>
      </p:sp>
      <p:sp>
        <p:nvSpPr>
          <p:cNvPr id="31" name="Rectangle 30">
            <a:extLst>
              <a:ext uri="{FF2B5EF4-FFF2-40B4-BE49-F238E27FC236}">
                <a16:creationId xmlns:a16="http://schemas.microsoft.com/office/drawing/2014/main" id="{0041EA35-0C79-84E6-01D7-C71D0BAABFF3}"/>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7" name="Picture 36">
            <a:extLst>
              <a:ext uri="{FF2B5EF4-FFF2-40B4-BE49-F238E27FC236}">
                <a16:creationId xmlns:a16="http://schemas.microsoft.com/office/drawing/2014/main" id="{3F46CD3A-2A63-2495-0EA5-E19F01ED0765}"/>
              </a:ext>
            </a:extLst>
          </p:cNvPr>
          <p:cNvPicPr>
            <a:picLocks noChangeAspect="1"/>
          </p:cNvPicPr>
          <p:nvPr/>
        </p:nvPicPr>
        <p:blipFill>
          <a:blip r:embed="rId8"/>
          <a:stretch>
            <a:fillRect/>
          </a:stretch>
        </p:blipFill>
        <p:spPr>
          <a:xfrm>
            <a:off x="75789" y="4632828"/>
            <a:ext cx="441052" cy="441052"/>
          </a:xfrm>
          <a:prstGeom prst="rect">
            <a:avLst/>
          </a:prstGeom>
        </p:spPr>
      </p:pic>
      <p:sp>
        <p:nvSpPr>
          <p:cNvPr id="3" name="Action Button: Go Forward or Next 2">
            <a:hlinkClick r:id="" action="ppaction://hlinkshowjump?jump=nextslide" highlightClick="1"/>
            <a:extLst>
              <a:ext uri="{FF2B5EF4-FFF2-40B4-BE49-F238E27FC236}">
                <a16:creationId xmlns:a16="http://schemas.microsoft.com/office/drawing/2014/main" id="{FAD290B0-7310-170B-0BC7-E2E760621EFF}"/>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Action Button: Go Back or Previous 31">
            <a:hlinkClick r:id="" action="ppaction://hlinkshowjump?jump=previousslide" highlightClick="1"/>
            <a:extLst>
              <a:ext uri="{FF2B5EF4-FFF2-40B4-BE49-F238E27FC236}">
                <a16:creationId xmlns:a16="http://schemas.microsoft.com/office/drawing/2014/main" id="{78ADF0B6-EA1D-DEF0-92BE-F0AEC04B2B29}"/>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4" name="Text 2"/>
          <p:cNvSpPr/>
          <p:nvPr/>
        </p:nvSpPr>
        <p:spPr>
          <a:xfrm>
            <a:off x="439469" y="330489"/>
            <a:ext cx="6559208" cy="437395"/>
          </a:xfrm>
          <a:prstGeom prst="rect">
            <a:avLst/>
          </a:prstGeom>
          <a:noFill/>
          <a:ln/>
        </p:spPr>
        <p:txBody>
          <a:bodyPr wrap="none" lIns="0" tIns="0" rIns="0" bIns="0" rtlCol="0" anchor="t"/>
          <a:lstStyle/>
          <a:p>
            <a:pPr marL="0" indent="0" algn="l">
              <a:lnSpc>
                <a:spcPct val="104000"/>
              </a:lnSpc>
              <a:buNone/>
            </a:pPr>
            <a:r>
              <a:rPr lang="en-US" sz="2800" dirty="0">
                <a:solidFill>
                  <a:srgbClr val="00FFCC"/>
                </a:solidFill>
                <a:latin typeface="Broadway" panose="04040905080B02020502" pitchFamily="82" charset="0"/>
                <a:ea typeface="Prompt Medium" pitchFamily="34" charset="-122"/>
                <a:cs typeface="Prompt Medium" pitchFamily="34" charset="-120"/>
              </a:rPr>
              <a:t>Feature Set &amp; Development Roadmap</a:t>
            </a:r>
            <a:endParaRPr lang="en-US" sz="2800" dirty="0">
              <a:solidFill>
                <a:srgbClr val="00FFCC"/>
              </a:solidFill>
              <a:latin typeface="Broadway" panose="04040905080B02020502" pitchFamily="82" charset="0"/>
            </a:endParaRPr>
          </a:p>
        </p:txBody>
      </p:sp>
      <p:sp>
        <p:nvSpPr>
          <p:cNvPr id="5" name="Shape 3"/>
          <p:cNvSpPr/>
          <p:nvPr/>
        </p:nvSpPr>
        <p:spPr>
          <a:xfrm>
            <a:off x="540023" y="1552117"/>
            <a:ext cx="2662238" cy="540841"/>
          </a:xfrm>
          <a:prstGeom prst="roundRect">
            <a:avLst>
              <a:gd name="adj" fmla="val 5991"/>
            </a:avLst>
          </a:prstGeom>
          <a:solidFill>
            <a:srgbClr val="542C49"/>
          </a:solidFill>
          <a:ln w="4763">
            <a:solidFill>
              <a:srgbClr val="6D4562"/>
            </a:solidFill>
            <a:prstDash val="solid"/>
          </a:ln>
        </p:spPr>
      </p:sp>
      <p:sp>
        <p:nvSpPr>
          <p:cNvPr id="6" name="Shape 4"/>
          <p:cNvSpPr/>
          <p:nvPr/>
        </p:nvSpPr>
        <p:spPr>
          <a:xfrm>
            <a:off x="621878" y="1633972"/>
            <a:ext cx="231428" cy="231428"/>
          </a:xfrm>
          <a:prstGeom prst="ellipse">
            <a:avLst/>
          </a:prstGeom>
          <a:solidFill>
            <a:srgbClr val="A95B95"/>
          </a:solidFill>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5502" y="1697596"/>
            <a:ext cx="104105" cy="104105"/>
          </a:xfrm>
          <a:prstGeom prst="rect">
            <a:avLst/>
          </a:prstGeom>
        </p:spPr>
      </p:pic>
      <p:sp>
        <p:nvSpPr>
          <p:cNvPr id="8" name="Text 5"/>
          <p:cNvSpPr/>
          <p:nvPr/>
        </p:nvSpPr>
        <p:spPr>
          <a:xfrm>
            <a:off x="621878" y="1888707"/>
            <a:ext cx="2498527" cy="107156"/>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Comic Sans MS" panose="030F0702030302020204" pitchFamily="66" charset="0"/>
                <a:ea typeface="Prompt Medium" pitchFamily="34" charset="-122"/>
                <a:cs typeface="Prompt Medium" pitchFamily="34" charset="-120"/>
              </a:rPr>
              <a:t>Safe Landing Detection</a:t>
            </a:r>
            <a:endParaRPr lang="en-US" sz="1400" dirty="0">
              <a:latin typeface="Comic Sans MS" panose="030F0702030302020204" pitchFamily="66" charset="0"/>
            </a:endParaRPr>
          </a:p>
        </p:txBody>
      </p:sp>
      <p:sp>
        <p:nvSpPr>
          <p:cNvPr id="9" name="Shape 6"/>
          <p:cNvSpPr/>
          <p:nvPr/>
        </p:nvSpPr>
        <p:spPr>
          <a:xfrm>
            <a:off x="3240807" y="1552117"/>
            <a:ext cx="2662312" cy="540841"/>
          </a:xfrm>
          <a:prstGeom prst="roundRect">
            <a:avLst>
              <a:gd name="adj" fmla="val 5991"/>
            </a:avLst>
          </a:prstGeom>
          <a:solidFill>
            <a:srgbClr val="542C49"/>
          </a:solidFill>
          <a:ln w="4763">
            <a:solidFill>
              <a:srgbClr val="6D4562"/>
            </a:solidFill>
            <a:prstDash val="solid"/>
          </a:ln>
        </p:spPr>
      </p:sp>
      <p:sp>
        <p:nvSpPr>
          <p:cNvPr id="10" name="Shape 7"/>
          <p:cNvSpPr/>
          <p:nvPr/>
        </p:nvSpPr>
        <p:spPr>
          <a:xfrm>
            <a:off x="3322662" y="1633972"/>
            <a:ext cx="231428" cy="231428"/>
          </a:xfrm>
          <a:prstGeom prst="ellipse">
            <a:avLst/>
          </a:prstGeom>
          <a:solidFill>
            <a:srgbClr val="A95B95"/>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86286" y="1697596"/>
            <a:ext cx="104105" cy="104105"/>
          </a:xfrm>
          <a:prstGeom prst="rect">
            <a:avLst/>
          </a:prstGeom>
        </p:spPr>
      </p:pic>
      <p:sp>
        <p:nvSpPr>
          <p:cNvPr id="12" name="Text 8"/>
          <p:cNvSpPr/>
          <p:nvPr/>
        </p:nvSpPr>
        <p:spPr>
          <a:xfrm>
            <a:off x="3322662" y="1896327"/>
            <a:ext cx="2498601" cy="107156"/>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Comic Sans MS" panose="030F0702030302020204" pitchFamily="66" charset="0"/>
                <a:ea typeface="Prompt Medium" pitchFamily="34" charset="-122"/>
                <a:cs typeface="Prompt Medium" pitchFamily="34" charset="-120"/>
              </a:rPr>
              <a:t>Hazard &amp; Crater Detection</a:t>
            </a:r>
            <a:endParaRPr lang="en-US" sz="1400" dirty="0">
              <a:latin typeface="Comic Sans MS" panose="030F0702030302020204" pitchFamily="66" charset="0"/>
            </a:endParaRPr>
          </a:p>
        </p:txBody>
      </p:sp>
      <p:sp>
        <p:nvSpPr>
          <p:cNvPr id="13" name="Shape 9"/>
          <p:cNvSpPr/>
          <p:nvPr/>
        </p:nvSpPr>
        <p:spPr>
          <a:xfrm>
            <a:off x="5941665" y="1552117"/>
            <a:ext cx="2662312" cy="540841"/>
          </a:xfrm>
          <a:prstGeom prst="roundRect">
            <a:avLst>
              <a:gd name="adj" fmla="val 5991"/>
            </a:avLst>
          </a:prstGeom>
          <a:solidFill>
            <a:srgbClr val="542C49"/>
          </a:solidFill>
          <a:ln w="4763">
            <a:solidFill>
              <a:srgbClr val="6D4562"/>
            </a:solidFill>
            <a:prstDash val="solid"/>
          </a:ln>
        </p:spPr>
      </p:sp>
      <p:sp>
        <p:nvSpPr>
          <p:cNvPr id="14" name="Shape 10"/>
          <p:cNvSpPr/>
          <p:nvPr/>
        </p:nvSpPr>
        <p:spPr>
          <a:xfrm>
            <a:off x="6023521" y="1633972"/>
            <a:ext cx="231428" cy="231428"/>
          </a:xfrm>
          <a:prstGeom prst="ellipse">
            <a:avLst/>
          </a:prstGeom>
          <a:solidFill>
            <a:srgbClr val="A95B95"/>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87145" y="1697596"/>
            <a:ext cx="104105" cy="104105"/>
          </a:xfrm>
          <a:prstGeom prst="rect">
            <a:avLst/>
          </a:prstGeom>
        </p:spPr>
      </p:pic>
      <p:sp>
        <p:nvSpPr>
          <p:cNvPr id="16" name="Text 11"/>
          <p:cNvSpPr/>
          <p:nvPr/>
        </p:nvSpPr>
        <p:spPr>
          <a:xfrm>
            <a:off x="6023521" y="1888707"/>
            <a:ext cx="2498601" cy="107156"/>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Comic Sans MS" panose="030F0702030302020204" pitchFamily="66" charset="0"/>
                <a:ea typeface="Prompt Medium" pitchFamily="34" charset="-122"/>
                <a:cs typeface="Prompt Medium" pitchFamily="34" charset="-120"/>
              </a:rPr>
              <a:t>Rock &amp; Terrain Analysis</a:t>
            </a:r>
            <a:endParaRPr lang="en-US" sz="1400" dirty="0">
              <a:latin typeface="Comic Sans MS" panose="030F0702030302020204" pitchFamily="66" charset="0"/>
            </a:endParaRPr>
          </a:p>
        </p:txBody>
      </p:sp>
      <p:sp>
        <p:nvSpPr>
          <p:cNvPr id="17" name="Shape 12"/>
          <p:cNvSpPr/>
          <p:nvPr/>
        </p:nvSpPr>
        <p:spPr>
          <a:xfrm>
            <a:off x="540023" y="2131505"/>
            <a:ext cx="2662238" cy="540841"/>
          </a:xfrm>
          <a:prstGeom prst="roundRect">
            <a:avLst>
              <a:gd name="adj" fmla="val 5991"/>
            </a:avLst>
          </a:prstGeom>
          <a:solidFill>
            <a:srgbClr val="542C49"/>
          </a:solidFill>
          <a:ln w="4763">
            <a:solidFill>
              <a:srgbClr val="6D4562"/>
            </a:solidFill>
            <a:prstDash val="solid"/>
          </a:ln>
        </p:spPr>
      </p:sp>
      <p:sp>
        <p:nvSpPr>
          <p:cNvPr id="18" name="Shape 13"/>
          <p:cNvSpPr/>
          <p:nvPr/>
        </p:nvSpPr>
        <p:spPr>
          <a:xfrm>
            <a:off x="621878" y="2213360"/>
            <a:ext cx="231428" cy="231428"/>
          </a:xfrm>
          <a:prstGeom prst="ellipse">
            <a:avLst/>
          </a:prstGeom>
          <a:solidFill>
            <a:srgbClr val="A95B95"/>
          </a:solidFill>
          <a:ln/>
        </p:spPr>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5502" y="2276984"/>
            <a:ext cx="104105" cy="104105"/>
          </a:xfrm>
          <a:prstGeom prst="rect">
            <a:avLst/>
          </a:prstGeom>
        </p:spPr>
      </p:pic>
      <p:sp>
        <p:nvSpPr>
          <p:cNvPr id="20" name="Text 14"/>
          <p:cNvSpPr/>
          <p:nvPr/>
        </p:nvSpPr>
        <p:spPr>
          <a:xfrm>
            <a:off x="621878" y="2468095"/>
            <a:ext cx="2498527" cy="107156"/>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Comic Sans MS" panose="030F0702030302020204" pitchFamily="66" charset="0"/>
                <a:ea typeface="Prompt Medium" pitchFamily="34" charset="-122"/>
                <a:cs typeface="Prompt Medium" pitchFamily="34" charset="-120"/>
              </a:rPr>
              <a:t>Safety Score &amp; Heat Map</a:t>
            </a:r>
            <a:endParaRPr lang="en-US" sz="1400" dirty="0">
              <a:latin typeface="Comic Sans MS" panose="030F0702030302020204" pitchFamily="66" charset="0"/>
            </a:endParaRPr>
          </a:p>
        </p:txBody>
      </p:sp>
      <p:sp>
        <p:nvSpPr>
          <p:cNvPr id="21" name="Shape 15"/>
          <p:cNvSpPr/>
          <p:nvPr/>
        </p:nvSpPr>
        <p:spPr>
          <a:xfrm>
            <a:off x="3240807" y="2131505"/>
            <a:ext cx="2662312" cy="540841"/>
          </a:xfrm>
          <a:prstGeom prst="roundRect">
            <a:avLst>
              <a:gd name="adj" fmla="val 5991"/>
            </a:avLst>
          </a:prstGeom>
          <a:solidFill>
            <a:srgbClr val="542C49"/>
          </a:solidFill>
          <a:ln w="4763">
            <a:solidFill>
              <a:srgbClr val="6D4562"/>
            </a:solidFill>
            <a:prstDash val="solid"/>
          </a:ln>
        </p:spPr>
      </p:sp>
      <p:sp>
        <p:nvSpPr>
          <p:cNvPr id="22" name="Shape 16"/>
          <p:cNvSpPr/>
          <p:nvPr/>
        </p:nvSpPr>
        <p:spPr>
          <a:xfrm>
            <a:off x="3322662" y="2213360"/>
            <a:ext cx="231428" cy="231428"/>
          </a:xfrm>
          <a:prstGeom prst="ellipse">
            <a:avLst/>
          </a:prstGeom>
          <a:solidFill>
            <a:srgbClr val="A95B95"/>
          </a:solidFill>
          <a:ln/>
        </p:spPr>
      </p:sp>
      <p:pic>
        <p:nvPicPr>
          <p:cNvPr id="2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386286" y="2276984"/>
            <a:ext cx="104105" cy="104105"/>
          </a:xfrm>
          <a:prstGeom prst="rect">
            <a:avLst/>
          </a:prstGeom>
        </p:spPr>
      </p:pic>
      <p:sp>
        <p:nvSpPr>
          <p:cNvPr id="24" name="Text 17"/>
          <p:cNvSpPr/>
          <p:nvPr/>
        </p:nvSpPr>
        <p:spPr>
          <a:xfrm>
            <a:off x="3322662" y="2468095"/>
            <a:ext cx="2498601" cy="107156"/>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Comic Sans MS" panose="030F0702030302020204" pitchFamily="66" charset="0"/>
                <a:ea typeface="Prompt Medium" pitchFamily="34" charset="-122"/>
                <a:cs typeface="Prompt Medium" pitchFamily="34" charset="-120"/>
              </a:rPr>
              <a:t>Rover Route Planning</a:t>
            </a:r>
            <a:endParaRPr lang="en-US" sz="1400" dirty="0">
              <a:latin typeface="Comic Sans MS" panose="030F0702030302020204" pitchFamily="66" charset="0"/>
            </a:endParaRPr>
          </a:p>
        </p:txBody>
      </p:sp>
      <p:sp>
        <p:nvSpPr>
          <p:cNvPr id="25" name="Shape 18"/>
          <p:cNvSpPr/>
          <p:nvPr/>
        </p:nvSpPr>
        <p:spPr>
          <a:xfrm>
            <a:off x="5941665" y="2131505"/>
            <a:ext cx="2662312" cy="540841"/>
          </a:xfrm>
          <a:prstGeom prst="roundRect">
            <a:avLst>
              <a:gd name="adj" fmla="val 5991"/>
            </a:avLst>
          </a:prstGeom>
          <a:solidFill>
            <a:srgbClr val="542C49"/>
          </a:solidFill>
          <a:ln w="4763">
            <a:solidFill>
              <a:srgbClr val="6D4562"/>
            </a:solidFill>
            <a:prstDash val="solid"/>
          </a:ln>
        </p:spPr>
      </p:sp>
      <p:sp>
        <p:nvSpPr>
          <p:cNvPr id="26" name="Shape 19"/>
          <p:cNvSpPr/>
          <p:nvPr/>
        </p:nvSpPr>
        <p:spPr>
          <a:xfrm>
            <a:off x="6023521" y="2213360"/>
            <a:ext cx="231428" cy="231428"/>
          </a:xfrm>
          <a:prstGeom prst="ellipse">
            <a:avLst/>
          </a:prstGeom>
          <a:solidFill>
            <a:srgbClr val="A95B95"/>
          </a:solidFill>
          <a:ln/>
        </p:spPr>
      </p:sp>
      <p:pic>
        <p:nvPicPr>
          <p:cNvPr id="27"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87145" y="2276984"/>
            <a:ext cx="104105" cy="104105"/>
          </a:xfrm>
          <a:prstGeom prst="rect">
            <a:avLst/>
          </a:prstGeom>
        </p:spPr>
      </p:pic>
      <p:sp>
        <p:nvSpPr>
          <p:cNvPr id="28" name="Text 20"/>
          <p:cNvSpPr/>
          <p:nvPr/>
        </p:nvSpPr>
        <p:spPr>
          <a:xfrm>
            <a:off x="6023521" y="2468095"/>
            <a:ext cx="2498601" cy="107156"/>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Comic Sans MS" panose="030F0702030302020204" pitchFamily="66" charset="0"/>
                <a:ea typeface="Prompt Medium" pitchFamily="34" charset="-122"/>
                <a:cs typeface="Prompt Medium" pitchFamily="34" charset="-120"/>
              </a:rPr>
              <a:t>Interactive Dashboard</a:t>
            </a:r>
            <a:endParaRPr lang="en-US" sz="1400" dirty="0">
              <a:latin typeface="Comic Sans MS" panose="030F0702030302020204" pitchFamily="66" charset="0"/>
            </a:endParaRPr>
          </a:p>
        </p:txBody>
      </p:sp>
      <p:sp>
        <p:nvSpPr>
          <p:cNvPr id="29" name="Shape 21"/>
          <p:cNvSpPr/>
          <p:nvPr/>
        </p:nvSpPr>
        <p:spPr>
          <a:xfrm>
            <a:off x="3248060" y="2710893"/>
            <a:ext cx="2662238" cy="540841"/>
          </a:xfrm>
          <a:prstGeom prst="roundRect">
            <a:avLst>
              <a:gd name="adj" fmla="val 5991"/>
            </a:avLst>
          </a:prstGeom>
          <a:solidFill>
            <a:srgbClr val="542C49"/>
          </a:solidFill>
          <a:ln w="4763">
            <a:solidFill>
              <a:srgbClr val="6D4562"/>
            </a:solidFill>
            <a:prstDash val="solid"/>
          </a:ln>
        </p:spPr>
        <p:txBody>
          <a:bodyPr/>
          <a:lstStyle/>
          <a:p>
            <a:endParaRPr lang="en-IN">
              <a:latin typeface="Comic Sans MS" panose="030F0702030302020204" pitchFamily="66" charset="0"/>
            </a:endParaRPr>
          </a:p>
        </p:txBody>
      </p:sp>
      <p:sp>
        <p:nvSpPr>
          <p:cNvPr id="30" name="Shape 22"/>
          <p:cNvSpPr/>
          <p:nvPr/>
        </p:nvSpPr>
        <p:spPr>
          <a:xfrm>
            <a:off x="3329915" y="2792748"/>
            <a:ext cx="231428" cy="231428"/>
          </a:xfrm>
          <a:prstGeom prst="ellipse">
            <a:avLst/>
          </a:prstGeom>
          <a:solidFill>
            <a:srgbClr val="A95B95"/>
          </a:solidFill>
          <a:ln/>
        </p:spPr>
      </p:sp>
      <p:pic>
        <p:nvPicPr>
          <p:cNvPr id="31"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393539" y="2856372"/>
            <a:ext cx="104105" cy="104105"/>
          </a:xfrm>
          <a:prstGeom prst="rect">
            <a:avLst/>
          </a:prstGeom>
        </p:spPr>
      </p:pic>
      <p:sp>
        <p:nvSpPr>
          <p:cNvPr id="32" name="Text 23"/>
          <p:cNvSpPr/>
          <p:nvPr/>
        </p:nvSpPr>
        <p:spPr>
          <a:xfrm>
            <a:off x="3329915" y="3032242"/>
            <a:ext cx="2498527" cy="107156"/>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Comic Sans MS" panose="030F0702030302020204" pitchFamily="66" charset="0"/>
                <a:ea typeface="Prompt Medium" pitchFamily="34" charset="-122"/>
                <a:cs typeface="Prompt Medium" pitchFamily="34" charset="-120"/>
              </a:rPr>
              <a:t>Mission Report Generation</a:t>
            </a:r>
            <a:endParaRPr lang="en-US" sz="1400" dirty="0">
              <a:latin typeface="Comic Sans MS" panose="030F0702030302020204" pitchFamily="66" charset="0"/>
            </a:endParaRPr>
          </a:p>
        </p:txBody>
      </p:sp>
      <p:sp>
        <p:nvSpPr>
          <p:cNvPr id="63" name="Text 52"/>
          <p:cNvSpPr/>
          <p:nvPr/>
        </p:nvSpPr>
        <p:spPr>
          <a:xfrm>
            <a:off x="566922" y="3573083"/>
            <a:ext cx="7836621" cy="712109"/>
          </a:xfrm>
          <a:prstGeom prst="rect">
            <a:avLst/>
          </a:prstGeom>
          <a:noFill/>
          <a:ln/>
        </p:spPr>
        <p:txBody>
          <a:bodyPr wrap="none" lIns="0" tIns="0" rIns="0" bIns="0" rtlCol="0" anchor="t"/>
          <a:lstStyle/>
          <a:p>
            <a:pPr marL="0" indent="0" algn="l">
              <a:lnSpc>
                <a:spcPct val="100000"/>
              </a:lnSpc>
              <a:buNone/>
            </a:pPr>
            <a:r>
              <a:rPr lang="en-US" dirty="0">
                <a:solidFill>
                  <a:srgbClr val="DAD8E9"/>
                </a:solidFill>
                <a:latin typeface="Century" panose="02040604050505020304" pitchFamily="18" charset="0"/>
                <a:ea typeface="Mukta Light" pitchFamily="34" charset="-122"/>
                <a:cs typeface="Mukta Light" pitchFamily="34" charset="-120"/>
              </a:rPr>
              <a:t>From lunar dataset to full mission dashboard — Lunar AI delivers a complete, </a:t>
            </a:r>
          </a:p>
          <a:p>
            <a:pPr marL="0" indent="0" algn="l">
              <a:lnSpc>
                <a:spcPct val="100000"/>
              </a:lnSpc>
              <a:buNone/>
            </a:pPr>
            <a:r>
              <a:rPr lang="en-US" dirty="0">
                <a:solidFill>
                  <a:srgbClr val="DAD8E9"/>
                </a:solidFill>
                <a:latin typeface="Century" panose="02040604050505020304" pitchFamily="18" charset="0"/>
                <a:ea typeface="Mukta Light" pitchFamily="34" charset="-122"/>
                <a:cs typeface="Mukta Light" pitchFamily="34" charset="-120"/>
              </a:rPr>
              <a:t>production-ready pipeline for autonomous space exploration.</a:t>
            </a:r>
            <a:endParaRPr lang="en-US" dirty="0">
              <a:latin typeface="Century" panose="02040604050505020304" pitchFamily="18" charset="0"/>
            </a:endParaRPr>
          </a:p>
        </p:txBody>
      </p:sp>
      <p:sp>
        <p:nvSpPr>
          <p:cNvPr id="65" name="Rectangle 64">
            <a:extLst>
              <a:ext uri="{FF2B5EF4-FFF2-40B4-BE49-F238E27FC236}">
                <a16:creationId xmlns:a16="http://schemas.microsoft.com/office/drawing/2014/main" id="{9BAF51B1-15D6-DA1E-E645-D0339F274C55}"/>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1" name="Picture 70">
            <a:extLst>
              <a:ext uri="{FF2B5EF4-FFF2-40B4-BE49-F238E27FC236}">
                <a16:creationId xmlns:a16="http://schemas.microsoft.com/office/drawing/2014/main" id="{64A945BA-D5E7-C964-00C0-E883720DB80E}"/>
              </a:ext>
            </a:extLst>
          </p:cNvPr>
          <p:cNvPicPr>
            <a:picLocks noChangeAspect="1"/>
          </p:cNvPicPr>
          <p:nvPr/>
        </p:nvPicPr>
        <p:blipFill>
          <a:blip r:embed="rId10"/>
          <a:stretch>
            <a:fillRect/>
          </a:stretch>
        </p:blipFill>
        <p:spPr>
          <a:xfrm>
            <a:off x="75789" y="4632828"/>
            <a:ext cx="441052" cy="441052"/>
          </a:xfrm>
          <a:prstGeom prst="rect">
            <a:avLst/>
          </a:prstGeom>
        </p:spPr>
      </p:pic>
      <p:sp>
        <p:nvSpPr>
          <p:cNvPr id="42" name="Action Button: Go Forward or Next 41">
            <a:hlinkClick r:id="" action="ppaction://hlinkshowjump?jump=nextslide" highlightClick="1"/>
            <a:extLst>
              <a:ext uri="{FF2B5EF4-FFF2-40B4-BE49-F238E27FC236}">
                <a16:creationId xmlns:a16="http://schemas.microsoft.com/office/drawing/2014/main" id="{CFC8784E-8C8F-7399-1066-95F72196CB15}"/>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Action Button: Go Back or Previous 43">
            <a:hlinkClick r:id="" action="ppaction://hlinkshowjump?jump=previousslide" highlightClick="1"/>
            <a:extLst>
              <a:ext uri="{FF2B5EF4-FFF2-40B4-BE49-F238E27FC236}">
                <a16:creationId xmlns:a16="http://schemas.microsoft.com/office/drawing/2014/main" id="{623288C6-F217-0D5F-DAD6-D11534052C69}"/>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4257E6C-A472-FFBC-CA92-93E446280625}"/>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400" dirty="0"/>
          </a:p>
        </p:txBody>
      </p:sp>
      <p:sp>
        <p:nvSpPr>
          <p:cNvPr id="9" name="Text 30">
            <a:extLst>
              <a:ext uri="{FF2B5EF4-FFF2-40B4-BE49-F238E27FC236}">
                <a16:creationId xmlns:a16="http://schemas.microsoft.com/office/drawing/2014/main" id="{910B6B9C-5CFA-B4D8-CD0A-3F40F62F42A5}"/>
              </a:ext>
            </a:extLst>
          </p:cNvPr>
          <p:cNvSpPr/>
          <p:nvPr/>
        </p:nvSpPr>
        <p:spPr>
          <a:xfrm>
            <a:off x="336686" y="266910"/>
            <a:ext cx="4519205" cy="360822"/>
          </a:xfrm>
          <a:prstGeom prst="rect">
            <a:avLst/>
          </a:prstGeom>
          <a:noFill/>
          <a:ln/>
        </p:spPr>
        <p:txBody>
          <a:bodyPr wrap="none" lIns="0" tIns="0" rIns="0" bIns="0" rtlCol="0" anchor="t"/>
          <a:lstStyle/>
          <a:p>
            <a:pPr marL="0" indent="0" algn="l">
              <a:lnSpc>
                <a:spcPct val="104000"/>
              </a:lnSpc>
              <a:buNone/>
            </a:pPr>
            <a:r>
              <a:rPr lang="en-US" sz="2400" dirty="0">
                <a:solidFill>
                  <a:srgbClr val="00FFCC"/>
                </a:solidFill>
                <a:latin typeface="Broadway" panose="04040905080B02020502" pitchFamily="82" charset="0"/>
                <a:ea typeface="Prompt Medium" pitchFamily="34" charset="-122"/>
                <a:cs typeface="Prompt Medium" pitchFamily="34" charset="-120"/>
              </a:rPr>
              <a:t>Development Roadmap</a:t>
            </a:r>
            <a:endParaRPr lang="en-US" sz="2400" dirty="0">
              <a:solidFill>
                <a:srgbClr val="00FFCC"/>
              </a:solidFill>
              <a:latin typeface="Broadway" panose="04040905080B02020502" pitchFamily="82" charset="0"/>
            </a:endParaRPr>
          </a:p>
        </p:txBody>
      </p:sp>
      <p:sp>
        <p:nvSpPr>
          <p:cNvPr id="11" name="Shape 31">
            <a:extLst>
              <a:ext uri="{FF2B5EF4-FFF2-40B4-BE49-F238E27FC236}">
                <a16:creationId xmlns:a16="http://schemas.microsoft.com/office/drawing/2014/main" id="{AF22DB9C-6904-DD57-95AD-10D7A177D9A7}"/>
              </a:ext>
            </a:extLst>
          </p:cNvPr>
          <p:cNvSpPr/>
          <p:nvPr/>
        </p:nvSpPr>
        <p:spPr>
          <a:xfrm flipH="1">
            <a:off x="4260034" y="1244790"/>
            <a:ext cx="45719" cy="2831435"/>
          </a:xfrm>
          <a:prstGeom prst="roundRect">
            <a:avLst>
              <a:gd name="adj" fmla="val 340200"/>
            </a:avLst>
          </a:prstGeom>
          <a:solidFill>
            <a:srgbClr val="6D4562"/>
          </a:solidFill>
          <a:ln/>
        </p:spPr>
      </p:sp>
      <p:sp>
        <p:nvSpPr>
          <p:cNvPr id="13" name="Shape 32">
            <a:extLst>
              <a:ext uri="{FF2B5EF4-FFF2-40B4-BE49-F238E27FC236}">
                <a16:creationId xmlns:a16="http://schemas.microsoft.com/office/drawing/2014/main" id="{1AEB91ED-B5DD-51C1-05DA-BB706A5E2D60}"/>
              </a:ext>
            </a:extLst>
          </p:cNvPr>
          <p:cNvSpPr/>
          <p:nvPr/>
        </p:nvSpPr>
        <p:spPr>
          <a:xfrm>
            <a:off x="3971368" y="1326795"/>
            <a:ext cx="231428" cy="9525"/>
          </a:xfrm>
          <a:prstGeom prst="roundRect">
            <a:avLst>
              <a:gd name="adj" fmla="val 340200"/>
            </a:avLst>
          </a:prstGeom>
          <a:solidFill>
            <a:srgbClr val="6D4562"/>
          </a:solidFill>
          <a:ln/>
        </p:spPr>
      </p:sp>
      <p:sp>
        <p:nvSpPr>
          <p:cNvPr id="15" name="Shape 33">
            <a:extLst>
              <a:ext uri="{FF2B5EF4-FFF2-40B4-BE49-F238E27FC236}">
                <a16:creationId xmlns:a16="http://schemas.microsoft.com/office/drawing/2014/main" id="{9328BCA7-ED04-F8E2-BFBD-50275F34FCFB}"/>
              </a:ext>
            </a:extLst>
          </p:cNvPr>
          <p:cNvSpPr/>
          <p:nvPr/>
        </p:nvSpPr>
        <p:spPr>
          <a:xfrm>
            <a:off x="4193271" y="1244791"/>
            <a:ext cx="173534" cy="173534"/>
          </a:xfrm>
          <a:prstGeom prst="roundRect">
            <a:avLst>
              <a:gd name="adj" fmla="val 18673"/>
            </a:avLst>
          </a:prstGeom>
          <a:solidFill>
            <a:srgbClr val="542C49"/>
          </a:solidFill>
          <a:ln w="4763">
            <a:solidFill>
              <a:srgbClr val="6D4562"/>
            </a:solidFill>
            <a:prstDash val="solid"/>
          </a:ln>
        </p:spPr>
      </p:sp>
      <p:sp>
        <p:nvSpPr>
          <p:cNvPr id="17" name="Text 34">
            <a:extLst>
              <a:ext uri="{FF2B5EF4-FFF2-40B4-BE49-F238E27FC236}">
                <a16:creationId xmlns:a16="http://schemas.microsoft.com/office/drawing/2014/main" id="{3FB228D8-86CD-F84F-9422-650DFFD396B1}"/>
              </a:ext>
            </a:extLst>
          </p:cNvPr>
          <p:cNvSpPr/>
          <p:nvPr/>
        </p:nvSpPr>
        <p:spPr>
          <a:xfrm>
            <a:off x="4228618" y="1267264"/>
            <a:ext cx="102840" cy="128588"/>
          </a:xfrm>
          <a:prstGeom prst="rect">
            <a:avLst/>
          </a:prstGeom>
          <a:noFill/>
          <a:ln/>
        </p:spPr>
        <p:txBody>
          <a:bodyPr wrap="none" lIns="0" tIns="0" rIns="0" bIns="0" rtlCol="0" anchor="ctr"/>
          <a:lstStyle/>
          <a:p>
            <a:pPr marL="0" indent="0" algn="ctr">
              <a:lnSpc>
                <a:spcPct val="100000"/>
              </a:lnSpc>
              <a:buNone/>
            </a:pPr>
            <a:r>
              <a:rPr lang="en-US" sz="2000" dirty="0">
                <a:solidFill>
                  <a:srgbClr val="DAD8E9"/>
                </a:solidFill>
                <a:latin typeface="Prompt Medium" pitchFamily="34" charset="0"/>
                <a:ea typeface="Prompt Medium" pitchFamily="34" charset="-122"/>
                <a:cs typeface="Prompt Medium" pitchFamily="34" charset="-120"/>
              </a:rPr>
              <a:t>1</a:t>
            </a:r>
            <a:endParaRPr lang="en-US" sz="2000" dirty="0"/>
          </a:p>
        </p:txBody>
      </p:sp>
      <p:sp>
        <p:nvSpPr>
          <p:cNvPr id="19" name="Text 35">
            <a:extLst>
              <a:ext uri="{FF2B5EF4-FFF2-40B4-BE49-F238E27FC236}">
                <a16:creationId xmlns:a16="http://schemas.microsoft.com/office/drawing/2014/main" id="{E1DC65F6-0796-7201-B26B-FA4F4E3971CE}"/>
              </a:ext>
            </a:extLst>
          </p:cNvPr>
          <p:cNvSpPr/>
          <p:nvPr/>
        </p:nvSpPr>
        <p:spPr>
          <a:xfrm>
            <a:off x="248061" y="1244791"/>
            <a:ext cx="3646215" cy="107156"/>
          </a:xfrm>
          <a:prstGeom prst="rect">
            <a:avLst/>
          </a:prstGeom>
          <a:noFill/>
          <a:ln/>
        </p:spPr>
        <p:txBody>
          <a:bodyPr wrap="none" lIns="0" tIns="0" rIns="0" bIns="0" rtlCol="0" anchor="t"/>
          <a:lstStyle/>
          <a:p>
            <a:pPr marL="0" indent="0" algn="r">
              <a:lnSpc>
                <a:spcPct val="104000"/>
              </a:lnSpc>
              <a:buNone/>
            </a:pPr>
            <a:r>
              <a:rPr lang="en-US" dirty="0">
                <a:solidFill>
                  <a:srgbClr val="DAD8E9"/>
                </a:solidFill>
                <a:latin typeface="Lucida Handwriting" panose="03010101010101010101" pitchFamily="66" charset="0"/>
                <a:ea typeface="Prompt Medium" pitchFamily="34" charset="-122"/>
                <a:cs typeface="Prompt Medium" pitchFamily="34" charset="-120"/>
              </a:rPr>
              <a:t>Phase 1</a:t>
            </a:r>
            <a:endParaRPr lang="en-US" dirty="0">
              <a:latin typeface="Lucida Handwriting" panose="03010101010101010101" pitchFamily="66" charset="0"/>
            </a:endParaRPr>
          </a:p>
        </p:txBody>
      </p:sp>
      <p:sp>
        <p:nvSpPr>
          <p:cNvPr id="21" name="Text 36">
            <a:extLst>
              <a:ext uri="{FF2B5EF4-FFF2-40B4-BE49-F238E27FC236}">
                <a16:creationId xmlns:a16="http://schemas.microsoft.com/office/drawing/2014/main" id="{47A83768-656D-275E-4881-844FE4652C7B}"/>
              </a:ext>
            </a:extLst>
          </p:cNvPr>
          <p:cNvSpPr/>
          <p:nvPr/>
        </p:nvSpPr>
        <p:spPr>
          <a:xfrm>
            <a:off x="1299857" y="1511503"/>
            <a:ext cx="2787225" cy="464258"/>
          </a:xfrm>
          <a:prstGeom prst="rect">
            <a:avLst/>
          </a:prstGeom>
          <a:noFill/>
          <a:ln/>
        </p:spPr>
        <p:txBody>
          <a:bodyPr wrap="none" lIns="0" tIns="0" rIns="0" bIns="0" rtlCol="0" anchor="t"/>
          <a:lstStyle/>
          <a:p>
            <a:pPr marL="0" indent="0" algn="r">
              <a:lnSpc>
                <a:spcPct val="100000"/>
              </a:lnSpc>
              <a:buNone/>
            </a:pPr>
            <a:r>
              <a:rPr lang="en-US" sz="1600" dirty="0">
                <a:solidFill>
                  <a:srgbClr val="DAD8E9"/>
                </a:solidFill>
                <a:latin typeface="Georgia" panose="02040502050405020303" pitchFamily="18" charset="0"/>
                <a:ea typeface="Mukta Light" pitchFamily="34" charset="-122"/>
                <a:cs typeface="Mukta Light" pitchFamily="34" charset="-120"/>
              </a:rPr>
              <a:t>Dataset collection, preprocessing, </a:t>
            </a:r>
          </a:p>
          <a:p>
            <a:pPr marL="0" indent="0" algn="r">
              <a:lnSpc>
                <a:spcPct val="100000"/>
              </a:lnSpc>
              <a:buNone/>
            </a:pPr>
            <a:r>
              <a:rPr lang="en-US" sz="1600" dirty="0">
                <a:solidFill>
                  <a:srgbClr val="DAD8E9"/>
                </a:solidFill>
                <a:latin typeface="Georgia" panose="02040502050405020303" pitchFamily="18" charset="0"/>
                <a:ea typeface="Mukta Light" pitchFamily="34" charset="-122"/>
                <a:cs typeface="Mukta Light" pitchFamily="34" charset="-120"/>
              </a:rPr>
              <a:t>and crater detection model</a:t>
            </a:r>
            <a:endParaRPr lang="en-US" sz="1600" dirty="0">
              <a:latin typeface="Georgia" panose="02040502050405020303" pitchFamily="18" charset="0"/>
            </a:endParaRPr>
          </a:p>
        </p:txBody>
      </p:sp>
      <p:sp>
        <p:nvSpPr>
          <p:cNvPr id="23" name="Shape 37">
            <a:extLst>
              <a:ext uri="{FF2B5EF4-FFF2-40B4-BE49-F238E27FC236}">
                <a16:creationId xmlns:a16="http://schemas.microsoft.com/office/drawing/2014/main" id="{49C1AD17-BB14-5A89-ACC8-217554E5646B}"/>
              </a:ext>
            </a:extLst>
          </p:cNvPr>
          <p:cNvSpPr/>
          <p:nvPr/>
        </p:nvSpPr>
        <p:spPr>
          <a:xfrm>
            <a:off x="4357280" y="2238263"/>
            <a:ext cx="231428" cy="9525"/>
          </a:xfrm>
          <a:prstGeom prst="roundRect">
            <a:avLst>
              <a:gd name="adj" fmla="val 340200"/>
            </a:avLst>
          </a:prstGeom>
          <a:solidFill>
            <a:srgbClr val="6D4562"/>
          </a:solidFill>
          <a:ln/>
        </p:spPr>
      </p:sp>
      <p:sp>
        <p:nvSpPr>
          <p:cNvPr id="25" name="Shape 38">
            <a:extLst>
              <a:ext uri="{FF2B5EF4-FFF2-40B4-BE49-F238E27FC236}">
                <a16:creationId xmlns:a16="http://schemas.microsoft.com/office/drawing/2014/main" id="{D32E4F36-DB86-14E8-EEFD-D17537E2DD14}"/>
              </a:ext>
            </a:extLst>
          </p:cNvPr>
          <p:cNvSpPr/>
          <p:nvPr/>
        </p:nvSpPr>
        <p:spPr>
          <a:xfrm>
            <a:off x="4193271" y="2156259"/>
            <a:ext cx="173534" cy="173534"/>
          </a:xfrm>
          <a:prstGeom prst="roundRect">
            <a:avLst>
              <a:gd name="adj" fmla="val 18673"/>
            </a:avLst>
          </a:prstGeom>
          <a:solidFill>
            <a:srgbClr val="542C49"/>
          </a:solidFill>
          <a:ln w="4763">
            <a:solidFill>
              <a:srgbClr val="6D4562"/>
            </a:solidFill>
            <a:prstDash val="solid"/>
          </a:ln>
        </p:spPr>
      </p:sp>
      <p:sp>
        <p:nvSpPr>
          <p:cNvPr id="27" name="Text 39">
            <a:extLst>
              <a:ext uri="{FF2B5EF4-FFF2-40B4-BE49-F238E27FC236}">
                <a16:creationId xmlns:a16="http://schemas.microsoft.com/office/drawing/2014/main" id="{D91BF60B-129E-DB56-408E-CA30C48BF421}"/>
              </a:ext>
            </a:extLst>
          </p:cNvPr>
          <p:cNvSpPr/>
          <p:nvPr/>
        </p:nvSpPr>
        <p:spPr>
          <a:xfrm>
            <a:off x="4228618" y="2178732"/>
            <a:ext cx="102840" cy="128588"/>
          </a:xfrm>
          <a:prstGeom prst="rect">
            <a:avLst/>
          </a:prstGeom>
          <a:noFill/>
          <a:ln/>
        </p:spPr>
        <p:txBody>
          <a:bodyPr wrap="none" lIns="0" tIns="0" rIns="0" bIns="0" rtlCol="0" anchor="ctr"/>
          <a:lstStyle/>
          <a:p>
            <a:pPr marL="0" indent="0" algn="ctr">
              <a:lnSpc>
                <a:spcPct val="100000"/>
              </a:lnSpc>
              <a:buNone/>
            </a:pPr>
            <a:r>
              <a:rPr lang="en-US" sz="2000" dirty="0">
                <a:solidFill>
                  <a:srgbClr val="DAD8E9"/>
                </a:solidFill>
                <a:latin typeface="Prompt Medium" pitchFamily="34" charset="0"/>
                <a:ea typeface="Prompt Medium" pitchFamily="34" charset="-122"/>
                <a:cs typeface="Prompt Medium" pitchFamily="34" charset="-120"/>
              </a:rPr>
              <a:t>2</a:t>
            </a:r>
            <a:endParaRPr lang="en-US" sz="2000" dirty="0"/>
          </a:p>
        </p:txBody>
      </p:sp>
      <p:sp>
        <p:nvSpPr>
          <p:cNvPr id="29" name="Text 40">
            <a:extLst>
              <a:ext uri="{FF2B5EF4-FFF2-40B4-BE49-F238E27FC236}">
                <a16:creationId xmlns:a16="http://schemas.microsoft.com/office/drawing/2014/main" id="{0CBB69D8-FA08-C7DD-81F2-27FAAB7C25EB}"/>
              </a:ext>
            </a:extLst>
          </p:cNvPr>
          <p:cNvSpPr/>
          <p:nvPr/>
        </p:nvSpPr>
        <p:spPr>
          <a:xfrm>
            <a:off x="4665801" y="2102681"/>
            <a:ext cx="3646215" cy="107156"/>
          </a:xfrm>
          <a:prstGeom prst="rect">
            <a:avLst/>
          </a:prstGeom>
          <a:noFill/>
          <a:ln/>
        </p:spPr>
        <p:txBody>
          <a:bodyPr wrap="none" lIns="0" tIns="0" rIns="0" bIns="0" rtlCol="0" anchor="t"/>
          <a:lstStyle/>
          <a:p>
            <a:pPr marL="0" indent="0" algn="l">
              <a:lnSpc>
                <a:spcPct val="104000"/>
              </a:lnSpc>
              <a:buNone/>
            </a:pPr>
            <a:r>
              <a:rPr lang="en-US" dirty="0">
                <a:solidFill>
                  <a:srgbClr val="DAD8E9"/>
                </a:solidFill>
                <a:latin typeface="Lucida Handwriting" panose="03010101010101010101" pitchFamily="66" charset="0"/>
                <a:ea typeface="Prompt Medium" pitchFamily="34" charset="-122"/>
                <a:cs typeface="Prompt Medium" pitchFamily="34" charset="-120"/>
              </a:rPr>
              <a:t>Phase 2</a:t>
            </a:r>
            <a:endParaRPr lang="en-US" dirty="0">
              <a:latin typeface="Lucida Handwriting" panose="03010101010101010101" pitchFamily="66" charset="0"/>
            </a:endParaRPr>
          </a:p>
        </p:txBody>
      </p:sp>
      <p:sp>
        <p:nvSpPr>
          <p:cNvPr id="31" name="Text 41">
            <a:extLst>
              <a:ext uri="{FF2B5EF4-FFF2-40B4-BE49-F238E27FC236}">
                <a16:creationId xmlns:a16="http://schemas.microsoft.com/office/drawing/2014/main" id="{81164062-C047-7421-3534-D34A037A2D90}"/>
              </a:ext>
            </a:extLst>
          </p:cNvPr>
          <p:cNvSpPr/>
          <p:nvPr/>
        </p:nvSpPr>
        <p:spPr>
          <a:xfrm>
            <a:off x="4671775" y="2420205"/>
            <a:ext cx="3409235" cy="590476"/>
          </a:xfrm>
          <a:prstGeom prst="rect">
            <a:avLst/>
          </a:prstGeom>
          <a:noFill/>
          <a:ln/>
        </p:spPr>
        <p:txBody>
          <a:bodyPr wrap="none" lIns="0" tIns="0" rIns="0" bIns="0" rtlCol="0" anchor="t"/>
          <a:lstStyle/>
          <a:p>
            <a:pPr marL="0" indent="0" algn="l">
              <a:lnSpc>
                <a:spcPct val="100000"/>
              </a:lnSpc>
              <a:buNone/>
            </a:pPr>
            <a:r>
              <a:rPr lang="en-US" sz="1600" dirty="0">
                <a:solidFill>
                  <a:srgbClr val="DAD8E9"/>
                </a:solidFill>
                <a:latin typeface="Georgia" panose="02040502050405020303" pitchFamily="18" charset="0"/>
                <a:ea typeface="Mukta Light" pitchFamily="34" charset="-122"/>
                <a:cs typeface="Mukta Light" pitchFamily="34" charset="-120"/>
              </a:rPr>
              <a:t>Hazard map generation, safety scoring, </a:t>
            </a:r>
          </a:p>
          <a:p>
            <a:pPr marL="0" indent="0" algn="l">
              <a:lnSpc>
                <a:spcPct val="100000"/>
              </a:lnSpc>
              <a:buNone/>
            </a:pPr>
            <a:r>
              <a:rPr lang="en-US" sz="1600" dirty="0">
                <a:solidFill>
                  <a:srgbClr val="DAD8E9"/>
                </a:solidFill>
                <a:latin typeface="Georgia" panose="02040502050405020303" pitchFamily="18" charset="0"/>
                <a:ea typeface="Mukta Light" pitchFamily="34" charset="-122"/>
                <a:cs typeface="Mukta Light" pitchFamily="34" charset="-120"/>
              </a:rPr>
              <a:t>and landing recommendation</a:t>
            </a:r>
            <a:endParaRPr lang="en-US" sz="1600" dirty="0">
              <a:latin typeface="Georgia" panose="02040502050405020303" pitchFamily="18" charset="0"/>
            </a:endParaRPr>
          </a:p>
        </p:txBody>
      </p:sp>
      <p:sp>
        <p:nvSpPr>
          <p:cNvPr id="33" name="Shape 42">
            <a:extLst>
              <a:ext uri="{FF2B5EF4-FFF2-40B4-BE49-F238E27FC236}">
                <a16:creationId xmlns:a16="http://schemas.microsoft.com/office/drawing/2014/main" id="{5B8ACAF9-1BBB-CE16-99CC-93CFD018BD57}"/>
              </a:ext>
            </a:extLst>
          </p:cNvPr>
          <p:cNvSpPr/>
          <p:nvPr/>
        </p:nvSpPr>
        <p:spPr>
          <a:xfrm>
            <a:off x="3971368" y="3010131"/>
            <a:ext cx="231428" cy="9525"/>
          </a:xfrm>
          <a:prstGeom prst="roundRect">
            <a:avLst>
              <a:gd name="adj" fmla="val 340200"/>
            </a:avLst>
          </a:prstGeom>
          <a:solidFill>
            <a:srgbClr val="6D4562"/>
          </a:solidFill>
          <a:ln/>
        </p:spPr>
      </p:sp>
      <p:sp>
        <p:nvSpPr>
          <p:cNvPr id="35" name="Shape 43">
            <a:extLst>
              <a:ext uri="{FF2B5EF4-FFF2-40B4-BE49-F238E27FC236}">
                <a16:creationId xmlns:a16="http://schemas.microsoft.com/office/drawing/2014/main" id="{366179CD-99BE-9D9C-3E2E-4CA9E77C19B5}"/>
              </a:ext>
            </a:extLst>
          </p:cNvPr>
          <p:cNvSpPr/>
          <p:nvPr/>
        </p:nvSpPr>
        <p:spPr>
          <a:xfrm>
            <a:off x="4193271" y="2928126"/>
            <a:ext cx="173534" cy="173534"/>
          </a:xfrm>
          <a:prstGeom prst="roundRect">
            <a:avLst>
              <a:gd name="adj" fmla="val 18673"/>
            </a:avLst>
          </a:prstGeom>
          <a:solidFill>
            <a:srgbClr val="542C49"/>
          </a:solidFill>
          <a:ln w="4763">
            <a:solidFill>
              <a:srgbClr val="6D4562"/>
            </a:solidFill>
            <a:prstDash val="solid"/>
          </a:ln>
        </p:spPr>
      </p:sp>
      <p:sp>
        <p:nvSpPr>
          <p:cNvPr id="37" name="Text 44">
            <a:extLst>
              <a:ext uri="{FF2B5EF4-FFF2-40B4-BE49-F238E27FC236}">
                <a16:creationId xmlns:a16="http://schemas.microsoft.com/office/drawing/2014/main" id="{34223C62-0C26-31E1-C280-7827A779C25E}"/>
              </a:ext>
            </a:extLst>
          </p:cNvPr>
          <p:cNvSpPr/>
          <p:nvPr/>
        </p:nvSpPr>
        <p:spPr>
          <a:xfrm>
            <a:off x="4228618" y="2950599"/>
            <a:ext cx="102840" cy="128588"/>
          </a:xfrm>
          <a:prstGeom prst="rect">
            <a:avLst/>
          </a:prstGeom>
          <a:noFill/>
          <a:ln/>
        </p:spPr>
        <p:txBody>
          <a:bodyPr wrap="none" lIns="0" tIns="0" rIns="0" bIns="0" rtlCol="0" anchor="ctr"/>
          <a:lstStyle/>
          <a:p>
            <a:pPr marL="0" indent="0" algn="ctr">
              <a:lnSpc>
                <a:spcPct val="100000"/>
              </a:lnSpc>
              <a:buNone/>
            </a:pPr>
            <a:r>
              <a:rPr lang="en-US" sz="2000" dirty="0">
                <a:solidFill>
                  <a:srgbClr val="DAD8E9"/>
                </a:solidFill>
                <a:latin typeface="Prompt Medium" pitchFamily="34" charset="0"/>
                <a:ea typeface="Prompt Medium" pitchFamily="34" charset="-122"/>
                <a:cs typeface="Prompt Medium" pitchFamily="34" charset="-120"/>
              </a:rPr>
              <a:t>3</a:t>
            </a:r>
            <a:endParaRPr lang="en-US" sz="2000" dirty="0"/>
          </a:p>
        </p:txBody>
      </p:sp>
      <p:sp>
        <p:nvSpPr>
          <p:cNvPr id="39" name="Text 45">
            <a:extLst>
              <a:ext uri="{FF2B5EF4-FFF2-40B4-BE49-F238E27FC236}">
                <a16:creationId xmlns:a16="http://schemas.microsoft.com/office/drawing/2014/main" id="{5E0E02E1-4AD8-532C-902E-1057C9704DBA}"/>
              </a:ext>
            </a:extLst>
          </p:cNvPr>
          <p:cNvSpPr/>
          <p:nvPr/>
        </p:nvSpPr>
        <p:spPr>
          <a:xfrm>
            <a:off x="289806" y="2924729"/>
            <a:ext cx="3646215" cy="107156"/>
          </a:xfrm>
          <a:prstGeom prst="rect">
            <a:avLst/>
          </a:prstGeom>
          <a:noFill/>
          <a:ln/>
        </p:spPr>
        <p:txBody>
          <a:bodyPr wrap="none" lIns="0" tIns="0" rIns="0" bIns="0" rtlCol="0" anchor="t"/>
          <a:lstStyle/>
          <a:p>
            <a:pPr marL="0" indent="0" algn="r">
              <a:lnSpc>
                <a:spcPct val="104000"/>
              </a:lnSpc>
              <a:buNone/>
            </a:pPr>
            <a:r>
              <a:rPr lang="en-US" dirty="0">
                <a:solidFill>
                  <a:srgbClr val="DAD8E9"/>
                </a:solidFill>
                <a:latin typeface="Lucida Handwriting" panose="03010101010101010101" pitchFamily="66" charset="0"/>
                <a:ea typeface="Prompt Medium" pitchFamily="34" charset="-122"/>
                <a:cs typeface="Prompt Medium" pitchFamily="34" charset="-120"/>
              </a:rPr>
              <a:t>Phase 3</a:t>
            </a:r>
            <a:endParaRPr lang="en-US" dirty="0">
              <a:latin typeface="Lucida Handwriting" panose="03010101010101010101" pitchFamily="66" charset="0"/>
            </a:endParaRPr>
          </a:p>
        </p:txBody>
      </p:sp>
      <p:sp>
        <p:nvSpPr>
          <p:cNvPr id="41" name="Text 46">
            <a:extLst>
              <a:ext uri="{FF2B5EF4-FFF2-40B4-BE49-F238E27FC236}">
                <a16:creationId xmlns:a16="http://schemas.microsoft.com/office/drawing/2014/main" id="{FF89E5B8-EB4F-1355-6459-B8F4A55ABA54}"/>
              </a:ext>
            </a:extLst>
          </p:cNvPr>
          <p:cNvSpPr/>
          <p:nvPr/>
        </p:nvSpPr>
        <p:spPr>
          <a:xfrm>
            <a:off x="654001" y="3179868"/>
            <a:ext cx="3317368" cy="625823"/>
          </a:xfrm>
          <a:prstGeom prst="rect">
            <a:avLst/>
          </a:prstGeom>
          <a:noFill/>
          <a:ln/>
        </p:spPr>
        <p:txBody>
          <a:bodyPr wrap="none" lIns="0" tIns="0" rIns="0" bIns="0" rtlCol="0" anchor="t"/>
          <a:lstStyle/>
          <a:p>
            <a:pPr marL="0" indent="0" algn="r">
              <a:lnSpc>
                <a:spcPct val="100000"/>
              </a:lnSpc>
              <a:buNone/>
            </a:pPr>
            <a:r>
              <a:rPr lang="en-US" sz="1600" dirty="0">
                <a:solidFill>
                  <a:srgbClr val="DAD8E9"/>
                </a:solidFill>
                <a:latin typeface="Georgia" panose="02040502050405020303" pitchFamily="18" charset="0"/>
                <a:ea typeface="Mukta Light" pitchFamily="34" charset="-122"/>
                <a:cs typeface="Mukta Light" pitchFamily="34" charset="-120"/>
              </a:rPr>
              <a:t>Rover path planning,</a:t>
            </a:r>
          </a:p>
          <a:p>
            <a:pPr marL="0" indent="0" algn="r">
              <a:lnSpc>
                <a:spcPct val="100000"/>
              </a:lnSpc>
              <a:buNone/>
            </a:pPr>
            <a:r>
              <a:rPr lang="en-US" sz="1600" dirty="0">
                <a:solidFill>
                  <a:srgbClr val="DAD8E9"/>
                </a:solidFill>
                <a:latin typeface="Georgia" panose="02040502050405020303" pitchFamily="18" charset="0"/>
                <a:ea typeface="Mukta Light" pitchFamily="34" charset="-122"/>
                <a:cs typeface="Mukta Light" pitchFamily="34" charset="-120"/>
              </a:rPr>
              <a:t> dashboard integration, and testing</a:t>
            </a:r>
            <a:endParaRPr lang="en-US" sz="1600" dirty="0">
              <a:latin typeface="Georgia" panose="02040502050405020303" pitchFamily="18" charset="0"/>
            </a:endParaRPr>
          </a:p>
        </p:txBody>
      </p:sp>
      <p:sp>
        <p:nvSpPr>
          <p:cNvPr id="43" name="Shape 47">
            <a:extLst>
              <a:ext uri="{FF2B5EF4-FFF2-40B4-BE49-F238E27FC236}">
                <a16:creationId xmlns:a16="http://schemas.microsoft.com/office/drawing/2014/main" id="{2C60E4F5-88F3-F2BC-9368-4ACADB418322}"/>
              </a:ext>
            </a:extLst>
          </p:cNvPr>
          <p:cNvSpPr/>
          <p:nvPr/>
        </p:nvSpPr>
        <p:spPr>
          <a:xfrm>
            <a:off x="4357280" y="3812478"/>
            <a:ext cx="231428" cy="9525"/>
          </a:xfrm>
          <a:prstGeom prst="roundRect">
            <a:avLst>
              <a:gd name="adj" fmla="val 340200"/>
            </a:avLst>
          </a:prstGeom>
          <a:solidFill>
            <a:srgbClr val="6D4562"/>
          </a:solidFill>
          <a:ln/>
        </p:spPr>
      </p:sp>
      <p:sp>
        <p:nvSpPr>
          <p:cNvPr id="45" name="Shape 48">
            <a:extLst>
              <a:ext uri="{FF2B5EF4-FFF2-40B4-BE49-F238E27FC236}">
                <a16:creationId xmlns:a16="http://schemas.microsoft.com/office/drawing/2014/main" id="{CAC6280E-DC21-1D02-862D-A03F3A91EC06}"/>
              </a:ext>
            </a:extLst>
          </p:cNvPr>
          <p:cNvSpPr/>
          <p:nvPr/>
        </p:nvSpPr>
        <p:spPr>
          <a:xfrm>
            <a:off x="4193271" y="3730474"/>
            <a:ext cx="173534" cy="173534"/>
          </a:xfrm>
          <a:prstGeom prst="roundRect">
            <a:avLst>
              <a:gd name="adj" fmla="val 18673"/>
            </a:avLst>
          </a:prstGeom>
          <a:solidFill>
            <a:srgbClr val="542C49"/>
          </a:solidFill>
          <a:ln w="4763">
            <a:solidFill>
              <a:srgbClr val="6D4562"/>
            </a:solidFill>
            <a:prstDash val="solid"/>
          </a:ln>
        </p:spPr>
      </p:sp>
      <p:sp>
        <p:nvSpPr>
          <p:cNvPr id="47" name="Text 49">
            <a:extLst>
              <a:ext uri="{FF2B5EF4-FFF2-40B4-BE49-F238E27FC236}">
                <a16:creationId xmlns:a16="http://schemas.microsoft.com/office/drawing/2014/main" id="{05EC1339-2880-7F0E-ED93-C149F9228D05}"/>
              </a:ext>
            </a:extLst>
          </p:cNvPr>
          <p:cNvSpPr/>
          <p:nvPr/>
        </p:nvSpPr>
        <p:spPr>
          <a:xfrm>
            <a:off x="4228618" y="3752947"/>
            <a:ext cx="102840" cy="128588"/>
          </a:xfrm>
          <a:prstGeom prst="rect">
            <a:avLst/>
          </a:prstGeom>
          <a:noFill/>
          <a:ln/>
        </p:spPr>
        <p:txBody>
          <a:bodyPr wrap="none" lIns="0" tIns="0" rIns="0" bIns="0" rtlCol="0" anchor="ctr"/>
          <a:lstStyle/>
          <a:p>
            <a:pPr marL="0" indent="0" algn="ctr">
              <a:lnSpc>
                <a:spcPct val="100000"/>
              </a:lnSpc>
              <a:buNone/>
            </a:pPr>
            <a:r>
              <a:rPr lang="en-US" sz="2000" dirty="0">
                <a:solidFill>
                  <a:srgbClr val="DAD8E9"/>
                </a:solidFill>
                <a:latin typeface="Prompt Medium" pitchFamily="34" charset="0"/>
                <a:ea typeface="Prompt Medium" pitchFamily="34" charset="-122"/>
                <a:cs typeface="Prompt Medium" pitchFamily="34" charset="-120"/>
              </a:rPr>
              <a:t>4</a:t>
            </a:r>
            <a:endParaRPr lang="en-US" sz="2000" dirty="0"/>
          </a:p>
        </p:txBody>
      </p:sp>
      <p:sp>
        <p:nvSpPr>
          <p:cNvPr id="49" name="Text 50">
            <a:extLst>
              <a:ext uri="{FF2B5EF4-FFF2-40B4-BE49-F238E27FC236}">
                <a16:creationId xmlns:a16="http://schemas.microsoft.com/office/drawing/2014/main" id="{BE14CCF2-592C-A63A-E30B-0E20DB987688}"/>
              </a:ext>
            </a:extLst>
          </p:cNvPr>
          <p:cNvSpPr/>
          <p:nvPr/>
        </p:nvSpPr>
        <p:spPr>
          <a:xfrm>
            <a:off x="4671775" y="3712442"/>
            <a:ext cx="3646215" cy="107156"/>
          </a:xfrm>
          <a:prstGeom prst="rect">
            <a:avLst/>
          </a:prstGeom>
          <a:noFill/>
          <a:ln/>
        </p:spPr>
        <p:txBody>
          <a:bodyPr wrap="none" lIns="0" tIns="0" rIns="0" bIns="0" rtlCol="0" anchor="t"/>
          <a:lstStyle/>
          <a:p>
            <a:pPr marL="0" indent="0" algn="l">
              <a:lnSpc>
                <a:spcPct val="104000"/>
              </a:lnSpc>
              <a:buNone/>
            </a:pPr>
            <a:r>
              <a:rPr lang="en-US" dirty="0">
                <a:solidFill>
                  <a:srgbClr val="DAD8E9"/>
                </a:solidFill>
                <a:latin typeface="Lucida Handwriting" panose="03010101010101010101" pitchFamily="66" charset="0"/>
                <a:ea typeface="Prompt Medium" pitchFamily="34" charset="-122"/>
                <a:cs typeface="Prompt Medium" pitchFamily="34" charset="-120"/>
              </a:rPr>
              <a:t>Phase 4</a:t>
            </a:r>
            <a:endParaRPr lang="en-US" dirty="0">
              <a:latin typeface="Lucida Handwriting" panose="03010101010101010101" pitchFamily="66" charset="0"/>
            </a:endParaRPr>
          </a:p>
        </p:txBody>
      </p:sp>
      <p:sp>
        <p:nvSpPr>
          <p:cNvPr id="51" name="Text 51">
            <a:extLst>
              <a:ext uri="{FF2B5EF4-FFF2-40B4-BE49-F238E27FC236}">
                <a16:creationId xmlns:a16="http://schemas.microsoft.com/office/drawing/2014/main" id="{7CE78ADB-1B2B-ADC9-5BE4-1E85968073DF}"/>
              </a:ext>
            </a:extLst>
          </p:cNvPr>
          <p:cNvSpPr/>
          <p:nvPr/>
        </p:nvSpPr>
        <p:spPr>
          <a:xfrm>
            <a:off x="4665801" y="4017563"/>
            <a:ext cx="3646215" cy="460177"/>
          </a:xfrm>
          <a:prstGeom prst="rect">
            <a:avLst/>
          </a:prstGeom>
          <a:noFill/>
          <a:ln/>
        </p:spPr>
        <p:txBody>
          <a:bodyPr wrap="none" lIns="0" tIns="0" rIns="0" bIns="0" rtlCol="0" anchor="t"/>
          <a:lstStyle/>
          <a:p>
            <a:pPr marL="0" indent="0" algn="l">
              <a:lnSpc>
                <a:spcPct val="100000"/>
              </a:lnSpc>
              <a:buNone/>
            </a:pPr>
            <a:r>
              <a:rPr lang="en-US" sz="1600" dirty="0">
                <a:solidFill>
                  <a:srgbClr val="DAD8E9"/>
                </a:solidFill>
                <a:latin typeface="Georgia" panose="02040502050405020303" pitchFamily="18" charset="0"/>
                <a:ea typeface="Mukta Light" pitchFamily="34" charset="-122"/>
                <a:cs typeface="Mukta Light" pitchFamily="34" charset="-120"/>
              </a:rPr>
              <a:t>Moons compatibility, explainability panel, </a:t>
            </a:r>
          </a:p>
          <a:p>
            <a:pPr marL="0" indent="0" algn="l">
              <a:lnSpc>
                <a:spcPct val="100000"/>
              </a:lnSpc>
              <a:buNone/>
            </a:pPr>
            <a:r>
              <a:rPr lang="en-US" sz="1600" dirty="0">
                <a:solidFill>
                  <a:srgbClr val="DAD8E9"/>
                </a:solidFill>
                <a:latin typeface="Georgia" panose="02040502050405020303" pitchFamily="18" charset="0"/>
                <a:ea typeface="Mukta Light" pitchFamily="34" charset="-122"/>
                <a:cs typeface="Mukta Light" pitchFamily="34" charset="-120"/>
              </a:rPr>
              <a:t>and final demo</a:t>
            </a:r>
            <a:endParaRPr lang="en-US" sz="1600" dirty="0">
              <a:latin typeface="Georgia" panose="02040502050405020303" pitchFamily="18" charset="0"/>
            </a:endParaRPr>
          </a:p>
        </p:txBody>
      </p:sp>
      <p:pic>
        <p:nvPicPr>
          <p:cNvPr id="101" name="Picture 100">
            <a:extLst>
              <a:ext uri="{FF2B5EF4-FFF2-40B4-BE49-F238E27FC236}">
                <a16:creationId xmlns:a16="http://schemas.microsoft.com/office/drawing/2014/main" id="{6097D99E-70F2-06FA-A761-67E9A08DF9B5}"/>
              </a:ext>
            </a:extLst>
          </p:cNvPr>
          <p:cNvPicPr>
            <a:picLocks noChangeAspect="1"/>
          </p:cNvPicPr>
          <p:nvPr/>
        </p:nvPicPr>
        <p:blipFill>
          <a:blip r:embed="rId2"/>
          <a:stretch>
            <a:fillRect/>
          </a:stretch>
        </p:blipFill>
        <p:spPr>
          <a:xfrm>
            <a:off x="75789" y="4632828"/>
            <a:ext cx="441052" cy="441052"/>
          </a:xfrm>
          <a:prstGeom prst="rect">
            <a:avLst/>
          </a:prstGeom>
        </p:spPr>
      </p:pic>
      <p:sp>
        <p:nvSpPr>
          <p:cNvPr id="4" name="Action Button: Go Forward or Next 3">
            <a:hlinkClick r:id="" action="ppaction://hlinkshowjump?jump=nextslide" highlightClick="1"/>
            <a:extLst>
              <a:ext uri="{FF2B5EF4-FFF2-40B4-BE49-F238E27FC236}">
                <a16:creationId xmlns:a16="http://schemas.microsoft.com/office/drawing/2014/main" id="{931D219C-7300-200F-A6C7-F1785696D932}"/>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ction Button: Go Back or Previous 6">
            <a:hlinkClick r:id="" action="ppaction://hlinkshowjump?jump=previousslide" highlightClick="1"/>
            <a:extLst>
              <a:ext uri="{FF2B5EF4-FFF2-40B4-BE49-F238E27FC236}">
                <a16:creationId xmlns:a16="http://schemas.microsoft.com/office/drawing/2014/main" id="{0C196A3C-4CD9-C075-A820-1AC01956B76E}"/>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4473642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16841" y="1128961"/>
            <a:ext cx="4634954" cy="428625"/>
          </a:xfrm>
          <a:prstGeom prst="rect">
            <a:avLst/>
          </a:prstGeom>
          <a:noFill/>
          <a:ln/>
        </p:spPr>
        <p:txBody>
          <a:bodyPr wrap="none" lIns="0" tIns="0" rIns="0" bIns="0" rtlCol="0" anchor="t"/>
          <a:lstStyle/>
          <a:p>
            <a:pPr marL="0" indent="0" algn="l">
              <a:lnSpc>
                <a:spcPct val="104000"/>
              </a:lnSpc>
              <a:buNone/>
            </a:pPr>
            <a:r>
              <a:rPr lang="en-US" sz="2800" dirty="0">
                <a:solidFill>
                  <a:srgbClr val="00FFCC"/>
                </a:solidFill>
                <a:latin typeface="Broadway" panose="04040905080B02020502" pitchFamily="82" charset="0"/>
                <a:ea typeface="Prompt Medium" pitchFamily="34" charset="-122"/>
                <a:cs typeface="Prompt Medium" pitchFamily="34" charset="-120"/>
              </a:rPr>
              <a:t>Working Methodology</a:t>
            </a:r>
            <a:endParaRPr lang="en-US" sz="2800" dirty="0">
              <a:solidFill>
                <a:srgbClr val="00FFCC"/>
              </a:solidFill>
              <a:latin typeface="Broadway" panose="04040905080B02020502" pitchFamily="82" charset="0"/>
            </a:endParaRPr>
          </a:p>
        </p:txBody>
      </p:sp>
      <p:sp>
        <p:nvSpPr>
          <p:cNvPr id="4" name="Text 1"/>
          <p:cNvSpPr/>
          <p:nvPr/>
        </p:nvSpPr>
        <p:spPr>
          <a:xfrm>
            <a:off x="394881" y="2447938"/>
            <a:ext cx="5245123" cy="1166119"/>
          </a:xfrm>
          <a:prstGeom prst="rect">
            <a:avLst/>
          </a:prstGeom>
          <a:noFill/>
          <a:ln/>
        </p:spPr>
        <p:txBody>
          <a:bodyPr wrap="square" lIns="0" tIns="0" rIns="0" bIns="0" rtlCol="0" anchor="t">
            <a:normAutofit/>
          </a:bodyPr>
          <a:lstStyle/>
          <a:p>
            <a:pPr marL="0" indent="0" algn="l">
              <a:lnSpc>
                <a:spcPct val="133000"/>
              </a:lnSpc>
              <a:buNone/>
            </a:pPr>
            <a:r>
              <a:rPr lang="en-US" dirty="0">
                <a:solidFill>
                  <a:srgbClr val="DAD8E9"/>
                </a:solidFill>
                <a:latin typeface="Century" panose="02040604050505020304" pitchFamily="18" charset="0"/>
                <a:ea typeface="Mukta Light" pitchFamily="34" charset="-122"/>
                <a:cs typeface="Mukta Light" pitchFamily="34" charset="-120"/>
              </a:rPr>
              <a:t>Our AI pipeline transforms raw lunar imagery into actionable mission intelligence — in nine precise steps.</a:t>
            </a:r>
            <a:endParaRPr lang="en-US" dirty="0">
              <a:latin typeface="Century" panose="02040604050505020304" pitchFamily="18" charset="0"/>
            </a:endParaRPr>
          </a:p>
        </p:txBody>
      </p:sp>
      <p:pic>
        <p:nvPicPr>
          <p:cNvPr id="10" name="Picture 9">
            <a:extLst>
              <a:ext uri="{FF2B5EF4-FFF2-40B4-BE49-F238E27FC236}">
                <a16:creationId xmlns:a16="http://schemas.microsoft.com/office/drawing/2014/main" id="{F2D9B951-877A-B0AA-18E9-DD4B520BF5C8}"/>
              </a:ext>
            </a:extLst>
          </p:cNvPr>
          <p:cNvPicPr>
            <a:picLocks noChangeAspect="1"/>
          </p:cNvPicPr>
          <p:nvPr/>
        </p:nvPicPr>
        <p:blipFill>
          <a:blip r:embed="rId3"/>
          <a:stretch>
            <a:fillRect/>
          </a:stretch>
        </p:blipFill>
        <p:spPr>
          <a:xfrm>
            <a:off x="75789" y="4632828"/>
            <a:ext cx="441052" cy="441052"/>
          </a:xfrm>
          <a:prstGeom prst="rect">
            <a:avLst/>
          </a:prstGeom>
        </p:spPr>
      </p:pic>
      <p:sp>
        <p:nvSpPr>
          <p:cNvPr id="6" name="Rectangle 5">
            <a:extLst>
              <a:ext uri="{FF2B5EF4-FFF2-40B4-BE49-F238E27FC236}">
                <a16:creationId xmlns:a16="http://schemas.microsoft.com/office/drawing/2014/main" id="{B53DE99F-8BFA-3CFE-AC37-60093175D899}"/>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400" dirty="0"/>
          </a:p>
        </p:txBody>
      </p:sp>
      <p:sp>
        <p:nvSpPr>
          <p:cNvPr id="8" name="Action Button: Go Forward or Next 7">
            <a:hlinkClick r:id="" action="ppaction://hlinkshowjump?jump=nextslide" highlightClick="1"/>
            <a:extLst>
              <a:ext uri="{FF2B5EF4-FFF2-40B4-BE49-F238E27FC236}">
                <a16:creationId xmlns:a16="http://schemas.microsoft.com/office/drawing/2014/main" id="{9BC9E27C-BF63-76C2-45CC-23CBD9C7037B}"/>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ction Button: Go Back or Previous 10">
            <a:hlinkClick r:id="" action="ppaction://hlinkshowjump?jump=previousslide" highlightClick="1"/>
            <a:extLst>
              <a:ext uri="{FF2B5EF4-FFF2-40B4-BE49-F238E27FC236}">
                <a16:creationId xmlns:a16="http://schemas.microsoft.com/office/drawing/2014/main" id="{5C769F6C-EEC8-B629-1AD6-B0C6C9587F87}"/>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4B147A48-C752-994E-A0F4-C4461EB40214}"/>
              </a:ext>
            </a:extLst>
          </p:cNvPr>
          <p:cNvPicPr>
            <a:picLocks noChangeAspect="1"/>
          </p:cNvPicPr>
          <p:nvPr/>
        </p:nvPicPr>
        <p:blipFill>
          <a:blip r:embed="rId4"/>
          <a:srcRect t="4504" b="-10895"/>
          <a:stretch>
            <a:fillRect/>
          </a:stretch>
        </p:blipFill>
        <p:spPr>
          <a:xfrm>
            <a:off x="5907498" y="111495"/>
            <a:ext cx="2893219" cy="50320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E8FE4-783B-05BC-D2FA-B776084B999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97F9ADB-B9A8-7F46-4BA2-74160A9EA3C9}"/>
              </a:ext>
            </a:extLst>
          </p:cNvPr>
          <p:cNvSpPr/>
          <p:nvPr/>
        </p:nvSpPr>
        <p:spPr>
          <a:xfrm>
            <a:off x="533684" y="258453"/>
            <a:ext cx="8063954" cy="388441"/>
          </a:xfrm>
          <a:prstGeom prst="rect">
            <a:avLst/>
          </a:prstGeom>
          <a:noFill/>
          <a:ln/>
        </p:spPr>
        <p:txBody>
          <a:bodyPr wrap="none" lIns="0" tIns="0" rIns="0" bIns="0" rtlCol="0" anchor="t"/>
          <a:lstStyle/>
          <a:p>
            <a:pPr marL="0" indent="0" algn="l">
              <a:lnSpc>
                <a:spcPct val="104000"/>
              </a:lnSpc>
              <a:buNone/>
            </a:pPr>
            <a:r>
              <a:rPr lang="en-US" sz="2400" dirty="0">
                <a:solidFill>
                  <a:srgbClr val="00FFCC"/>
                </a:solidFill>
                <a:latin typeface="Broadway" panose="04040905080B02020502" pitchFamily="82" charset="0"/>
                <a:ea typeface="Prompt Medium" pitchFamily="34" charset="-122"/>
                <a:cs typeface="Prompt Medium" pitchFamily="34" charset="-120"/>
              </a:rPr>
              <a:t>From Image to Intelligence</a:t>
            </a:r>
            <a:endParaRPr lang="en-US" sz="2400" dirty="0">
              <a:solidFill>
                <a:srgbClr val="00FFCC"/>
              </a:solidFill>
              <a:latin typeface="Broadway" panose="04040905080B02020502" pitchFamily="82" charset="0"/>
            </a:endParaRPr>
          </a:p>
        </p:txBody>
      </p:sp>
      <p:pic>
        <p:nvPicPr>
          <p:cNvPr id="3" name="Image 0" descr="preencoded.png">
            <a:extLst>
              <a:ext uri="{FF2B5EF4-FFF2-40B4-BE49-F238E27FC236}">
                <a16:creationId xmlns:a16="http://schemas.microsoft.com/office/drawing/2014/main" id="{9572E9BE-2975-C8DF-C816-B6D70AA558DF}"/>
              </a:ext>
            </a:extLst>
          </p:cNvPr>
          <p:cNvPicPr>
            <a:picLocks noChangeAspect="1"/>
          </p:cNvPicPr>
          <p:nvPr/>
        </p:nvPicPr>
        <p:blipFill>
          <a:blip r:embed="rId3"/>
          <a:stretch>
            <a:fillRect/>
          </a:stretch>
        </p:blipFill>
        <p:spPr>
          <a:xfrm>
            <a:off x="714096" y="859972"/>
            <a:ext cx="7805663" cy="2929012"/>
          </a:xfrm>
          <a:prstGeom prst="rect">
            <a:avLst/>
          </a:prstGeom>
        </p:spPr>
      </p:pic>
      <p:sp>
        <p:nvSpPr>
          <p:cNvPr id="4" name="Text 1">
            <a:extLst>
              <a:ext uri="{FF2B5EF4-FFF2-40B4-BE49-F238E27FC236}">
                <a16:creationId xmlns:a16="http://schemas.microsoft.com/office/drawing/2014/main" id="{6EF74390-A389-CCAE-FE12-139FF2C3E5EF}"/>
              </a:ext>
            </a:extLst>
          </p:cNvPr>
          <p:cNvSpPr/>
          <p:nvPr/>
        </p:nvSpPr>
        <p:spPr>
          <a:xfrm>
            <a:off x="6976007" y="2917921"/>
            <a:ext cx="1177315" cy="403190"/>
          </a:xfrm>
          <a:prstGeom prst="rect">
            <a:avLst/>
          </a:prstGeom>
          <a:noFill/>
          <a:ln/>
        </p:spPr>
        <p:txBody>
          <a:bodyPr wrap="square" lIns="0" tIns="0" rIns="0" bIns="0" rtlCol="0" anchor="t">
            <a:normAutofit/>
          </a:bodyPr>
          <a:lstStyle/>
          <a:p>
            <a:pPr marL="0" indent="0" algn="ctr">
              <a:lnSpc>
                <a:spcPct val="104000"/>
              </a:lnSpc>
              <a:buNone/>
            </a:pPr>
            <a:r>
              <a:rPr lang="en-US" sz="1250" dirty="0">
                <a:solidFill>
                  <a:srgbClr val="DAD8E9"/>
                </a:solidFill>
                <a:latin typeface="Eras Bold ITC" panose="020B0907030504020204" pitchFamily="34" charset="0"/>
                <a:ea typeface="Prompt Medium" pitchFamily="34" charset="-122"/>
                <a:cs typeface="Prompt Medium" pitchFamily="34" charset="-120"/>
              </a:rPr>
              <a:t>Safe Areas ID'd</a:t>
            </a:r>
            <a:endParaRPr lang="en-US" sz="1250" dirty="0">
              <a:latin typeface="Eras Bold ITC" panose="020B0907030504020204" pitchFamily="34" charset="0"/>
            </a:endParaRPr>
          </a:p>
        </p:txBody>
      </p:sp>
      <p:sp>
        <p:nvSpPr>
          <p:cNvPr id="5" name="Text 2">
            <a:extLst>
              <a:ext uri="{FF2B5EF4-FFF2-40B4-BE49-F238E27FC236}">
                <a16:creationId xmlns:a16="http://schemas.microsoft.com/office/drawing/2014/main" id="{DF2FF3C5-44AF-979C-E97C-48D5C6D12CC2}"/>
              </a:ext>
            </a:extLst>
          </p:cNvPr>
          <p:cNvSpPr/>
          <p:nvPr/>
        </p:nvSpPr>
        <p:spPr>
          <a:xfrm>
            <a:off x="5492268" y="2917921"/>
            <a:ext cx="1177315" cy="403190"/>
          </a:xfrm>
          <a:prstGeom prst="rect">
            <a:avLst/>
          </a:prstGeom>
          <a:noFill/>
          <a:ln/>
        </p:spPr>
        <p:txBody>
          <a:bodyPr wrap="square" lIns="0" tIns="0" rIns="0" bIns="0" rtlCol="0" anchor="t">
            <a:normAutofit/>
          </a:bodyPr>
          <a:lstStyle/>
          <a:p>
            <a:pPr marL="0" indent="0" algn="ctr">
              <a:lnSpc>
                <a:spcPct val="104000"/>
              </a:lnSpc>
              <a:buNone/>
            </a:pPr>
            <a:r>
              <a:rPr lang="en-US" sz="1250" dirty="0">
                <a:solidFill>
                  <a:srgbClr val="DAD8E9"/>
                </a:solidFill>
                <a:latin typeface="Eras Bold ITC" panose="020B0907030504020204" pitchFamily="34" charset="0"/>
                <a:ea typeface="Prompt Medium" pitchFamily="34" charset="-122"/>
                <a:cs typeface="Prompt Medium" pitchFamily="34" charset="-120"/>
              </a:rPr>
              <a:t>Hazards Detected</a:t>
            </a:r>
            <a:endParaRPr lang="en-US" sz="1250" dirty="0">
              <a:latin typeface="Eras Bold ITC" panose="020B0907030504020204" pitchFamily="34" charset="0"/>
            </a:endParaRPr>
          </a:p>
        </p:txBody>
      </p:sp>
      <p:sp>
        <p:nvSpPr>
          <p:cNvPr id="6" name="Text 3">
            <a:extLst>
              <a:ext uri="{FF2B5EF4-FFF2-40B4-BE49-F238E27FC236}">
                <a16:creationId xmlns:a16="http://schemas.microsoft.com/office/drawing/2014/main" id="{C937F2AC-EA4C-6745-CEBF-C6248C7B1D78}"/>
              </a:ext>
            </a:extLst>
          </p:cNvPr>
          <p:cNvSpPr/>
          <p:nvPr/>
        </p:nvSpPr>
        <p:spPr>
          <a:xfrm>
            <a:off x="4016593" y="2917921"/>
            <a:ext cx="1177314" cy="403190"/>
          </a:xfrm>
          <a:prstGeom prst="rect">
            <a:avLst/>
          </a:prstGeom>
          <a:noFill/>
          <a:ln/>
        </p:spPr>
        <p:txBody>
          <a:bodyPr wrap="square" lIns="0" tIns="0" rIns="0" bIns="0" rtlCol="0" anchor="t">
            <a:normAutofit/>
          </a:bodyPr>
          <a:lstStyle/>
          <a:p>
            <a:pPr marL="0" indent="0" algn="ctr">
              <a:lnSpc>
                <a:spcPct val="104000"/>
              </a:lnSpc>
              <a:buNone/>
            </a:pPr>
            <a:r>
              <a:rPr lang="en-US" sz="1250" dirty="0">
                <a:solidFill>
                  <a:srgbClr val="DAD8E9"/>
                </a:solidFill>
                <a:latin typeface="Eras Bold ITC" panose="020B0907030504020204" pitchFamily="34" charset="0"/>
                <a:ea typeface="Prompt Medium" pitchFamily="34" charset="-122"/>
                <a:cs typeface="Prompt Medium" pitchFamily="34" charset="-120"/>
              </a:rPr>
              <a:t>Terrain Analyzed</a:t>
            </a:r>
            <a:endParaRPr lang="en-US" sz="1250" dirty="0">
              <a:latin typeface="Eras Bold ITC" panose="020B0907030504020204" pitchFamily="34" charset="0"/>
            </a:endParaRPr>
          </a:p>
        </p:txBody>
      </p:sp>
      <p:sp>
        <p:nvSpPr>
          <p:cNvPr id="7" name="Text 4">
            <a:extLst>
              <a:ext uri="{FF2B5EF4-FFF2-40B4-BE49-F238E27FC236}">
                <a16:creationId xmlns:a16="http://schemas.microsoft.com/office/drawing/2014/main" id="{9DC1AA07-AEE0-8158-605A-AC9D61529ED0}"/>
              </a:ext>
            </a:extLst>
          </p:cNvPr>
          <p:cNvSpPr/>
          <p:nvPr/>
        </p:nvSpPr>
        <p:spPr>
          <a:xfrm>
            <a:off x="2540918" y="2917921"/>
            <a:ext cx="1177315" cy="403190"/>
          </a:xfrm>
          <a:prstGeom prst="rect">
            <a:avLst/>
          </a:prstGeom>
          <a:noFill/>
          <a:ln/>
        </p:spPr>
        <p:txBody>
          <a:bodyPr wrap="square" lIns="0" tIns="0" rIns="0" bIns="0" rtlCol="0" anchor="t">
            <a:normAutofit/>
          </a:bodyPr>
          <a:lstStyle/>
          <a:p>
            <a:pPr marL="0" indent="0" algn="ctr">
              <a:lnSpc>
                <a:spcPct val="104000"/>
              </a:lnSpc>
              <a:buNone/>
            </a:pPr>
            <a:r>
              <a:rPr lang="en-US" sz="1250" dirty="0">
                <a:solidFill>
                  <a:srgbClr val="DAD8E9"/>
                </a:solidFill>
                <a:latin typeface="Eras Bold ITC" panose="020B0907030504020204" pitchFamily="34" charset="0"/>
                <a:ea typeface="Prompt Medium" pitchFamily="34" charset="-122"/>
                <a:cs typeface="Prompt Medium" pitchFamily="34" charset="-120"/>
              </a:rPr>
              <a:t>AI Preprocesses</a:t>
            </a:r>
            <a:endParaRPr lang="en-US" sz="1250" dirty="0">
              <a:latin typeface="Eras Bold ITC" panose="020B0907030504020204" pitchFamily="34" charset="0"/>
            </a:endParaRPr>
          </a:p>
        </p:txBody>
      </p:sp>
      <p:sp>
        <p:nvSpPr>
          <p:cNvPr id="8" name="Text 5">
            <a:extLst>
              <a:ext uri="{FF2B5EF4-FFF2-40B4-BE49-F238E27FC236}">
                <a16:creationId xmlns:a16="http://schemas.microsoft.com/office/drawing/2014/main" id="{96AC73ED-45F4-EAF0-91FB-7FD8522D57EC}"/>
              </a:ext>
            </a:extLst>
          </p:cNvPr>
          <p:cNvSpPr/>
          <p:nvPr/>
        </p:nvSpPr>
        <p:spPr>
          <a:xfrm>
            <a:off x="1032987" y="3018718"/>
            <a:ext cx="1177315" cy="201595"/>
          </a:xfrm>
          <a:prstGeom prst="rect">
            <a:avLst/>
          </a:prstGeom>
          <a:noFill/>
          <a:ln/>
        </p:spPr>
        <p:txBody>
          <a:bodyPr wrap="none" lIns="0" tIns="0" rIns="0" bIns="0" rtlCol="0" anchor="t"/>
          <a:lstStyle/>
          <a:p>
            <a:pPr marL="0" indent="0" algn="ctr">
              <a:lnSpc>
                <a:spcPct val="104000"/>
              </a:lnSpc>
              <a:buNone/>
            </a:pPr>
            <a:r>
              <a:rPr lang="en-US" sz="1250" dirty="0">
                <a:solidFill>
                  <a:srgbClr val="DAD8E9"/>
                </a:solidFill>
                <a:latin typeface="Eras Bold ITC" panose="020B0907030504020204" pitchFamily="34" charset="0"/>
                <a:ea typeface="Prompt Medium" pitchFamily="34" charset="-122"/>
                <a:cs typeface="Prompt Medium" pitchFamily="34" charset="-120"/>
              </a:rPr>
              <a:t>User Uploads</a:t>
            </a:r>
            <a:endParaRPr lang="en-US" sz="1250" dirty="0">
              <a:latin typeface="Eras Bold ITC" panose="020B0907030504020204" pitchFamily="34" charset="0"/>
            </a:endParaRPr>
          </a:p>
        </p:txBody>
      </p:sp>
      <p:sp>
        <p:nvSpPr>
          <p:cNvPr id="9" name="Text 6">
            <a:extLst>
              <a:ext uri="{FF2B5EF4-FFF2-40B4-BE49-F238E27FC236}">
                <a16:creationId xmlns:a16="http://schemas.microsoft.com/office/drawing/2014/main" id="{FE8E39AC-B446-DD0B-B8BC-B15AEB63742C}"/>
              </a:ext>
            </a:extLst>
          </p:cNvPr>
          <p:cNvSpPr/>
          <p:nvPr/>
        </p:nvSpPr>
        <p:spPr>
          <a:xfrm>
            <a:off x="540023" y="3652761"/>
            <a:ext cx="8204834" cy="1200591"/>
          </a:xfrm>
          <a:prstGeom prst="rect">
            <a:avLst/>
          </a:prstGeom>
          <a:noFill/>
          <a:ln/>
        </p:spPr>
        <p:txBody>
          <a:bodyPr wrap="square" lIns="0" tIns="0" rIns="0" bIns="0" rtlCol="0" anchor="t">
            <a:normAutofit/>
          </a:bodyPr>
          <a:lstStyle/>
          <a:p>
            <a:pPr marL="0" indent="0" algn="l">
              <a:lnSpc>
                <a:spcPct val="127000"/>
              </a:lnSpc>
              <a:buNone/>
            </a:pPr>
            <a:r>
              <a:rPr lang="en-US" sz="1400" dirty="0">
                <a:solidFill>
                  <a:srgbClr val="DAD8E9"/>
                </a:solidFill>
                <a:latin typeface="Sitka Subheading" pitchFamily="2" charset="0"/>
                <a:ea typeface="Mukta Light" pitchFamily="34" charset="-122"/>
                <a:cs typeface="Mukta Light" pitchFamily="34" charset="-120"/>
              </a:rPr>
              <a:t>Each stage is powered by specialized deep learning models — from convolutional neural networks for terrain segmentation to reinforcement learning for optimal path planning. The entire pipeline executes in seconds, delivering mission-ready outputs to operators in real time.</a:t>
            </a:r>
            <a:endParaRPr lang="en-US" sz="1400" dirty="0">
              <a:latin typeface="Sitka Subheading" pitchFamily="2" charset="0"/>
            </a:endParaRPr>
          </a:p>
        </p:txBody>
      </p:sp>
      <p:sp>
        <p:nvSpPr>
          <p:cNvPr id="11" name="Rectangle 10">
            <a:extLst>
              <a:ext uri="{FF2B5EF4-FFF2-40B4-BE49-F238E27FC236}">
                <a16:creationId xmlns:a16="http://schemas.microsoft.com/office/drawing/2014/main" id="{5A99FC01-CAE7-AB27-2F9A-EF02D2D23F6C}"/>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id="{4255B01F-46AA-C9B8-2CA6-9F3D5AE1789D}"/>
              </a:ext>
            </a:extLst>
          </p:cNvPr>
          <p:cNvPicPr>
            <a:picLocks noChangeAspect="1"/>
          </p:cNvPicPr>
          <p:nvPr/>
        </p:nvPicPr>
        <p:blipFill>
          <a:blip r:embed="rId4"/>
          <a:stretch>
            <a:fillRect/>
          </a:stretch>
        </p:blipFill>
        <p:spPr>
          <a:xfrm>
            <a:off x="75789" y="4632828"/>
            <a:ext cx="441052" cy="441052"/>
          </a:xfrm>
          <a:prstGeom prst="rect">
            <a:avLst/>
          </a:prstGeom>
        </p:spPr>
      </p:pic>
      <p:sp>
        <p:nvSpPr>
          <p:cNvPr id="12" name="Action Button: Go Forward or Next 11">
            <a:hlinkClick r:id="" action="ppaction://hlinkshowjump?jump=nextslide" highlightClick="1"/>
            <a:extLst>
              <a:ext uri="{FF2B5EF4-FFF2-40B4-BE49-F238E27FC236}">
                <a16:creationId xmlns:a16="http://schemas.microsoft.com/office/drawing/2014/main" id="{E79B2374-1035-2DB7-5B17-569A77BFF571}"/>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ction Button: Go Back or Previous 15">
            <a:hlinkClick r:id="" action="ppaction://hlinkshowjump?jump=previousslide" highlightClick="1"/>
            <a:extLst>
              <a:ext uri="{FF2B5EF4-FFF2-40B4-BE49-F238E27FC236}">
                <a16:creationId xmlns:a16="http://schemas.microsoft.com/office/drawing/2014/main" id="{7E89B9D8-2888-2FEE-0D7B-2CA128DC2B0E}"/>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84704433"/>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0023" y="332857"/>
            <a:ext cx="8063954" cy="408533"/>
          </a:xfrm>
          <a:prstGeom prst="rect">
            <a:avLst/>
          </a:prstGeom>
          <a:noFill/>
          <a:ln/>
        </p:spPr>
        <p:txBody>
          <a:bodyPr wrap="none" lIns="0" tIns="0" rIns="0" bIns="0" rtlCol="0" anchor="t"/>
          <a:lstStyle/>
          <a:p>
            <a:pPr marL="0" indent="0" algn="l">
              <a:lnSpc>
                <a:spcPct val="104000"/>
              </a:lnSpc>
              <a:buNone/>
            </a:pPr>
            <a:r>
              <a:rPr lang="en-US" sz="2550" dirty="0">
                <a:solidFill>
                  <a:srgbClr val="00FFCC"/>
                </a:solidFill>
                <a:latin typeface="Broadway" panose="04040905080B02020502" pitchFamily="82" charset="0"/>
                <a:ea typeface="Prompt Medium" pitchFamily="34" charset="-122"/>
                <a:cs typeface="Prompt Medium" pitchFamily="34" charset="-120"/>
              </a:rPr>
              <a:t>Dashboard UI — Mission Intelligence at a Glance</a:t>
            </a:r>
            <a:endParaRPr lang="en-US" sz="2550" dirty="0">
              <a:solidFill>
                <a:srgbClr val="00FFCC"/>
              </a:solidFill>
              <a:latin typeface="Broadway" panose="04040905080B02020502" pitchFamily="82" charset="0"/>
            </a:endParaRPr>
          </a:p>
        </p:txBody>
      </p:sp>
      <p:sp>
        <p:nvSpPr>
          <p:cNvPr id="3" name="Text 1"/>
          <p:cNvSpPr/>
          <p:nvPr/>
        </p:nvSpPr>
        <p:spPr>
          <a:xfrm>
            <a:off x="313488" y="986757"/>
            <a:ext cx="8521154" cy="229716"/>
          </a:xfrm>
          <a:prstGeom prst="rect">
            <a:avLst/>
          </a:prstGeom>
          <a:noFill/>
          <a:ln/>
        </p:spPr>
        <p:txBody>
          <a:bodyPr wrap="none" lIns="0" tIns="0" rIns="0" bIns="0" rtlCol="0" anchor="t"/>
          <a:lstStyle/>
          <a:p>
            <a:pPr marL="0" indent="0" algn="l">
              <a:lnSpc>
                <a:spcPct val="130000"/>
              </a:lnSpc>
              <a:buNone/>
            </a:pPr>
            <a:r>
              <a:rPr lang="en-US" sz="1400" dirty="0">
                <a:solidFill>
                  <a:srgbClr val="DAD8E9"/>
                </a:solidFill>
                <a:latin typeface="Consolas" panose="020B0609020204030204" pitchFamily="49" charset="0"/>
                <a:ea typeface="Mukta Light" pitchFamily="34" charset="-122"/>
                <a:cs typeface="Mukta Light" pitchFamily="34" charset="-120"/>
              </a:rPr>
              <a:t>A unified command interface presenting all critical outputs for rapid mission decisions.</a:t>
            </a:r>
            <a:endParaRPr lang="en-US" sz="1400" dirty="0">
              <a:latin typeface="Consolas" panose="020B0609020204030204" pitchFamily="49" charset="0"/>
            </a:endParaRPr>
          </a:p>
        </p:txBody>
      </p:sp>
      <p:sp>
        <p:nvSpPr>
          <p:cNvPr id="4" name="Shape 2"/>
          <p:cNvSpPr/>
          <p:nvPr/>
        </p:nvSpPr>
        <p:spPr>
          <a:xfrm>
            <a:off x="540023" y="1521916"/>
            <a:ext cx="2594521" cy="1632719"/>
          </a:xfrm>
          <a:prstGeom prst="roundRect">
            <a:avLst>
              <a:gd name="adj" fmla="val 3783"/>
            </a:avLst>
          </a:prstGeom>
          <a:solidFill>
            <a:srgbClr val="542C49"/>
          </a:solidFill>
          <a:ln w="4763">
            <a:solidFill>
              <a:srgbClr val="6D4562"/>
            </a:solidFill>
            <a:prstDash val="solid"/>
          </a:ln>
        </p:spPr>
      </p:sp>
      <p:sp>
        <p:nvSpPr>
          <p:cNvPr id="5" name="Shape 3"/>
          <p:cNvSpPr/>
          <p:nvPr/>
        </p:nvSpPr>
        <p:spPr>
          <a:xfrm>
            <a:off x="691828" y="1673721"/>
            <a:ext cx="441201" cy="441201"/>
          </a:xfrm>
          <a:prstGeom prst="ellipse">
            <a:avLst/>
          </a:prstGeom>
          <a:solidFill>
            <a:srgbClr val="A95B95"/>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122" y="1795016"/>
            <a:ext cx="198537" cy="198537"/>
          </a:xfrm>
          <a:prstGeom prst="rect">
            <a:avLst/>
          </a:prstGeom>
        </p:spPr>
      </p:pic>
      <p:sp>
        <p:nvSpPr>
          <p:cNvPr id="7" name="Text 4"/>
          <p:cNvSpPr/>
          <p:nvPr/>
        </p:nvSpPr>
        <p:spPr>
          <a:xfrm>
            <a:off x="691828" y="2255044"/>
            <a:ext cx="2290911" cy="204267"/>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Eras Bold ITC" panose="020B0907030504020204" pitchFamily="34" charset="0"/>
                <a:ea typeface="Prompt Medium" pitchFamily="34" charset="-122"/>
                <a:cs typeface="Prompt Medium" pitchFamily="34" charset="-120"/>
              </a:rPr>
              <a:t>Crater Detection</a:t>
            </a:r>
            <a:endParaRPr lang="en-US" sz="1400" dirty="0">
              <a:latin typeface="Eras Bold ITC" panose="020B0907030504020204" pitchFamily="34" charset="0"/>
            </a:endParaRPr>
          </a:p>
        </p:txBody>
      </p:sp>
      <p:sp>
        <p:nvSpPr>
          <p:cNvPr id="8" name="Text 5"/>
          <p:cNvSpPr/>
          <p:nvPr/>
        </p:nvSpPr>
        <p:spPr>
          <a:xfrm>
            <a:off x="691828" y="2543398"/>
            <a:ext cx="2290911" cy="459432"/>
          </a:xfrm>
          <a:prstGeom prst="rect">
            <a:avLst/>
          </a:prstGeom>
          <a:noFill/>
          <a:ln/>
        </p:spPr>
        <p:txBody>
          <a:bodyPr wrap="square" lIns="0" tIns="0" rIns="0" bIns="0" rtlCol="0" anchor="t">
            <a:normAutofit fontScale="92500" lnSpcReduction="20000"/>
          </a:bodyPr>
          <a:lstStyle/>
          <a:p>
            <a:pPr marL="0" indent="0" algn="l">
              <a:lnSpc>
                <a:spcPct val="130000"/>
              </a:lnSpc>
              <a:buNone/>
            </a:pPr>
            <a:r>
              <a:rPr lang="en-US" sz="1400" dirty="0">
                <a:solidFill>
                  <a:srgbClr val="DAD8E9"/>
                </a:solidFill>
                <a:latin typeface="Mukta Light" pitchFamily="34" charset="0"/>
                <a:ea typeface="Mukta Light" pitchFamily="34" charset="-122"/>
                <a:cs typeface="Mukta Light" pitchFamily="34" charset="-120"/>
              </a:rPr>
              <a:t>AI-mapped craters with size and depth classification</a:t>
            </a:r>
            <a:endParaRPr lang="en-US" sz="1400" dirty="0"/>
          </a:p>
        </p:txBody>
      </p:sp>
      <p:sp>
        <p:nvSpPr>
          <p:cNvPr id="9" name="Shape 6"/>
          <p:cNvSpPr/>
          <p:nvPr/>
        </p:nvSpPr>
        <p:spPr>
          <a:xfrm>
            <a:off x="3274665" y="1521916"/>
            <a:ext cx="2594595" cy="1632719"/>
          </a:xfrm>
          <a:prstGeom prst="roundRect">
            <a:avLst>
              <a:gd name="adj" fmla="val 3783"/>
            </a:avLst>
          </a:prstGeom>
          <a:solidFill>
            <a:srgbClr val="542C49"/>
          </a:solidFill>
          <a:ln w="4763">
            <a:solidFill>
              <a:srgbClr val="6D4562"/>
            </a:solidFill>
            <a:prstDash val="solid"/>
          </a:ln>
        </p:spPr>
      </p:sp>
      <p:sp>
        <p:nvSpPr>
          <p:cNvPr id="10" name="Shape 7"/>
          <p:cNvSpPr/>
          <p:nvPr/>
        </p:nvSpPr>
        <p:spPr>
          <a:xfrm>
            <a:off x="3426470" y="1673721"/>
            <a:ext cx="441201" cy="441201"/>
          </a:xfrm>
          <a:prstGeom prst="ellipse">
            <a:avLst/>
          </a:prstGeom>
          <a:solidFill>
            <a:srgbClr val="A95B95"/>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47765" y="1795016"/>
            <a:ext cx="198537" cy="198537"/>
          </a:xfrm>
          <a:prstGeom prst="rect">
            <a:avLst/>
          </a:prstGeom>
        </p:spPr>
      </p:pic>
      <p:sp>
        <p:nvSpPr>
          <p:cNvPr id="12" name="Text 8"/>
          <p:cNvSpPr/>
          <p:nvPr/>
        </p:nvSpPr>
        <p:spPr>
          <a:xfrm>
            <a:off x="3426470" y="2255044"/>
            <a:ext cx="2290986" cy="204267"/>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Eras Bold ITC" panose="020B0907030504020204" pitchFamily="34" charset="0"/>
                <a:ea typeface="Prompt Medium" pitchFamily="34" charset="-122"/>
                <a:cs typeface="Prompt Medium" pitchFamily="34" charset="-120"/>
              </a:rPr>
              <a:t>Rock Hazard Map</a:t>
            </a:r>
            <a:endParaRPr lang="en-US" sz="1400" dirty="0">
              <a:latin typeface="Eras Bold ITC" panose="020B0907030504020204" pitchFamily="34" charset="0"/>
            </a:endParaRPr>
          </a:p>
        </p:txBody>
      </p:sp>
      <p:sp>
        <p:nvSpPr>
          <p:cNvPr id="13" name="Text 9"/>
          <p:cNvSpPr/>
          <p:nvPr/>
        </p:nvSpPr>
        <p:spPr>
          <a:xfrm>
            <a:off x="3426470" y="2543398"/>
            <a:ext cx="2290986" cy="459432"/>
          </a:xfrm>
          <a:prstGeom prst="rect">
            <a:avLst/>
          </a:prstGeom>
          <a:noFill/>
          <a:ln/>
        </p:spPr>
        <p:txBody>
          <a:bodyPr wrap="square" lIns="0" tIns="0" rIns="0" bIns="0" rtlCol="0" anchor="t">
            <a:normAutofit fontScale="92500" lnSpcReduction="20000"/>
          </a:bodyPr>
          <a:lstStyle/>
          <a:p>
            <a:pPr marL="0" indent="0" algn="l">
              <a:lnSpc>
                <a:spcPct val="130000"/>
              </a:lnSpc>
              <a:buNone/>
            </a:pPr>
            <a:r>
              <a:rPr lang="en-US" sz="1400" dirty="0">
                <a:solidFill>
                  <a:srgbClr val="DAD8E9"/>
                </a:solidFill>
                <a:latin typeface="Mukta Light" pitchFamily="34" charset="0"/>
                <a:ea typeface="Mukta Light" pitchFamily="34" charset="-122"/>
                <a:cs typeface="Mukta Light" pitchFamily="34" charset="-120"/>
              </a:rPr>
              <a:t>Rock clusters flagged with risk severity scores</a:t>
            </a:r>
            <a:endParaRPr lang="en-US" sz="1400" dirty="0"/>
          </a:p>
        </p:txBody>
      </p:sp>
      <p:sp>
        <p:nvSpPr>
          <p:cNvPr id="14" name="Shape 10"/>
          <p:cNvSpPr/>
          <p:nvPr/>
        </p:nvSpPr>
        <p:spPr>
          <a:xfrm>
            <a:off x="6009382" y="1521916"/>
            <a:ext cx="2594521" cy="1632719"/>
          </a:xfrm>
          <a:prstGeom prst="roundRect">
            <a:avLst>
              <a:gd name="adj" fmla="val 3783"/>
            </a:avLst>
          </a:prstGeom>
          <a:solidFill>
            <a:srgbClr val="542C49"/>
          </a:solidFill>
          <a:ln w="4763">
            <a:solidFill>
              <a:srgbClr val="6D4562"/>
            </a:solidFill>
            <a:prstDash val="solid"/>
          </a:ln>
        </p:spPr>
      </p:sp>
      <p:sp>
        <p:nvSpPr>
          <p:cNvPr id="15" name="Shape 11"/>
          <p:cNvSpPr/>
          <p:nvPr/>
        </p:nvSpPr>
        <p:spPr>
          <a:xfrm>
            <a:off x="6161187" y="1673721"/>
            <a:ext cx="441201" cy="441201"/>
          </a:xfrm>
          <a:prstGeom prst="ellipse">
            <a:avLst/>
          </a:prstGeom>
          <a:solidFill>
            <a:srgbClr val="A95B95"/>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82482" y="1795016"/>
            <a:ext cx="198537" cy="198537"/>
          </a:xfrm>
          <a:prstGeom prst="rect">
            <a:avLst/>
          </a:prstGeom>
        </p:spPr>
      </p:pic>
      <p:sp>
        <p:nvSpPr>
          <p:cNvPr id="17" name="Text 12"/>
          <p:cNvSpPr/>
          <p:nvPr/>
        </p:nvSpPr>
        <p:spPr>
          <a:xfrm>
            <a:off x="6161187" y="2255044"/>
            <a:ext cx="2290911" cy="204267"/>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Eras Bold ITC" panose="020B0907030504020204" pitchFamily="34" charset="0"/>
                <a:ea typeface="Prompt Medium" pitchFamily="34" charset="-122"/>
                <a:cs typeface="Prompt Medium" pitchFamily="34" charset="-120"/>
              </a:rPr>
              <a:t>Safe Landing Zones</a:t>
            </a:r>
            <a:endParaRPr lang="en-US" sz="1400" dirty="0">
              <a:latin typeface="Eras Bold ITC" panose="020B0907030504020204" pitchFamily="34" charset="0"/>
            </a:endParaRPr>
          </a:p>
        </p:txBody>
      </p:sp>
      <p:sp>
        <p:nvSpPr>
          <p:cNvPr id="18" name="Text 13"/>
          <p:cNvSpPr/>
          <p:nvPr/>
        </p:nvSpPr>
        <p:spPr>
          <a:xfrm>
            <a:off x="6161187" y="2543398"/>
            <a:ext cx="2290911" cy="459432"/>
          </a:xfrm>
          <a:prstGeom prst="rect">
            <a:avLst/>
          </a:prstGeom>
          <a:noFill/>
          <a:ln/>
        </p:spPr>
        <p:txBody>
          <a:bodyPr wrap="square" lIns="0" tIns="0" rIns="0" bIns="0" rtlCol="0" anchor="t">
            <a:normAutofit fontScale="92500" lnSpcReduction="20000"/>
          </a:bodyPr>
          <a:lstStyle/>
          <a:p>
            <a:pPr marL="0" indent="0" algn="l">
              <a:lnSpc>
                <a:spcPct val="130000"/>
              </a:lnSpc>
              <a:buNone/>
            </a:pPr>
            <a:r>
              <a:rPr lang="en-US" sz="1400" dirty="0">
                <a:solidFill>
                  <a:srgbClr val="DAD8E9"/>
                </a:solidFill>
                <a:latin typeface="Mukta Light" pitchFamily="34" charset="0"/>
                <a:ea typeface="Mukta Light" pitchFamily="34" charset="-122"/>
                <a:cs typeface="Mukta Light" pitchFamily="34" charset="-120"/>
              </a:rPr>
              <a:t>Ranked zones with safety scores and coordinates</a:t>
            </a:r>
            <a:endParaRPr lang="en-US" sz="1400" dirty="0"/>
          </a:p>
        </p:txBody>
      </p:sp>
      <p:sp>
        <p:nvSpPr>
          <p:cNvPr id="19" name="Shape 14"/>
          <p:cNvSpPr/>
          <p:nvPr/>
        </p:nvSpPr>
        <p:spPr>
          <a:xfrm>
            <a:off x="540023" y="3294757"/>
            <a:ext cx="3961879" cy="1403003"/>
          </a:xfrm>
          <a:prstGeom prst="roundRect">
            <a:avLst>
              <a:gd name="adj" fmla="val 4403"/>
            </a:avLst>
          </a:prstGeom>
          <a:solidFill>
            <a:srgbClr val="542C49"/>
          </a:solidFill>
          <a:ln w="4763">
            <a:solidFill>
              <a:srgbClr val="6D4562"/>
            </a:solidFill>
            <a:prstDash val="solid"/>
          </a:ln>
        </p:spPr>
      </p:sp>
      <p:sp>
        <p:nvSpPr>
          <p:cNvPr id="20" name="Shape 15"/>
          <p:cNvSpPr/>
          <p:nvPr/>
        </p:nvSpPr>
        <p:spPr>
          <a:xfrm>
            <a:off x="691828" y="3446562"/>
            <a:ext cx="441201" cy="441201"/>
          </a:xfrm>
          <a:prstGeom prst="ellipse">
            <a:avLst/>
          </a:prstGeom>
          <a:solidFill>
            <a:srgbClr val="A95B95"/>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3122" y="3567857"/>
            <a:ext cx="198537" cy="198537"/>
          </a:xfrm>
          <a:prstGeom prst="rect">
            <a:avLst/>
          </a:prstGeom>
        </p:spPr>
      </p:pic>
      <p:sp>
        <p:nvSpPr>
          <p:cNvPr id="22" name="Text 16"/>
          <p:cNvSpPr/>
          <p:nvPr/>
        </p:nvSpPr>
        <p:spPr>
          <a:xfrm>
            <a:off x="691828" y="4027884"/>
            <a:ext cx="3658270" cy="204267"/>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Eras Bold ITC" panose="020B0907030504020204" pitchFamily="34" charset="0"/>
                <a:ea typeface="Prompt Medium" pitchFamily="34" charset="-122"/>
                <a:cs typeface="Prompt Medium" pitchFamily="34" charset="-120"/>
              </a:rPr>
              <a:t>Rover Path</a:t>
            </a:r>
            <a:endParaRPr lang="en-US" sz="1400" dirty="0">
              <a:latin typeface="Eras Bold ITC" panose="020B0907030504020204" pitchFamily="34" charset="0"/>
            </a:endParaRPr>
          </a:p>
        </p:txBody>
      </p:sp>
      <p:sp>
        <p:nvSpPr>
          <p:cNvPr id="23" name="Text 17"/>
          <p:cNvSpPr/>
          <p:nvPr/>
        </p:nvSpPr>
        <p:spPr>
          <a:xfrm>
            <a:off x="691828" y="4316239"/>
            <a:ext cx="3658270" cy="229716"/>
          </a:xfrm>
          <a:prstGeom prst="rect">
            <a:avLst/>
          </a:prstGeom>
          <a:noFill/>
          <a:ln/>
        </p:spPr>
        <p:txBody>
          <a:bodyPr wrap="none" lIns="0" tIns="0" rIns="0" bIns="0" rtlCol="0" anchor="t"/>
          <a:lstStyle/>
          <a:p>
            <a:pPr marL="0" indent="0" algn="l">
              <a:lnSpc>
                <a:spcPct val="130000"/>
              </a:lnSpc>
              <a:buNone/>
            </a:pPr>
            <a:r>
              <a:rPr lang="en-US" sz="1300" dirty="0">
                <a:solidFill>
                  <a:srgbClr val="DAD8E9"/>
                </a:solidFill>
                <a:latin typeface="Mukta Light" pitchFamily="34" charset="0"/>
                <a:ea typeface="Mukta Light" pitchFamily="34" charset="-122"/>
                <a:cs typeface="Mukta Light" pitchFamily="34" charset="-120"/>
              </a:rPr>
              <a:t>Optimized safe route from landing to target</a:t>
            </a:r>
            <a:endParaRPr lang="en-US" sz="1300" dirty="0"/>
          </a:p>
        </p:txBody>
      </p:sp>
      <p:sp>
        <p:nvSpPr>
          <p:cNvPr id="24" name="Shape 18"/>
          <p:cNvSpPr/>
          <p:nvPr/>
        </p:nvSpPr>
        <p:spPr>
          <a:xfrm>
            <a:off x="4642024" y="3294757"/>
            <a:ext cx="3961879" cy="1403003"/>
          </a:xfrm>
          <a:prstGeom prst="roundRect">
            <a:avLst>
              <a:gd name="adj" fmla="val 4403"/>
            </a:avLst>
          </a:prstGeom>
          <a:solidFill>
            <a:srgbClr val="542C49"/>
          </a:solidFill>
          <a:ln w="4763">
            <a:solidFill>
              <a:srgbClr val="6D4562"/>
            </a:solidFill>
            <a:prstDash val="solid"/>
          </a:ln>
        </p:spPr>
      </p:sp>
      <p:sp>
        <p:nvSpPr>
          <p:cNvPr id="25" name="Shape 19"/>
          <p:cNvSpPr/>
          <p:nvPr/>
        </p:nvSpPr>
        <p:spPr>
          <a:xfrm>
            <a:off x="4793828" y="3446562"/>
            <a:ext cx="441201" cy="441201"/>
          </a:xfrm>
          <a:prstGeom prst="ellipse">
            <a:avLst/>
          </a:prstGeom>
          <a:solidFill>
            <a:srgbClr val="A95B95"/>
          </a:solidFill>
          <a:ln/>
        </p:spPr>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15123" y="3567857"/>
            <a:ext cx="198537" cy="198537"/>
          </a:xfrm>
          <a:prstGeom prst="rect">
            <a:avLst/>
          </a:prstGeom>
        </p:spPr>
      </p:pic>
      <p:sp>
        <p:nvSpPr>
          <p:cNvPr id="27" name="Text 20"/>
          <p:cNvSpPr/>
          <p:nvPr/>
        </p:nvSpPr>
        <p:spPr>
          <a:xfrm>
            <a:off x="4793828" y="4027884"/>
            <a:ext cx="3658270" cy="204267"/>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Eras Bold ITC" panose="020B0907030504020204" pitchFamily="34" charset="0"/>
                <a:ea typeface="Prompt Medium" pitchFamily="34" charset="-122"/>
                <a:cs typeface="Prompt Medium" pitchFamily="34" charset="-120"/>
              </a:rPr>
              <a:t>Mission Statistics</a:t>
            </a:r>
            <a:endParaRPr lang="en-US" sz="1400" dirty="0">
              <a:latin typeface="Eras Bold ITC" panose="020B0907030504020204" pitchFamily="34" charset="0"/>
            </a:endParaRPr>
          </a:p>
        </p:txBody>
      </p:sp>
      <p:sp>
        <p:nvSpPr>
          <p:cNvPr id="28" name="Text 21"/>
          <p:cNvSpPr/>
          <p:nvPr/>
        </p:nvSpPr>
        <p:spPr>
          <a:xfrm>
            <a:off x="4793828" y="4316239"/>
            <a:ext cx="3658270" cy="229716"/>
          </a:xfrm>
          <a:prstGeom prst="rect">
            <a:avLst/>
          </a:prstGeom>
          <a:noFill/>
          <a:ln/>
        </p:spPr>
        <p:txBody>
          <a:bodyPr wrap="none" lIns="0" tIns="0" rIns="0" bIns="0" rtlCol="0" anchor="t"/>
          <a:lstStyle/>
          <a:p>
            <a:pPr marL="0" indent="0" algn="l">
              <a:lnSpc>
                <a:spcPct val="130000"/>
              </a:lnSpc>
              <a:buNone/>
            </a:pPr>
            <a:r>
              <a:rPr lang="en-US" sz="1300" dirty="0">
                <a:solidFill>
                  <a:srgbClr val="DAD8E9"/>
                </a:solidFill>
                <a:latin typeface="Mukta Light" pitchFamily="34" charset="0"/>
                <a:ea typeface="Mukta Light" pitchFamily="34" charset="-122"/>
                <a:cs typeface="Mukta Light" pitchFamily="34" charset="-120"/>
              </a:rPr>
              <a:t>Area coverage, hazard density, and terrain </a:t>
            </a:r>
            <a:r>
              <a:rPr lang="en-US" sz="1300" dirty="0" err="1">
                <a:solidFill>
                  <a:srgbClr val="DAD8E9"/>
                </a:solidFill>
                <a:latin typeface="Mukta Light" pitchFamily="34" charset="0"/>
                <a:ea typeface="Mukta Light" pitchFamily="34" charset="-122"/>
                <a:cs typeface="Mukta Light" pitchFamily="34" charset="-120"/>
              </a:rPr>
              <a:t>maetrics</a:t>
            </a:r>
            <a:endParaRPr lang="en-US" sz="1300" dirty="0"/>
          </a:p>
        </p:txBody>
      </p:sp>
      <p:sp>
        <p:nvSpPr>
          <p:cNvPr id="30" name="Rectangle 29">
            <a:extLst>
              <a:ext uri="{FF2B5EF4-FFF2-40B4-BE49-F238E27FC236}">
                <a16:creationId xmlns:a16="http://schemas.microsoft.com/office/drawing/2014/main" id="{6D708C2B-6D70-01E5-7561-EC0DF4355009}"/>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8" name="Picture 37">
            <a:extLst>
              <a:ext uri="{FF2B5EF4-FFF2-40B4-BE49-F238E27FC236}">
                <a16:creationId xmlns:a16="http://schemas.microsoft.com/office/drawing/2014/main" id="{87160D58-0B32-9217-12C2-0B9E3AE8A31C}"/>
              </a:ext>
            </a:extLst>
          </p:cNvPr>
          <p:cNvPicPr>
            <a:picLocks noChangeAspect="1"/>
          </p:cNvPicPr>
          <p:nvPr/>
        </p:nvPicPr>
        <p:blipFill>
          <a:blip r:embed="rId8"/>
          <a:stretch>
            <a:fillRect/>
          </a:stretch>
        </p:blipFill>
        <p:spPr>
          <a:xfrm>
            <a:off x="75789" y="4632828"/>
            <a:ext cx="441052" cy="441052"/>
          </a:xfrm>
          <a:prstGeom prst="rect">
            <a:avLst/>
          </a:prstGeom>
        </p:spPr>
      </p:pic>
      <p:sp>
        <p:nvSpPr>
          <p:cNvPr id="31" name="Action Button: Go Forward or Next 30">
            <a:hlinkClick r:id="" action="ppaction://hlinkshowjump?jump=nextslide" highlightClick="1"/>
            <a:extLst>
              <a:ext uri="{FF2B5EF4-FFF2-40B4-BE49-F238E27FC236}">
                <a16:creationId xmlns:a16="http://schemas.microsoft.com/office/drawing/2014/main" id="{EC0C7C3B-4194-F474-7D95-E308907AB5CB}"/>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Action Button: Go Back or Previous 33">
            <a:hlinkClick r:id="" action="ppaction://hlinkshowjump?jump=previousslide" highlightClick="1"/>
            <a:extLst>
              <a:ext uri="{FF2B5EF4-FFF2-40B4-BE49-F238E27FC236}">
                <a16:creationId xmlns:a16="http://schemas.microsoft.com/office/drawing/2014/main" id="{8356468C-BBEE-82B4-B486-34CA4F315DC3}"/>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0732" y="158543"/>
            <a:ext cx="8063954" cy="214313"/>
          </a:xfrm>
          <a:prstGeom prst="rect">
            <a:avLst/>
          </a:prstGeom>
          <a:noFill/>
          <a:ln/>
        </p:spPr>
        <p:txBody>
          <a:bodyPr wrap="none" lIns="0" tIns="0" rIns="0" bIns="0" rtlCol="0" anchor="t"/>
          <a:lstStyle/>
          <a:p>
            <a:pPr marL="0" indent="0" algn="l">
              <a:lnSpc>
                <a:spcPct val="104000"/>
              </a:lnSpc>
              <a:buNone/>
            </a:pPr>
            <a:r>
              <a:rPr lang="en-US" sz="2800" dirty="0">
                <a:solidFill>
                  <a:srgbClr val="00FFCC"/>
                </a:solidFill>
                <a:latin typeface="Broadway" panose="04040905080B02020502" pitchFamily="82" charset="0"/>
                <a:ea typeface="Prompt Medium" pitchFamily="34" charset="-122"/>
                <a:cs typeface="Prompt Medium" pitchFamily="34" charset="-120"/>
              </a:rPr>
              <a:t>Expected Impact</a:t>
            </a:r>
            <a:endParaRPr lang="en-US" sz="2800" dirty="0">
              <a:solidFill>
                <a:srgbClr val="00FFCC"/>
              </a:solidFill>
              <a:latin typeface="Broadway" panose="04040905080B02020502" pitchFamily="82" charset="0"/>
            </a:endParaRPr>
          </a:p>
        </p:txBody>
      </p:sp>
      <p:sp>
        <p:nvSpPr>
          <p:cNvPr id="3" name="Text 1"/>
          <p:cNvSpPr/>
          <p:nvPr/>
        </p:nvSpPr>
        <p:spPr>
          <a:xfrm>
            <a:off x="470732" y="706007"/>
            <a:ext cx="3754392" cy="2305557"/>
          </a:xfrm>
          <a:prstGeom prst="rect">
            <a:avLst/>
          </a:prstGeom>
          <a:noFill/>
          <a:ln/>
        </p:spPr>
        <p:txBody>
          <a:bodyPr wrap="square" lIns="0" tIns="0" rIns="0" bIns="0" rtlCol="0" anchor="t">
            <a:noAutofit/>
          </a:bodyPr>
          <a:lstStyle/>
          <a:p>
            <a:pPr marL="0" indent="0" algn="l">
              <a:lnSpc>
                <a:spcPct val="150000"/>
              </a:lnSpc>
              <a:buNone/>
            </a:pPr>
            <a:r>
              <a:rPr lang="en-US" sz="1600" dirty="0">
                <a:solidFill>
                  <a:srgbClr val="DAD8E9"/>
                </a:solidFill>
                <a:latin typeface="Calibri" panose="020F0502020204030204" pitchFamily="34" charset="0"/>
                <a:ea typeface="Calibri" panose="020F0502020204030204" pitchFamily="34" charset="0"/>
                <a:cs typeface="Calibri" panose="020F0502020204030204" pitchFamily="34" charset="0"/>
              </a:rPr>
              <a:t>This system directly addresses the most critical challenges in lunar exploration — from reducing mission failure rates to enabling fully autonomous operations. By automating hazard detection and landing site selection, it dramatically shortens mission planning cycles and lowers operational costs for agencies like ISRO and NASA.</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4" name="Shape 2"/>
          <p:cNvSpPr/>
          <p:nvPr/>
        </p:nvSpPr>
        <p:spPr>
          <a:xfrm>
            <a:off x="274089" y="3712708"/>
            <a:ext cx="4051168" cy="888316"/>
          </a:xfrm>
          <a:prstGeom prst="roundRect">
            <a:avLst>
              <a:gd name="adj" fmla="val 11058"/>
            </a:avLst>
          </a:prstGeom>
          <a:solidFill>
            <a:srgbClr val="542C49"/>
          </a:solidFill>
          <a:ln/>
        </p:spPr>
      </p:sp>
      <p:pic>
        <p:nvPicPr>
          <p:cNvPr id="5" name="Image 0" descr="preencoded.png"/>
          <p:cNvPicPr>
            <a:picLocks noChangeAspect="1"/>
          </p:cNvPicPr>
          <p:nvPr/>
        </p:nvPicPr>
        <p:blipFill>
          <a:blip r:embed="rId3"/>
          <a:stretch>
            <a:fillRect/>
          </a:stretch>
        </p:blipFill>
        <p:spPr>
          <a:xfrm>
            <a:off x="296315" y="3793655"/>
            <a:ext cx="174417" cy="139426"/>
          </a:xfrm>
          <a:prstGeom prst="rect">
            <a:avLst/>
          </a:prstGeom>
        </p:spPr>
      </p:pic>
      <p:sp>
        <p:nvSpPr>
          <p:cNvPr id="6" name="Text 3"/>
          <p:cNvSpPr/>
          <p:nvPr/>
        </p:nvSpPr>
        <p:spPr>
          <a:xfrm>
            <a:off x="508572" y="3852178"/>
            <a:ext cx="3778845" cy="1072101"/>
          </a:xfrm>
          <a:prstGeom prst="rect">
            <a:avLst/>
          </a:prstGeom>
          <a:noFill/>
          <a:ln/>
        </p:spPr>
        <p:txBody>
          <a:bodyPr wrap="square" lIns="0" tIns="0" rIns="0" bIns="0" rtlCol="0" anchor="t">
            <a:normAutofit/>
          </a:bodyPr>
          <a:lstStyle/>
          <a:p>
            <a:pPr marL="0" indent="0" algn="l">
              <a:lnSpc>
                <a:spcPct val="100000"/>
              </a:lnSpc>
              <a:buNone/>
            </a:pPr>
            <a:r>
              <a:rPr lang="en-US" sz="1400" dirty="0">
                <a:solidFill>
                  <a:srgbClr val="FFFFFF"/>
                </a:solidFill>
                <a:latin typeface="Mukta Light" pitchFamily="34" charset="0"/>
                <a:ea typeface="Mukta Light" pitchFamily="34" charset="-122"/>
                <a:cs typeface="Mukta Light" pitchFamily="34" charset="-120"/>
              </a:rPr>
              <a:t>A single successful autonomous landing can save </a:t>
            </a:r>
            <a:r>
              <a:rPr lang="en-US" sz="1400" b="1" dirty="0">
                <a:solidFill>
                  <a:srgbClr val="FFFFFF"/>
                </a:solidFill>
                <a:latin typeface="Mukta Bold" pitchFamily="34" charset="0"/>
                <a:ea typeface="Mukta Bold" pitchFamily="34" charset="-122"/>
                <a:cs typeface="Mukta Bold" pitchFamily="34" charset="-120"/>
              </a:rPr>
              <a:t>hundreds of millions of dollars</a:t>
            </a:r>
            <a:r>
              <a:rPr lang="en-US" sz="1400" dirty="0">
                <a:solidFill>
                  <a:srgbClr val="FFFFFF"/>
                </a:solidFill>
                <a:latin typeface="Mukta Light" pitchFamily="34" charset="0"/>
                <a:ea typeface="Mukta Light" pitchFamily="34" charset="-122"/>
                <a:cs typeface="Mukta Light" pitchFamily="34" charset="-120"/>
              </a:rPr>
              <a:t> in mission costs and years of scientific opportunity.</a:t>
            </a:r>
            <a:endParaRPr lang="en-US" sz="1400" dirty="0"/>
          </a:p>
        </p:txBody>
      </p:sp>
      <p:pic>
        <p:nvPicPr>
          <p:cNvPr id="7" name="Image 1" descr="preencoded.png"/>
          <p:cNvPicPr>
            <a:picLocks noChangeAspect="1"/>
          </p:cNvPicPr>
          <p:nvPr/>
        </p:nvPicPr>
        <p:blipFill>
          <a:blip r:embed="rId4"/>
          <a:stretch>
            <a:fillRect/>
          </a:stretch>
        </p:blipFill>
        <p:spPr>
          <a:xfrm>
            <a:off x="4748467" y="531861"/>
            <a:ext cx="3937918" cy="3937918"/>
          </a:xfrm>
          <a:prstGeom prst="rect">
            <a:avLst/>
          </a:prstGeom>
        </p:spPr>
      </p:pic>
      <p:sp>
        <p:nvSpPr>
          <p:cNvPr id="9" name="Rectangle 8">
            <a:extLst>
              <a:ext uri="{FF2B5EF4-FFF2-40B4-BE49-F238E27FC236}">
                <a16:creationId xmlns:a16="http://schemas.microsoft.com/office/drawing/2014/main" id="{C711FC3F-F374-39E2-1829-9B4C769B5CC1}"/>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3F43FF07-F0C4-E1D1-6D04-2D0F63CB2B93}"/>
              </a:ext>
            </a:extLst>
          </p:cNvPr>
          <p:cNvPicPr>
            <a:picLocks noChangeAspect="1"/>
          </p:cNvPicPr>
          <p:nvPr/>
        </p:nvPicPr>
        <p:blipFill>
          <a:blip r:embed="rId5"/>
          <a:stretch>
            <a:fillRect/>
          </a:stretch>
        </p:blipFill>
        <p:spPr>
          <a:xfrm>
            <a:off x="75789" y="4632828"/>
            <a:ext cx="441052" cy="441052"/>
          </a:xfrm>
          <a:prstGeom prst="rect">
            <a:avLst/>
          </a:prstGeom>
        </p:spPr>
      </p:pic>
      <p:sp>
        <p:nvSpPr>
          <p:cNvPr id="10" name="Action Button: Go Forward or Next 9">
            <a:hlinkClick r:id="" action="ppaction://hlinkshowjump?jump=nextslide" highlightClick="1"/>
            <a:extLst>
              <a:ext uri="{FF2B5EF4-FFF2-40B4-BE49-F238E27FC236}">
                <a16:creationId xmlns:a16="http://schemas.microsoft.com/office/drawing/2014/main" id="{6F17B93D-D3B1-1D68-B8C3-A4047FF821CB}"/>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ction Button: Go Back or Previous 13">
            <a:hlinkClick r:id="" action="ppaction://hlinkshowjump?jump=previousslide" highlightClick="1"/>
            <a:extLst>
              <a:ext uri="{FF2B5EF4-FFF2-40B4-BE49-F238E27FC236}">
                <a16:creationId xmlns:a16="http://schemas.microsoft.com/office/drawing/2014/main" id="{C8308DF0-B060-B26F-3A2E-3C8401F389DE}"/>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16841" y="323254"/>
            <a:ext cx="8063954" cy="428625"/>
          </a:xfrm>
          <a:prstGeom prst="rect">
            <a:avLst/>
          </a:prstGeom>
          <a:noFill/>
          <a:ln/>
        </p:spPr>
        <p:txBody>
          <a:bodyPr wrap="none" lIns="0" tIns="0" rIns="0" bIns="0" rtlCol="0" anchor="t"/>
          <a:lstStyle/>
          <a:p>
            <a:pPr marL="0" indent="0" algn="l">
              <a:lnSpc>
                <a:spcPct val="104000"/>
              </a:lnSpc>
              <a:buNone/>
            </a:pPr>
            <a:r>
              <a:rPr lang="en-US" sz="2800" dirty="0">
                <a:solidFill>
                  <a:srgbClr val="00FFCC"/>
                </a:solidFill>
                <a:latin typeface="Broadway" panose="04040905080B02020502" pitchFamily="82" charset="0"/>
                <a:ea typeface="Prompt Medium" pitchFamily="34" charset="-122"/>
                <a:cs typeface="Prompt Medium" pitchFamily="34" charset="-120"/>
              </a:rPr>
              <a:t>Future Scope</a:t>
            </a:r>
            <a:endParaRPr lang="en-US" sz="2800" dirty="0">
              <a:solidFill>
                <a:srgbClr val="00FFCC"/>
              </a:solidFill>
              <a:latin typeface="Broadway" panose="04040905080B02020502" pitchFamily="82" charset="0"/>
            </a:endParaRPr>
          </a:p>
        </p:txBody>
      </p:sp>
      <p:sp>
        <p:nvSpPr>
          <p:cNvPr id="3" name="Text 1"/>
          <p:cNvSpPr/>
          <p:nvPr/>
        </p:nvSpPr>
        <p:spPr>
          <a:xfrm>
            <a:off x="156842" y="1143868"/>
            <a:ext cx="8521154" cy="246906"/>
          </a:xfrm>
          <a:prstGeom prst="rect">
            <a:avLst/>
          </a:prstGeom>
          <a:noFill/>
          <a:ln/>
        </p:spPr>
        <p:txBody>
          <a:bodyPr wrap="none" lIns="0" tIns="0" rIns="0" bIns="0" rtlCol="0" anchor="t"/>
          <a:lstStyle/>
          <a:p>
            <a:pPr marL="0" indent="0" algn="l">
              <a:lnSpc>
                <a:spcPct val="133000"/>
              </a:lnSpc>
              <a:buNone/>
            </a:pPr>
            <a:r>
              <a:rPr lang="en-US" sz="1600" dirty="0">
                <a:solidFill>
                  <a:srgbClr val="DAD8E9"/>
                </a:solidFill>
                <a:latin typeface="Sitka Subheading" pitchFamily="2" charset="0"/>
                <a:ea typeface="Mukta Light" pitchFamily="34" charset="-122"/>
                <a:cs typeface="Mukta Light" pitchFamily="34" charset="-120"/>
              </a:rPr>
              <a:t>Built to evolve — from lunar landing assistance to a full interplanetary exploration platform.</a:t>
            </a:r>
            <a:endParaRPr lang="en-US" sz="1600" dirty="0">
              <a:latin typeface="Sitka Subheading" pitchFamily="2" charset="0"/>
            </a:endParaRPr>
          </a:p>
        </p:txBody>
      </p:sp>
      <p:pic>
        <p:nvPicPr>
          <p:cNvPr id="4" name="Image 0" descr="preencoded.png"/>
          <p:cNvPicPr>
            <a:picLocks noChangeAspect="1"/>
          </p:cNvPicPr>
          <p:nvPr/>
        </p:nvPicPr>
        <p:blipFill>
          <a:blip r:embed="rId3"/>
          <a:stretch>
            <a:fillRect/>
          </a:stretch>
        </p:blipFill>
        <p:spPr>
          <a:xfrm>
            <a:off x="253502" y="1893717"/>
            <a:ext cx="1561606" cy="965123"/>
          </a:xfrm>
          <a:prstGeom prst="rect">
            <a:avLst/>
          </a:prstGeom>
        </p:spPr>
      </p:pic>
      <p:sp>
        <p:nvSpPr>
          <p:cNvPr id="5" name="Text 2"/>
          <p:cNvSpPr/>
          <p:nvPr/>
        </p:nvSpPr>
        <p:spPr>
          <a:xfrm>
            <a:off x="148140" y="2982325"/>
            <a:ext cx="2146562" cy="397711"/>
          </a:xfrm>
          <a:prstGeom prst="rect">
            <a:avLst/>
          </a:prstGeom>
          <a:noFill/>
          <a:ln/>
        </p:spPr>
        <p:txBody>
          <a:bodyPr wrap="square" lIns="0" tIns="0" rIns="0" bIns="0" rtlCol="0" anchor="t">
            <a:noAutofit/>
          </a:bodyPr>
          <a:lstStyle/>
          <a:p>
            <a:pPr marL="0" indent="0" algn="l">
              <a:lnSpc>
                <a:spcPct val="104000"/>
              </a:lnSpc>
              <a:buNone/>
            </a:pPr>
            <a:r>
              <a:rPr lang="en-US" sz="1400" dirty="0">
                <a:solidFill>
                  <a:srgbClr val="DAD8E9"/>
                </a:solidFill>
                <a:latin typeface="Forte" panose="03060902040502070203" pitchFamily="66" charset="0"/>
                <a:ea typeface="Prompt Medium" pitchFamily="34" charset="-122"/>
                <a:cs typeface="Prompt Medium" pitchFamily="34" charset="-120"/>
              </a:rPr>
              <a:t>Real-Time Satellite Link</a:t>
            </a:r>
            <a:endParaRPr lang="en-US" sz="1400" dirty="0">
              <a:latin typeface="Forte" panose="03060902040502070203" pitchFamily="66" charset="0"/>
            </a:endParaRPr>
          </a:p>
        </p:txBody>
      </p:sp>
      <p:sp>
        <p:nvSpPr>
          <p:cNvPr id="6" name="Text 3"/>
          <p:cNvSpPr/>
          <p:nvPr/>
        </p:nvSpPr>
        <p:spPr>
          <a:xfrm>
            <a:off x="148140" y="3264611"/>
            <a:ext cx="2146562" cy="687294"/>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AD8E9"/>
                </a:solidFill>
                <a:latin typeface="Bahnschrift SemiLight SemiConde" panose="020B0502040204020203" pitchFamily="34" charset="0"/>
                <a:ea typeface="Mukta Light" pitchFamily="34" charset="-122"/>
                <a:cs typeface="Mukta Light" pitchFamily="34" charset="-120"/>
              </a:rPr>
              <a:t>Live terrain feeds from orbiters for dynamic mission updates</a:t>
            </a:r>
            <a:endParaRPr lang="en-US" sz="1400" dirty="0">
              <a:latin typeface="Bahnschrift SemiLight SemiConde" panose="020B0502040204020203" pitchFamily="34" charset="0"/>
            </a:endParaRPr>
          </a:p>
        </p:txBody>
      </p:sp>
      <p:pic>
        <p:nvPicPr>
          <p:cNvPr id="7" name="Image 1" descr="preencoded.png"/>
          <p:cNvPicPr>
            <a:picLocks noChangeAspect="1"/>
          </p:cNvPicPr>
          <p:nvPr/>
        </p:nvPicPr>
        <p:blipFill>
          <a:blip r:embed="rId4"/>
          <a:stretch>
            <a:fillRect/>
          </a:stretch>
        </p:blipFill>
        <p:spPr>
          <a:xfrm>
            <a:off x="2534563" y="1893717"/>
            <a:ext cx="1561606" cy="965123"/>
          </a:xfrm>
          <a:prstGeom prst="rect">
            <a:avLst/>
          </a:prstGeom>
        </p:spPr>
      </p:pic>
      <p:sp>
        <p:nvSpPr>
          <p:cNvPr id="8" name="Text 4"/>
          <p:cNvSpPr/>
          <p:nvPr/>
        </p:nvSpPr>
        <p:spPr>
          <a:xfrm>
            <a:off x="2459539" y="2919885"/>
            <a:ext cx="2146648" cy="245839"/>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Forte" panose="03060902040502070203" pitchFamily="66" charset="0"/>
                <a:ea typeface="Prompt Medium" pitchFamily="34" charset="-122"/>
                <a:cs typeface="Prompt Medium" pitchFamily="34" charset="-120"/>
              </a:rPr>
              <a:t>3D Terrain Mapping</a:t>
            </a:r>
            <a:endParaRPr lang="en-US" sz="1400" dirty="0">
              <a:latin typeface="Forte" panose="03060902040502070203" pitchFamily="66" charset="0"/>
            </a:endParaRPr>
          </a:p>
        </p:txBody>
      </p:sp>
      <p:sp>
        <p:nvSpPr>
          <p:cNvPr id="9" name="Text 5"/>
          <p:cNvSpPr/>
          <p:nvPr/>
        </p:nvSpPr>
        <p:spPr>
          <a:xfrm>
            <a:off x="2459539" y="3149332"/>
            <a:ext cx="2146648" cy="849680"/>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AD8E9"/>
                </a:solidFill>
                <a:latin typeface="Bahnschrift SemiLight SemiConde" panose="020B0502040204020203" pitchFamily="34" charset="0"/>
                <a:ea typeface="Mukta Light" pitchFamily="34" charset="-122"/>
                <a:cs typeface="Mukta Light" pitchFamily="34" charset="-120"/>
              </a:rPr>
              <a:t>Full volumetric reconstruction for precision landing analysis</a:t>
            </a:r>
            <a:endParaRPr lang="en-US" sz="1400" dirty="0">
              <a:latin typeface="Bahnschrift SemiLight SemiConde" panose="020B0502040204020203" pitchFamily="34" charset="0"/>
            </a:endParaRPr>
          </a:p>
        </p:txBody>
      </p:sp>
      <p:pic>
        <p:nvPicPr>
          <p:cNvPr id="10" name="Image 2" descr="preencoded.png"/>
          <p:cNvPicPr>
            <a:picLocks noChangeAspect="1"/>
          </p:cNvPicPr>
          <p:nvPr/>
        </p:nvPicPr>
        <p:blipFill>
          <a:blip r:embed="rId5"/>
          <a:stretch>
            <a:fillRect/>
          </a:stretch>
        </p:blipFill>
        <p:spPr>
          <a:xfrm>
            <a:off x="4670484" y="1893717"/>
            <a:ext cx="1561606" cy="965123"/>
          </a:xfrm>
          <a:prstGeom prst="rect">
            <a:avLst/>
          </a:prstGeom>
        </p:spPr>
      </p:pic>
      <p:sp>
        <p:nvSpPr>
          <p:cNvPr id="11" name="Text 6"/>
          <p:cNvSpPr/>
          <p:nvPr/>
        </p:nvSpPr>
        <p:spPr>
          <a:xfrm>
            <a:off x="4666079" y="2919885"/>
            <a:ext cx="1989764" cy="245839"/>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Forte" panose="03060902040502070203" pitchFamily="66" charset="0"/>
                <a:ea typeface="Prompt Medium" pitchFamily="34" charset="-122"/>
                <a:cs typeface="Prompt Medium" pitchFamily="34" charset="-120"/>
              </a:rPr>
              <a:t>Moon Digital Twin</a:t>
            </a:r>
            <a:endParaRPr lang="en-US" sz="1400" dirty="0">
              <a:latin typeface="Forte" panose="03060902040502070203" pitchFamily="66" charset="0"/>
            </a:endParaRPr>
          </a:p>
        </p:txBody>
      </p:sp>
      <p:sp>
        <p:nvSpPr>
          <p:cNvPr id="12" name="Text 7"/>
          <p:cNvSpPr/>
          <p:nvPr/>
        </p:nvSpPr>
        <p:spPr>
          <a:xfrm>
            <a:off x="4666079" y="3133304"/>
            <a:ext cx="1989764" cy="974670"/>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AD8E9"/>
                </a:solidFill>
                <a:latin typeface="Bahnschrift SemiLight SemiConde" panose="020B0502040204020203" pitchFamily="34" charset="0"/>
                <a:ea typeface="Mukta Light" pitchFamily="34" charset="-122"/>
                <a:cs typeface="Mukta Light" pitchFamily="34" charset="-120"/>
              </a:rPr>
              <a:t>Simulate missions in a virtual lunar replica before launch</a:t>
            </a:r>
            <a:endParaRPr lang="en-US" sz="1400" dirty="0">
              <a:latin typeface="Bahnschrift SemiLight SemiConde" panose="020B0502040204020203" pitchFamily="34" charset="0"/>
            </a:endParaRPr>
          </a:p>
        </p:txBody>
      </p:sp>
      <p:pic>
        <p:nvPicPr>
          <p:cNvPr id="13" name="Image 3" descr="preencoded.png"/>
          <p:cNvPicPr>
            <a:picLocks noChangeAspect="1"/>
          </p:cNvPicPr>
          <p:nvPr/>
        </p:nvPicPr>
        <p:blipFill>
          <a:blip r:embed="rId6"/>
          <a:stretch>
            <a:fillRect/>
          </a:stretch>
        </p:blipFill>
        <p:spPr>
          <a:xfrm>
            <a:off x="6935808" y="1893717"/>
            <a:ext cx="1561608" cy="965123"/>
          </a:xfrm>
          <a:prstGeom prst="rect">
            <a:avLst/>
          </a:prstGeom>
        </p:spPr>
      </p:pic>
      <p:sp>
        <p:nvSpPr>
          <p:cNvPr id="14" name="Text 8"/>
          <p:cNvSpPr/>
          <p:nvPr/>
        </p:nvSpPr>
        <p:spPr>
          <a:xfrm>
            <a:off x="6935808" y="2919885"/>
            <a:ext cx="2047846" cy="245839"/>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Forte" panose="03060902040502070203" pitchFamily="66" charset="0"/>
                <a:ea typeface="Prompt Medium" pitchFamily="34" charset="-122"/>
                <a:cs typeface="Prompt Medium" pitchFamily="34" charset="-120"/>
              </a:rPr>
              <a:t>Mars &amp; Multi-Rover</a:t>
            </a:r>
            <a:endParaRPr lang="en-US" sz="1400" dirty="0">
              <a:latin typeface="Forte" panose="03060902040502070203" pitchFamily="66" charset="0"/>
            </a:endParaRPr>
          </a:p>
        </p:txBody>
      </p:sp>
      <p:sp>
        <p:nvSpPr>
          <p:cNvPr id="15" name="Text 9"/>
          <p:cNvSpPr/>
          <p:nvPr/>
        </p:nvSpPr>
        <p:spPr>
          <a:xfrm>
            <a:off x="6935808" y="3149331"/>
            <a:ext cx="2047846" cy="849681"/>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DAD8E9"/>
                </a:solidFill>
                <a:latin typeface="Bahnschrift SemiLight SemiConde" panose="020B0502040204020203" pitchFamily="34" charset="0"/>
                <a:ea typeface="Mukta Light" pitchFamily="34" charset="-122"/>
                <a:cs typeface="Mukta Light" pitchFamily="34" charset="-120"/>
              </a:rPr>
              <a:t>Extend to Mars terrain with coordinated multi-rover AI missions</a:t>
            </a:r>
            <a:endParaRPr lang="en-US" sz="1400" dirty="0">
              <a:latin typeface="Bahnschrift SemiLight SemiConde" panose="020B0502040204020203" pitchFamily="34" charset="0"/>
            </a:endParaRPr>
          </a:p>
        </p:txBody>
      </p:sp>
      <p:sp>
        <p:nvSpPr>
          <p:cNvPr id="17" name="Rectangle 16">
            <a:extLst>
              <a:ext uri="{FF2B5EF4-FFF2-40B4-BE49-F238E27FC236}">
                <a16:creationId xmlns:a16="http://schemas.microsoft.com/office/drawing/2014/main" id="{2C92749C-5A39-81E6-2D87-2AF87BA53FA3}"/>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22">
            <a:extLst>
              <a:ext uri="{FF2B5EF4-FFF2-40B4-BE49-F238E27FC236}">
                <a16:creationId xmlns:a16="http://schemas.microsoft.com/office/drawing/2014/main" id="{1F583B7D-EF68-E5B2-AB47-08F5559FF383}"/>
              </a:ext>
            </a:extLst>
          </p:cNvPr>
          <p:cNvPicPr>
            <a:picLocks noChangeAspect="1"/>
          </p:cNvPicPr>
          <p:nvPr/>
        </p:nvPicPr>
        <p:blipFill>
          <a:blip r:embed="rId7"/>
          <a:stretch>
            <a:fillRect/>
          </a:stretch>
        </p:blipFill>
        <p:spPr>
          <a:xfrm>
            <a:off x="75789" y="4632828"/>
            <a:ext cx="441052" cy="441052"/>
          </a:xfrm>
          <a:prstGeom prst="rect">
            <a:avLst/>
          </a:prstGeom>
        </p:spPr>
      </p:pic>
      <p:sp>
        <p:nvSpPr>
          <p:cNvPr id="18" name="Action Button: Go Forward or Next 17">
            <a:hlinkClick r:id="" action="ppaction://hlinkshowjump?jump=nextslide" highlightClick="1"/>
            <a:extLst>
              <a:ext uri="{FF2B5EF4-FFF2-40B4-BE49-F238E27FC236}">
                <a16:creationId xmlns:a16="http://schemas.microsoft.com/office/drawing/2014/main" id="{A70C9130-117B-9405-A222-FB968CFC50DA}"/>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ction Button: Go Back or Previous 21">
            <a:hlinkClick r:id="" action="ppaction://hlinkshowjump?jump=previousslide" highlightClick="1"/>
            <a:extLst>
              <a:ext uri="{FF2B5EF4-FFF2-40B4-BE49-F238E27FC236}">
                <a16:creationId xmlns:a16="http://schemas.microsoft.com/office/drawing/2014/main" id="{DA3EC139-8B83-2FF5-7A92-B396B5809C0E}"/>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60194" y="203114"/>
            <a:ext cx="3814263" cy="432300"/>
          </a:xfrm>
          <a:prstGeom prst="rect">
            <a:avLst/>
          </a:prstGeom>
          <a:noFill/>
          <a:ln/>
        </p:spPr>
        <p:txBody>
          <a:bodyPr wrap="none" lIns="0" tIns="0" rIns="0" bIns="0" rtlCol="0" anchor="t"/>
          <a:lstStyle/>
          <a:p>
            <a:pPr marL="0" indent="0" algn="l">
              <a:lnSpc>
                <a:spcPct val="104000"/>
              </a:lnSpc>
              <a:buNone/>
            </a:pPr>
            <a:r>
              <a:rPr lang="en-US" sz="2800" dirty="0">
                <a:solidFill>
                  <a:srgbClr val="00FFCC"/>
                </a:solidFill>
                <a:latin typeface="Broadway" panose="04040905080B02020502" pitchFamily="82" charset="0"/>
                <a:ea typeface="Prompt Medium" pitchFamily="34" charset="-122"/>
                <a:cs typeface="Prompt Medium" pitchFamily="34" charset="-120"/>
              </a:rPr>
              <a:t>Technical Feasibility</a:t>
            </a:r>
            <a:endParaRPr lang="en-US" sz="2800" dirty="0">
              <a:solidFill>
                <a:srgbClr val="00FFCC"/>
              </a:solidFill>
              <a:latin typeface="Broadway" panose="04040905080B02020502" pitchFamily="82" charset="0"/>
            </a:endParaRPr>
          </a:p>
        </p:txBody>
      </p:sp>
      <p:sp>
        <p:nvSpPr>
          <p:cNvPr id="3" name="Text 1"/>
          <p:cNvSpPr/>
          <p:nvPr/>
        </p:nvSpPr>
        <p:spPr>
          <a:xfrm>
            <a:off x="380366" y="1071038"/>
            <a:ext cx="4032673" cy="1698213"/>
          </a:xfrm>
          <a:prstGeom prst="rect">
            <a:avLst/>
          </a:prstGeom>
          <a:noFill/>
          <a:ln/>
        </p:spPr>
        <p:txBody>
          <a:bodyPr wrap="square" lIns="0" tIns="0" rIns="0" bIns="0" rtlCol="0" anchor="t">
            <a:normAutofit/>
          </a:bodyPr>
          <a:lstStyle/>
          <a:p>
            <a:pPr marL="0" indent="0" algn="l">
              <a:lnSpc>
                <a:spcPct val="100000"/>
              </a:lnSpc>
              <a:buNone/>
            </a:pPr>
            <a:r>
              <a:rPr lang="en-US" sz="1600" dirty="0">
                <a:solidFill>
                  <a:srgbClr val="DAD8E9"/>
                </a:solidFill>
                <a:latin typeface="Franklin Gothic Demi" panose="020B0703020102020204" pitchFamily="34" charset="0"/>
                <a:ea typeface="Mukta Light" pitchFamily="34" charset="-122"/>
                <a:cs typeface="Mukta Light" pitchFamily="34" charset="-120"/>
              </a:rPr>
              <a:t>This project is grounded in proven, accessible technology — no speculative components. Every layer of the stack relies on publicly available resources, open-source frameworks, and cloud-native architecture that can be deployed within days.</a:t>
            </a:r>
            <a:endParaRPr lang="en-US" sz="1600" dirty="0">
              <a:latin typeface="Franklin Gothic Demi" panose="020B0703020102020204" pitchFamily="34" charset="0"/>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7583" y="2927380"/>
            <a:ext cx="3654605" cy="584040"/>
          </a:xfrm>
          <a:prstGeom prst="rect">
            <a:avLst/>
          </a:prstGeom>
        </p:spPr>
      </p:pic>
      <p:sp>
        <p:nvSpPr>
          <p:cNvPr id="6" name="Text 2"/>
          <p:cNvSpPr/>
          <p:nvPr/>
        </p:nvSpPr>
        <p:spPr>
          <a:xfrm>
            <a:off x="591478" y="2995244"/>
            <a:ext cx="2450902" cy="107156"/>
          </a:xfrm>
          <a:prstGeom prst="rect">
            <a:avLst/>
          </a:prstGeom>
          <a:noFill/>
          <a:ln/>
        </p:spPr>
        <p:txBody>
          <a:bodyPr wrap="none" lIns="0" tIns="0" rIns="0" bIns="0" rtlCol="0" anchor="t"/>
          <a:lstStyle/>
          <a:p>
            <a:pPr marL="0" indent="0" algn="l">
              <a:lnSpc>
                <a:spcPct val="104000"/>
              </a:lnSpc>
              <a:buNone/>
            </a:pPr>
            <a:r>
              <a:rPr lang="en-US" sz="1400" dirty="0">
                <a:solidFill>
                  <a:srgbClr val="000000"/>
                </a:solidFill>
                <a:latin typeface="Eras Bold ITC" panose="020B0907030504020204" pitchFamily="34" charset="0"/>
                <a:ea typeface="Twemoji Mozilla" pitchFamily="34" charset="-122"/>
                <a:cs typeface="Twemoji Mozilla" pitchFamily="34" charset="-120"/>
              </a:rPr>
              <a:t>📦</a:t>
            </a:r>
            <a:r>
              <a:rPr lang="en-US" sz="1400" dirty="0">
                <a:solidFill>
                  <a:srgbClr val="DAD8E9"/>
                </a:solidFill>
                <a:latin typeface="Eras Bold ITC" panose="020B0907030504020204" pitchFamily="34" charset="0"/>
                <a:ea typeface="Prompt Medium" pitchFamily="34" charset="-122"/>
                <a:cs typeface="Prompt Medium" pitchFamily="34" charset="-120"/>
              </a:rPr>
              <a:t> Public Datasets</a:t>
            </a:r>
            <a:endParaRPr lang="en-US" sz="1400" dirty="0">
              <a:latin typeface="Eras Bold ITC" panose="020B0907030504020204" pitchFamily="34" charset="0"/>
            </a:endParaRPr>
          </a:p>
        </p:txBody>
      </p:sp>
      <p:sp>
        <p:nvSpPr>
          <p:cNvPr id="7" name="Text 3"/>
          <p:cNvSpPr/>
          <p:nvPr/>
        </p:nvSpPr>
        <p:spPr>
          <a:xfrm>
            <a:off x="629668" y="3293331"/>
            <a:ext cx="2450902" cy="92571"/>
          </a:xfrm>
          <a:prstGeom prst="rect">
            <a:avLst/>
          </a:prstGeom>
          <a:noFill/>
          <a:ln/>
        </p:spPr>
        <p:txBody>
          <a:bodyPr wrap="none" lIns="0" tIns="0" rIns="0" bIns="0" rtlCol="0" anchor="t"/>
          <a:lstStyle/>
          <a:p>
            <a:pPr marL="0" indent="0" algn="l">
              <a:lnSpc>
                <a:spcPct val="100000"/>
              </a:lnSpc>
              <a:buNone/>
            </a:pPr>
            <a:r>
              <a:rPr lang="en-US" sz="1200" dirty="0">
                <a:solidFill>
                  <a:srgbClr val="DAD8E9"/>
                </a:solidFill>
                <a:latin typeface="Mukta Light" pitchFamily="34" charset="0"/>
                <a:ea typeface="Mukta Light" pitchFamily="34" charset="-122"/>
                <a:cs typeface="Mukta Light" pitchFamily="34" charset="-120"/>
              </a:rPr>
              <a:t>NASA , ISRO Chandrayaan imagery freely available</a:t>
            </a:r>
            <a:endParaRPr lang="en-US" sz="12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7583" y="3746011"/>
            <a:ext cx="3925456" cy="702617"/>
          </a:xfrm>
          <a:prstGeom prst="rect">
            <a:avLst/>
          </a:prstGeom>
        </p:spPr>
      </p:pic>
      <p:sp>
        <p:nvSpPr>
          <p:cNvPr id="9" name="Text 4"/>
          <p:cNvSpPr/>
          <p:nvPr/>
        </p:nvSpPr>
        <p:spPr>
          <a:xfrm>
            <a:off x="580005" y="3803862"/>
            <a:ext cx="2450976" cy="107156"/>
          </a:xfrm>
          <a:prstGeom prst="rect">
            <a:avLst/>
          </a:prstGeom>
          <a:noFill/>
          <a:ln/>
        </p:spPr>
        <p:txBody>
          <a:bodyPr wrap="none" lIns="0" tIns="0" rIns="0" bIns="0" rtlCol="0" anchor="t"/>
          <a:lstStyle/>
          <a:p>
            <a:pPr marL="0" indent="0" algn="l">
              <a:lnSpc>
                <a:spcPct val="104000"/>
              </a:lnSpc>
              <a:buNone/>
            </a:pPr>
            <a:r>
              <a:rPr lang="en-US" sz="1400" dirty="0">
                <a:solidFill>
                  <a:srgbClr val="000000"/>
                </a:solidFill>
                <a:latin typeface="Eras Bold ITC" panose="020B0907030504020204" pitchFamily="34" charset="0"/>
                <a:ea typeface="Twemoji Mozilla" pitchFamily="34" charset="-122"/>
                <a:cs typeface="Twemoji Mozilla" pitchFamily="34" charset="-120"/>
              </a:rPr>
              <a:t>🤖</a:t>
            </a:r>
            <a:r>
              <a:rPr lang="en-US" sz="1400" dirty="0">
                <a:solidFill>
                  <a:srgbClr val="DAD8E9"/>
                </a:solidFill>
                <a:latin typeface="Eras Bold ITC" panose="020B0907030504020204" pitchFamily="34" charset="0"/>
                <a:ea typeface="Prompt Medium" pitchFamily="34" charset="-122"/>
                <a:cs typeface="Prompt Medium" pitchFamily="34" charset="-120"/>
              </a:rPr>
              <a:t> Pre-Trained Models</a:t>
            </a:r>
            <a:endParaRPr lang="en-US" sz="1400" dirty="0">
              <a:latin typeface="Eras Bold ITC" panose="020B0907030504020204" pitchFamily="34" charset="0"/>
            </a:endParaRPr>
          </a:p>
        </p:txBody>
      </p:sp>
      <p:sp>
        <p:nvSpPr>
          <p:cNvPr id="10" name="Text 5"/>
          <p:cNvSpPr/>
          <p:nvPr/>
        </p:nvSpPr>
        <p:spPr>
          <a:xfrm>
            <a:off x="769893" y="4048592"/>
            <a:ext cx="4399550" cy="372035"/>
          </a:xfrm>
          <a:prstGeom prst="rect">
            <a:avLst/>
          </a:prstGeom>
          <a:noFill/>
          <a:ln/>
        </p:spPr>
        <p:txBody>
          <a:bodyPr wrap="none" lIns="0" tIns="0" rIns="0" bIns="0" rtlCol="0" anchor="t"/>
          <a:lstStyle/>
          <a:p>
            <a:pPr marL="0" indent="0" algn="l">
              <a:lnSpc>
                <a:spcPct val="100000"/>
              </a:lnSpc>
              <a:buNone/>
            </a:pPr>
            <a:r>
              <a:rPr lang="en-US" sz="1200" dirty="0">
                <a:solidFill>
                  <a:srgbClr val="DAD8E9"/>
                </a:solidFill>
                <a:latin typeface="Mukta Light" pitchFamily="34" charset="0"/>
                <a:ea typeface="Mukta Light" pitchFamily="34" charset="-122"/>
                <a:cs typeface="Mukta Light" pitchFamily="34" charset="-120"/>
              </a:rPr>
              <a:t>YOLO, OpenCV, FLASK, PIL and </a:t>
            </a:r>
          </a:p>
          <a:p>
            <a:pPr marL="0" indent="0" algn="l">
              <a:lnSpc>
                <a:spcPct val="100000"/>
              </a:lnSpc>
              <a:buNone/>
            </a:pPr>
            <a:r>
              <a:rPr lang="en-US" sz="1200" dirty="0">
                <a:solidFill>
                  <a:srgbClr val="DAD8E9"/>
                </a:solidFill>
                <a:latin typeface="Mukta Light" pitchFamily="34" charset="0"/>
                <a:ea typeface="Mukta Light" pitchFamily="34" charset="-122"/>
                <a:cs typeface="Mukta Light" pitchFamily="34" charset="-120"/>
              </a:rPr>
              <a:t>segmentation models ready to fine-tune</a:t>
            </a:r>
            <a:endParaRPr lang="en-US" sz="1200" dirty="0"/>
          </a:p>
        </p:txBody>
      </p:sp>
      <p:sp>
        <p:nvSpPr>
          <p:cNvPr id="17" name="Rectangle 16">
            <a:extLst>
              <a:ext uri="{FF2B5EF4-FFF2-40B4-BE49-F238E27FC236}">
                <a16:creationId xmlns:a16="http://schemas.microsoft.com/office/drawing/2014/main" id="{F04CE4C7-4E20-CAB2-C1CF-2F2415FF1A31}"/>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22">
            <a:extLst>
              <a:ext uri="{FF2B5EF4-FFF2-40B4-BE49-F238E27FC236}">
                <a16:creationId xmlns:a16="http://schemas.microsoft.com/office/drawing/2014/main" id="{D71AFB75-805E-67CF-52CE-C1AF5FB937D9}"/>
              </a:ext>
            </a:extLst>
          </p:cNvPr>
          <p:cNvPicPr>
            <a:picLocks noChangeAspect="1"/>
          </p:cNvPicPr>
          <p:nvPr/>
        </p:nvPicPr>
        <p:blipFill>
          <a:blip r:embed="rId5"/>
          <a:stretch>
            <a:fillRect/>
          </a:stretch>
        </p:blipFill>
        <p:spPr>
          <a:xfrm>
            <a:off x="75789" y="4632828"/>
            <a:ext cx="441052" cy="441052"/>
          </a:xfrm>
          <a:prstGeom prst="rect">
            <a:avLst/>
          </a:prstGeom>
        </p:spPr>
      </p:pic>
      <p:sp>
        <p:nvSpPr>
          <p:cNvPr id="15" name="Action Button: Go Forward or Next 14">
            <a:hlinkClick r:id="" action="ppaction://hlinkshowjump?jump=nextslide" highlightClick="1"/>
            <a:extLst>
              <a:ext uri="{FF2B5EF4-FFF2-40B4-BE49-F238E27FC236}">
                <a16:creationId xmlns:a16="http://schemas.microsoft.com/office/drawing/2014/main" id="{428B03AB-C53A-47AF-1B5B-6D8238F26838}"/>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ction Button: Go Back or Previous 17">
            <a:hlinkClick r:id="" action="ppaction://hlinkshowjump?jump=previousslide" highlightClick="1"/>
            <a:extLst>
              <a:ext uri="{FF2B5EF4-FFF2-40B4-BE49-F238E27FC236}">
                <a16:creationId xmlns:a16="http://schemas.microsoft.com/office/drawing/2014/main" id="{18933782-6E5F-9EEF-DC97-703FA3B9100C}"/>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Picture 15">
            <a:extLst>
              <a:ext uri="{FF2B5EF4-FFF2-40B4-BE49-F238E27FC236}">
                <a16:creationId xmlns:a16="http://schemas.microsoft.com/office/drawing/2014/main" id="{7FA81452-5A82-B94C-D9CA-A0C791E2C3C3}"/>
              </a:ext>
            </a:extLst>
          </p:cNvPr>
          <p:cNvPicPr>
            <a:picLocks noChangeAspect="1"/>
          </p:cNvPicPr>
          <p:nvPr/>
        </p:nvPicPr>
        <p:blipFill>
          <a:blip r:embed="rId6"/>
          <a:stretch>
            <a:fillRect/>
          </a:stretch>
        </p:blipFill>
        <p:spPr>
          <a:xfrm>
            <a:off x="4949373" y="401803"/>
            <a:ext cx="3415724" cy="2090258"/>
          </a:xfrm>
          <a:prstGeom prst="rect">
            <a:avLst/>
          </a:prstGeom>
        </p:spPr>
      </p:pic>
      <p:pic>
        <p:nvPicPr>
          <p:cNvPr id="20" name="Picture 19">
            <a:extLst>
              <a:ext uri="{FF2B5EF4-FFF2-40B4-BE49-F238E27FC236}">
                <a16:creationId xmlns:a16="http://schemas.microsoft.com/office/drawing/2014/main" id="{B2F61487-E97C-E181-0712-102B13A42CD4}"/>
              </a:ext>
            </a:extLst>
          </p:cNvPr>
          <p:cNvPicPr>
            <a:picLocks noChangeAspect="1"/>
          </p:cNvPicPr>
          <p:nvPr/>
        </p:nvPicPr>
        <p:blipFill>
          <a:blip r:embed="rId7"/>
          <a:stretch>
            <a:fillRect/>
          </a:stretch>
        </p:blipFill>
        <p:spPr>
          <a:xfrm>
            <a:off x="4586346" y="2815653"/>
            <a:ext cx="4470243" cy="17298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0023" y="178966"/>
            <a:ext cx="8063954" cy="408533"/>
          </a:xfrm>
          <a:prstGeom prst="rect">
            <a:avLst/>
          </a:prstGeom>
          <a:noFill/>
          <a:ln/>
        </p:spPr>
        <p:txBody>
          <a:bodyPr wrap="none" lIns="0" tIns="0" rIns="0" bIns="0" rtlCol="0" anchor="t"/>
          <a:lstStyle/>
          <a:p>
            <a:pPr marL="0" indent="0" algn="l">
              <a:lnSpc>
                <a:spcPct val="104000"/>
              </a:lnSpc>
              <a:buNone/>
            </a:pPr>
            <a:r>
              <a:rPr lang="en-US" sz="2400" dirty="0">
                <a:solidFill>
                  <a:srgbClr val="00FFCC"/>
                </a:solidFill>
                <a:latin typeface="Broadway" panose="04040905080B02020502" pitchFamily="82" charset="0"/>
                <a:ea typeface="Prompt Medium" pitchFamily="34" charset="-122"/>
                <a:cs typeface="Prompt Medium" pitchFamily="34" charset="-120"/>
              </a:rPr>
              <a:t>Implementation Timeline</a:t>
            </a:r>
            <a:endParaRPr lang="en-US" sz="2400" dirty="0">
              <a:solidFill>
                <a:srgbClr val="00FFCC"/>
              </a:solidFill>
              <a:latin typeface="Broadway" panose="04040905080B02020502" pitchFamily="82" charset="0"/>
            </a:endParaRPr>
          </a:p>
        </p:txBody>
      </p:sp>
      <p:sp>
        <p:nvSpPr>
          <p:cNvPr id="3" name="Text 1"/>
          <p:cNvSpPr/>
          <p:nvPr/>
        </p:nvSpPr>
        <p:spPr>
          <a:xfrm>
            <a:off x="622846" y="757237"/>
            <a:ext cx="8521154" cy="229716"/>
          </a:xfrm>
          <a:prstGeom prst="rect">
            <a:avLst/>
          </a:prstGeom>
          <a:noFill/>
          <a:ln/>
        </p:spPr>
        <p:txBody>
          <a:bodyPr wrap="none" lIns="0" tIns="0" rIns="0" bIns="0" rtlCol="0" anchor="t"/>
          <a:lstStyle/>
          <a:p>
            <a:pPr marL="0" indent="0" algn="l">
              <a:lnSpc>
                <a:spcPct val="130000"/>
              </a:lnSpc>
              <a:buNone/>
            </a:pPr>
            <a:r>
              <a:rPr lang="en-US" sz="1600" dirty="0">
                <a:solidFill>
                  <a:srgbClr val="DAD8E9"/>
                </a:solidFill>
                <a:latin typeface="Cooper Black" panose="0208090404030B020404" pitchFamily="18" charset="0"/>
                <a:ea typeface="Mukta Light" pitchFamily="34" charset="-122"/>
                <a:cs typeface="Mukta Light" pitchFamily="34" charset="-120"/>
              </a:rPr>
              <a:t>A focused 6-week sprint from data to deployed dashboard.</a:t>
            </a:r>
            <a:endParaRPr lang="en-US" sz="1600" dirty="0">
              <a:latin typeface="Cooper Black" panose="0208090404030B020404" pitchFamily="18" charset="0"/>
            </a:endParaRPr>
          </a:p>
        </p:txBody>
      </p:sp>
      <p:sp>
        <p:nvSpPr>
          <p:cNvPr id="4" name="Shape 2"/>
          <p:cNvSpPr/>
          <p:nvPr/>
        </p:nvSpPr>
        <p:spPr>
          <a:xfrm>
            <a:off x="540023" y="3109838"/>
            <a:ext cx="8063954" cy="19050"/>
          </a:xfrm>
          <a:prstGeom prst="roundRect">
            <a:avLst>
              <a:gd name="adj" fmla="val 324252"/>
            </a:avLst>
          </a:prstGeom>
          <a:solidFill>
            <a:srgbClr val="6D4562"/>
          </a:solidFill>
          <a:ln/>
        </p:spPr>
      </p:sp>
      <p:sp>
        <p:nvSpPr>
          <p:cNvPr id="5" name="Shape 3"/>
          <p:cNvSpPr/>
          <p:nvPr/>
        </p:nvSpPr>
        <p:spPr>
          <a:xfrm>
            <a:off x="1619920" y="2668637"/>
            <a:ext cx="19050" cy="441201"/>
          </a:xfrm>
          <a:prstGeom prst="roundRect">
            <a:avLst>
              <a:gd name="adj" fmla="val 324252"/>
            </a:avLst>
          </a:prstGeom>
          <a:solidFill>
            <a:srgbClr val="6D4562"/>
          </a:solidFill>
          <a:ln/>
        </p:spPr>
      </p:sp>
      <p:sp>
        <p:nvSpPr>
          <p:cNvPr id="6" name="Shape 4"/>
          <p:cNvSpPr/>
          <p:nvPr/>
        </p:nvSpPr>
        <p:spPr>
          <a:xfrm>
            <a:off x="1464022" y="2944416"/>
            <a:ext cx="330845" cy="330845"/>
          </a:xfrm>
          <a:prstGeom prst="roundRect">
            <a:avLst>
              <a:gd name="adj" fmla="val 18670"/>
            </a:avLst>
          </a:prstGeom>
          <a:solidFill>
            <a:srgbClr val="542C49"/>
          </a:solidFill>
          <a:ln w="4763">
            <a:solidFill>
              <a:srgbClr val="6D4562"/>
            </a:solidFill>
            <a:prstDash val="solid"/>
          </a:ln>
        </p:spPr>
      </p:sp>
      <p:sp>
        <p:nvSpPr>
          <p:cNvPr id="7" name="Text 5"/>
          <p:cNvSpPr/>
          <p:nvPr/>
        </p:nvSpPr>
        <p:spPr>
          <a:xfrm>
            <a:off x="1531404" y="2987278"/>
            <a:ext cx="196081" cy="245120"/>
          </a:xfrm>
          <a:prstGeom prst="rect">
            <a:avLst/>
          </a:prstGeom>
          <a:noFill/>
          <a:ln/>
        </p:spPr>
        <p:txBody>
          <a:bodyPr wrap="none" lIns="0" tIns="0" rIns="0" bIns="0" rtlCol="0" anchor="ctr"/>
          <a:lstStyle/>
          <a:p>
            <a:pPr marL="0" indent="0" algn="ctr">
              <a:lnSpc>
                <a:spcPct val="100000"/>
              </a:lnSpc>
              <a:buNone/>
            </a:pPr>
            <a:r>
              <a:rPr lang="en-US" dirty="0">
                <a:solidFill>
                  <a:srgbClr val="DAD8E9"/>
                </a:solidFill>
                <a:latin typeface="Prompt Medium" pitchFamily="34" charset="0"/>
                <a:ea typeface="Prompt Medium" pitchFamily="34" charset="-122"/>
                <a:cs typeface="Prompt Medium" pitchFamily="34" charset="-120"/>
              </a:rPr>
              <a:t>1</a:t>
            </a:r>
            <a:endParaRPr lang="en-US" dirty="0"/>
          </a:p>
        </p:txBody>
      </p:sp>
      <p:sp>
        <p:nvSpPr>
          <p:cNvPr id="8" name="Text 6"/>
          <p:cNvSpPr/>
          <p:nvPr/>
        </p:nvSpPr>
        <p:spPr>
          <a:xfrm>
            <a:off x="687065" y="1544092"/>
            <a:ext cx="1884759" cy="204267"/>
          </a:xfrm>
          <a:prstGeom prst="rect">
            <a:avLst/>
          </a:prstGeom>
          <a:noFill/>
          <a:ln/>
        </p:spPr>
        <p:txBody>
          <a:bodyPr wrap="none" lIns="0" tIns="0" rIns="0" bIns="0" rtlCol="0" anchor="t"/>
          <a:lstStyle/>
          <a:p>
            <a:pPr marL="0" indent="0" algn="ctr">
              <a:lnSpc>
                <a:spcPct val="104000"/>
              </a:lnSpc>
              <a:buNone/>
            </a:pPr>
            <a:r>
              <a:rPr lang="en-US" sz="1600" b="1" dirty="0">
                <a:solidFill>
                  <a:srgbClr val="DAD8E9"/>
                </a:solidFill>
                <a:latin typeface="Segoe Script" panose="030B0504020000000003" pitchFamily="66" charset="0"/>
                <a:ea typeface="Prompt Medium" pitchFamily="34" charset="-122"/>
                <a:cs typeface="Prompt Medium" pitchFamily="34" charset="-120"/>
              </a:rPr>
              <a:t>Week 1</a:t>
            </a:r>
            <a:endParaRPr lang="en-US" sz="1600" b="1" dirty="0">
              <a:latin typeface="Segoe Script" panose="030B0504020000000003" pitchFamily="66" charset="0"/>
            </a:endParaRPr>
          </a:p>
        </p:txBody>
      </p:sp>
      <p:sp>
        <p:nvSpPr>
          <p:cNvPr id="9" name="Text 7"/>
          <p:cNvSpPr/>
          <p:nvPr/>
        </p:nvSpPr>
        <p:spPr>
          <a:xfrm>
            <a:off x="687065" y="1832446"/>
            <a:ext cx="1884759" cy="689149"/>
          </a:xfrm>
          <a:prstGeom prst="rect">
            <a:avLst/>
          </a:prstGeom>
          <a:noFill/>
          <a:ln/>
        </p:spPr>
        <p:txBody>
          <a:bodyPr wrap="square" lIns="0" tIns="0" rIns="0" bIns="0" rtlCol="0" anchor="t">
            <a:noAutofit/>
          </a:bodyPr>
          <a:lstStyle/>
          <a:p>
            <a:pPr marL="0" indent="0" algn="ctr">
              <a:lnSpc>
                <a:spcPct val="130000"/>
              </a:lnSpc>
              <a:buNone/>
            </a:pPr>
            <a:r>
              <a:rPr lang="en-US" sz="1400" b="1" dirty="0">
                <a:solidFill>
                  <a:srgbClr val="DAD8E9"/>
                </a:solidFill>
                <a:latin typeface="Eras Bold ITC" panose="020B0907030504020204" pitchFamily="34" charset="0"/>
                <a:ea typeface="Mukta Bold" pitchFamily="34" charset="-122"/>
                <a:cs typeface="Mukta Bold" pitchFamily="34" charset="-120"/>
              </a:rPr>
              <a:t>Dataset Collection</a:t>
            </a:r>
            <a:endParaRPr lang="en-US" sz="1400" dirty="0">
              <a:latin typeface="Eras Bold ITC" panose="020B0907030504020204" pitchFamily="34" charset="0"/>
            </a:endParaRPr>
          </a:p>
          <a:p>
            <a:pPr marL="0" indent="0" algn="ctr">
              <a:lnSpc>
                <a:spcPct val="130000"/>
              </a:lnSpc>
              <a:buNone/>
            </a:pPr>
            <a:r>
              <a:rPr lang="en-US" sz="1400" dirty="0">
                <a:solidFill>
                  <a:srgbClr val="DAD8E9"/>
                </a:solidFill>
                <a:latin typeface="Mukta Light" pitchFamily="34" charset="0"/>
                <a:ea typeface="Mukta Light" pitchFamily="34" charset="-122"/>
                <a:cs typeface="Mukta Light" pitchFamily="34" charset="-120"/>
              </a:rPr>
              <a:t>LROC &amp; Chandrayaan imagery ingestion and labeling</a:t>
            </a:r>
            <a:endParaRPr lang="en-US" sz="1400" dirty="0"/>
          </a:p>
        </p:txBody>
      </p:sp>
      <p:sp>
        <p:nvSpPr>
          <p:cNvPr id="10" name="Shape 8"/>
          <p:cNvSpPr/>
          <p:nvPr/>
        </p:nvSpPr>
        <p:spPr>
          <a:xfrm>
            <a:off x="2796927" y="3109838"/>
            <a:ext cx="19050" cy="441201"/>
          </a:xfrm>
          <a:prstGeom prst="roundRect">
            <a:avLst>
              <a:gd name="adj" fmla="val 324252"/>
            </a:avLst>
          </a:prstGeom>
          <a:solidFill>
            <a:srgbClr val="6D4562"/>
          </a:solidFill>
          <a:ln/>
        </p:spPr>
      </p:sp>
      <p:sp>
        <p:nvSpPr>
          <p:cNvPr id="11" name="Shape 9"/>
          <p:cNvSpPr/>
          <p:nvPr/>
        </p:nvSpPr>
        <p:spPr>
          <a:xfrm>
            <a:off x="2641029" y="2944416"/>
            <a:ext cx="330845" cy="330845"/>
          </a:xfrm>
          <a:prstGeom prst="roundRect">
            <a:avLst>
              <a:gd name="adj" fmla="val 18670"/>
            </a:avLst>
          </a:prstGeom>
          <a:solidFill>
            <a:srgbClr val="542C49"/>
          </a:solidFill>
          <a:ln w="4763">
            <a:solidFill>
              <a:srgbClr val="6D4562"/>
            </a:solidFill>
            <a:prstDash val="solid"/>
          </a:ln>
        </p:spPr>
      </p:sp>
      <p:sp>
        <p:nvSpPr>
          <p:cNvPr id="12" name="Text 10"/>
          <p:cNvSpPr/>
          <p:nvPr/>
        </p:nvSpPr>
        <p:spPr>
          <a:xfrm>
            <a:off x="2708411" y="2987278"/>
            <a:ext cx="196081" cy="245120"/>
          </a:xfrm>
          <a:prstGeom prst="rect">
            <a:avLst/>
          </a:prstGeom>
          <a:noFill/>
          <a:ln/>
        </p:spPr>
        <p:txBody>
          <a:bodyPr wrap="none" lIns="0" tIns="0" rIns="0" bIns="0" rtlCol="0" anchor="ctr"/>
          <a:lstStyle/>
          <a:p>
            <a:pPr marL="0" indent="0" algn="ctr">
              <a:lnSpc>
                <a:spcPct val="100000"/>
              </a:lnSpc>
              <a:buNone/>
            </a:pPr>
            <a:r>
              <a:rPr lang="en-US" dirty="0">
                <a:solidFill>
                  <a:srgbClr val="DAD8E9"/>
                </a:solidFill>
                <a:latin typeface="Prompt Medium" pitchFamily="34" charset="0"/>
                <a:ea typeface="Prompt Medium" pitchFamily="34" charset="-122"/>
                <a:cs typeface="Prompt Medium" pitchFamily="34" charset="-120"/>
              </a:rPr>
              <a:t>2</a:t>
            </a:r>
            <a:endParaRPr lang="en-US" dirty="0"/>
          </a:p>
        </p:txBody>
      </p:sp>
      <p:sp>
        <p:nvSpPr>
          <p:cNvPr id="13" name="Text 11"/>
          <p:cNvSpPr/>
          <p:nvPr/>
        </p:nvSpPr>
        <p:spPr>
          <a:xfrm>
            <a:off x="1864072" y="3698081"/>
            <a:ext cx="1884759" cy="204267"/>
          </a:xfrm>
          <a:prstGeom prst="rect">
            <a:avLst/>
          </a:prstGeom>
          <a:noFill/>
          <a:ln/>
        </p:spPr>
        <p:txBody>
          <a:bodyPr wrap="none" lIns="0" tIns="0" rIns="0" bIns="0" rtlCol="0" anchor="t"/>
          <a:lstStyle/>
          <a:p>
            <a:pPr marL="0" indent="0" algn="ctr">
              <a:lnSpc>
                <a:spcPct val="104000"/>
              </a:lnSpc>
              <a:buNone/>
            </a:pPr>
            <a:r>
              <a:rPr lang="en-US" sz="1600" b="1" dirty="0">
                <a:solidFill>
                  <a:srgbClr val="DAD8E9"/>
                </a:solidFill>
                <a:latin typeface="Segoe Script" panose="030B0504020000000003" pitchFamily="66" charset="0"/>
                <a:ea typeface="Prompt Medium" pitchFamily="34" charset="-122"/>
                <a:cs typeface="Prompt Medium" pitchFamily="34" charset="-120"/>
              </a:rPr>
              <a:t>Week 2</a:t>
            </a:r>
            <a:endParaRPr lang="en-US" sz="1600" b="1" dirty="0">
              <a:latin typeface="Segoe Script" panose="030B0504020000000003" pitchFamily="66" charset="0"/>
            </a:endParaRPr>
          </a:p>
        </p:txBody>
      </p:sp>
      <p:sp>
        <p:nvSpPr>
          <p:cNvPr id="14" name="Text 12"/>
          <p:cNvSpPr/>
          <p:nvPr/>
        </p:nvSpPr>
        <p:spPr>
          <a:xfrm>
            <a:off x="1935480" y="3986436"/>
            <a:ext cx="1813351" cy="689149"/>
          </a:xfrm>
          <a:prstGeom prst="rect">
            <a:avLst/>
          </a:prstGeom>
          <a:noFill/>
          <a:ln/>
        </p:spPr>
        <p:txBody>
          <a:bodyPr wrap="square" lIns="0" tIns="0" rIns="0" bIns="0" rtlCol="0" anchor="t">
            <a:noAutofit/>
          </a:bodyPr>
          <a:lstStyle/>
          <a:p>
            <a:pPr marL="0" indent="0" algn="ctr">
              <a:lnSpc>
                <a:spcPct val="130000"/>
              </a:lnSpc>
              <a:buNone/>
            </a:pPr>
            <a:r>
              <a:rPr lang="en-US" sz="1400" b="1" dirty="0">
                <a:solidFill>
                  <a:srgbClr val="DAD8E9"/>
                </a:solidFill>
                <a:latin typeface="Eras Bold ITC" panose="020B0907030504020204" pitchFamily="34" charset="0"/>
                <a:ea typeface="Mukta Bold" pitchFamily="34" charset="-122"/>
                <a:cs typeface="Mukta Bold" pitchFamily="34" charset="-120"/>
              </a:rPr>
              <a:t>Image Processing</a:t>
            </a:r>
            <a:endParaRPr lang="en-US" sz="1400" dirty="0">
              <a:latin typeface="Eras Bold ITC" panose="020B0907030504020204" pitchFamily="34" charset="0"/>
            </a:endParaRPr>
          </a:p>
          <a:p>
            <a:pPr marL="0" indent="0" algn="ctr">
              <a:lnSpc>
                <a:spcPct val="130000"/>
              </a:lnSpc>
              <a:buNone/>
            </a:pPr>
            <a:r>
              <a:rPr lang="en-US" sz="1400" dirty="0">
                <a:solidFill>
                  <a:srgbClr val="DAD8E9"/>
                </a:solidFill>
                <a:latin typeface="Mukta Light" pitchFamily="34" charset="0"/>
                <a:ea typeface="Mukta Light" pitchFamily="34" charset="-122"/>
                <a:cs typeface="Mukta Light" pitchFamily="34" charset="-120"/>
              </a:rPr>
              <a:t>Preprocessing pipeline, normalization, augmentation</a:t>
            </a:r>
            <a:endParaRPr lang="en-US" sz="1400" dirty="0"/>
          </a:p>
        </p:txBody>
      </p:sp>
      <p:sp>
        <p:nvSpPr>
          <p:cNvPr id="15" name="Shape 13"/>
          <p:cNvSpPr/>
          <p:nvPr/>
        </p:nvSpPr>
        <p:spPr>
          <a:xfrm>
            <a:off x="3973934" y="2668637"/>
            <a:ext cx="19050" cy="441201"/>
          </a:xfrm>
          <a:prstGeom prst="roundRect">
            <a:avLst>
              <a:gd name="adj" fmla="val 324252"/>
            </a:avLst>
          </a:prstGeom>
          <a:solidFill>
            <a:srgbClr val="6D4562"/>
          </a:solidFill>
          <a:ln/>
        </p:spPr>
      </p:sp>
      <p:sp>
        <p:nvSpPr>
          <p:cNvPr id="16" name="Shape 14"/>
          <p:cNvSpPr/>
          <p:nvPr/>
        </p:nvSpPr>
        <p:spPr>
          <a:xfrm>
            <a:off x="3818037" y="2944416"/>
            <a:ext cx="330845" cy="330845"/>
          </a:xfrm>
          <a:prstGeom prst="roundRect">
            <a:avLst>
              <a:gd name="adj" fmla="val 18670"/>
            </a:avLst>
          </a:prstGeom>
          <a:solidFill>
            <a:srgbClr val="542C49"/>
          </a:solidFill>
          <a:ln w="4763">
            <a:solidFill>
              <a:srgbClr val="6D4562"/>
            </a:solidFill>
            <a:prstDash val="solid"/>
          </a:ln>
        </p:spPr>
      </p:sp>
      <p:sp>
        <p:nvSpPr>
          <p:cNvPr id="17" name="Text 15"/>
          <p:cNvSpPr/>
          <p:nvPr/>
        </p:nvSpPr>
        <p:spPr>
          <a:xfrm>
            <a:off x="3885419" y="2987278"/>
            <a:ext cx="196081" cy="245120"/>
          </a:xfrm>
          <a:prstGeom prst="rect">
            <a:avLst/>
          </a:prstGeom>
          <a:noFill/>
          <a:ln/>
        </p:spPr>
        <p:txBody>
          <a:bodyPr wrap="none" lIns="0" tIns="0" rIns="0" bIns="0" rtlCol="0" anchor="ctr"/>
          <a:lstStyle/>
          <a:p>
            <a:pPr marL="0" indent="0" algn="ctr">
              <a:lnSpc>
                <a:spcPct val="100000"/>
              </a:lnSpc>
              <a:buNone/>
            </a:pPr>
            <a:r>
              <a:rPr lang="en-US" dirty="0">
                <a:solidFill>
                  <a:srgbClr val="DAD8E9"/>
                </a:solidFill>
                <a:latin typeface="Prompt Medium" pitchFamily="34" charset="0"/>
                <a:ea typeface="Prompt Medium" pitchFamily="34" charset="-122"/>
                <a:cs typeface="Prompt Medium" pitchFamily="34" charset="-120"/>
              </a:rPr>
              <a:t>3</a:t>
            </a:r>
            <a:endParaRPr lang="en-US" dirty="0"/>
          </a:p>
        </p:txBody>
      </p:sp>
      <p:sp>
        <p:nvSpPr>
          <p:cNvPr id="18" name="Text 16"/>
          <p:cNvSpPr/>
          <p:nvPr/>
        </p:nvSpPr>
        <p:spPr>
          <a:xfrm>
            <a:off x="3041079" y="1544092"/>
            <a:ext cx="1884759" cy="204267"/>
          </a:xfrm>
          <a:prstGeom prst="rect">
            <a:avLst/>
          </a:prstGeom>
          <a:noFill/>
          <a:ln/>
        </p:spPr>
        <p:txBody>
          <a:bodyPr wrap="none" lIns="0" tIns="0" rIns="0" bIns="0" rtlCol="0" anchor="t"/>
          <a:lstStyle/>
          <a:p>
            <a:pPr marL="0" indent="0" algn="ctr">
              <a:lnSpc>
                <a:spcPct val="104000"/>
              </a:lnSpc>
              <a:buNone/>
            </a:pPr>
            <a:r>
              <a:rPr lang="en-US" sz="1600" b="1" dirty="0">
                <a:solidFill>
                  <a:srgbClr val="DAD8E9"/>
                </a:solidFill>
                <a:latin typeface="Segoe Script" panose="030B0504020000000003" pitchFamily="66" charset="0"/>
                <a:ea typeface="Prompt Medium" pitchFamily="34" charset="-122"/>
                <a:cs typeface="Prompt Medium" pitchFamily="34" charset="-120"/>
              </a:rPr>
              <a:t>Week 3</a:t>
            </a:r>
            <a:endParaRPr lang="en-US" sz="1600" b="1" dirty="0">
              <a:latin typeface="Segoe Script" panose="030B0504020000000003" pitchFamily="66" charset="0"/>
            </a:endParaRPr>
          </a:p>
        </p:txBody>
      </p:sp>
      <p:sp>
        <p:nvSpPr>
          <p:cNvPr id="19" name="Text 17"/>
          <p:cNvSpPr/>
          <p:nvPr/>
        </p:nvSpPr>
        <p:spPr>
          <a:xfrm>
            <a:off x="3041079" y="1832446"/>
            <a:ext cx="1884759" cy="689149"/>
          </a:xfrm>
          <a:prstGeom prst="rect">
            <a:avLst/>
          </a:prstGeom>
          <a:noFill/>
          <a:ln/>
        </p:spPr>
        <p:txBody>
          <a:bodyPr wrap="square" lIns="0" tIns="0" rIns="0" bIns="0" rtlCol="0" anchor="t">
            <a:noAutofit/>
          </a:bodyPr>
          <a:lstStyle/>
          <a:p>
            <a:pPr marL="0" indent="0" algn="ctr">
              <a:lnSpc>
                <a:spcPct val="130000"/>
              </a:lnSpc>
              <a:buNone/>
            </a:pPr>
            <a:r>
              <a:rPr lang="en-US" sz="1400" b="1" dirty="0">
                <a:solidFill>
                  <a:srgbClr val="DAD8E9"/>
                </a:solidFill>
                <a:latin typeface="Eras Bold ITC" panose="020B0907030504020204" pitchFamily="34" charset="0"/>
                <a:ea typeface="Mukta Bold" pitchFamily="34" charset="-122"/>
                <a:cs typeface="Mukta Bold" pitchFamily="34" charset="-120"/>
              </a:rPr>
              <a:t>AI Detection</a:t>
            </a:r>
            <a:endParaRPr lang="en-US" sz="1400" dirty="0">
              <a:latin typeface="Eras Bold ITC" panose="020B0907030504020204" pitchFamily="34" charset="0"/>
            </a:endParaRPr>
          </a:p>
          <a:p>
            <a:pPr marL="0" indent="0" algn="ctr">
              <a:lnSpc>
                <a:spcPct val="130000"/>
              </a:lnSpc>
              <a:buNone/>
            </a:pPr>
            <a:r>
              <a:rPr lang="en-US" sz="1400" dirty="0">
                <a:solidFill>
                  <a:srgbClr val="DAD8E9"/>
                </a:solidFill>
                <a:latin typeface="Mukta Light" pitchFamily="34" charset="0"/>
                <a:ea typeface="Mukta Light" pitchFamily="34" charset="-122"/>
                <a:cs typeface="Mukta Light" pitchFamily="34" charset="-120"/>
              </a:rPr>
              <a:t>Train crater, rock, and hazard detection models</a:t>
            </a:r>
            <a:endParaRPr lang="en-US" sz="1400" dirty="0"/>
          </a:p>
        </p:txBody>
      </p:sp>
      <p:sp>
        <p:nvSpPr>
          <p:cNvPr id="20" name="Shape 18"/>
          <p:cNvSpPr/>
          <p:nvPr/>
        </p:nvSpPr>
        <p:spPr>
          <a:xfrm>
            <a:off x="5150941" y="3109838"/>
            <a:ext cx="19050" cy="441201"/>
          </a:xfrm>
          <a:prstGeom prst="roundRect">
            <a:avLst>
              <a:gd name="adj" fmla="val 324252"/>
            </a:avLst>
          </a:prstGeom>
          <a:solidFill>
            <a:srgbClr val="6D4562"/>
          </a:solidFill>
          <a:ln/>
        </p:spPr>
      </p:sp>
      <p:sp>
        <p:nvSpPr>
          <p:cNvPr id="21" name="Shape 19"/>
          <p:cNvSpPr/>
          <p:nvPr/>
        </p:nvSpPr>
        <p:spPr>
          <a:xfrm>
            <a:off x="4995044" y="2944416"/>
            <a:ext cx="330845" cy="330845"/>
          </a:xfrm>
          <a:prstGeom prst="roundRect">
            <a:avLst>
              <a:gd name="adj" fmla="val 18670"/>
            </a:avLst>
          </a:prstGeom>
          <a:solidFill>
            <a:srgbClr val="542C49"/>
          </a:solidFill>
          <a:ln w="4763">
            <a:solidFill>
              <a:srgbClr val="6D4562"/>
            </a:solidFill>
            <a:prstDash val="solid"/>
          </a:ln>
        </p:spPr>
      </p:sp>
      <p:sp>
        <p:nvSpPr>
          <p:cNvPr id="22" name="Text 20"/>
          <p:cNvSpPr/>
          <p:nvPr/>
        </p:nvSpPr>
        <p:spPr>
          <a:xfrm>
            <a:off x="5062426" y="2987278"/>
            <a:ext cx="196081" cy="245120"/>
          </a:xfrm>
          <a:prstGeom prst="rect">
            <a:avLst/>
          </a:prstGeom>
          <a:noFill/>
          <a:ln/>
        </p:spPr>
        <p:txBody>
          <a:bodyPr wrap="none" lIns="0" tIns="0" rIns="0" bIns="0" rtlCol="0" anchor="ctr"/>
          <a:lstStyle/>
          <a:p>
            <a:pPr marL="0" indent="0" algn="ctr">
              <a:lnSpc>
                <a:spcPct val="100000"/>
              </a:lnSpc>
              <a:buNone/>
            </a:pPr>
            <a:r>
              <a:rPr lang="en-US" dirty="0">
                <a:solidFill>
                  <a:srgbClr val="DAD8E9"/>
                </a:solidFill>
                <a:latin typeface="Prompt Medium" pitchFamily="34" charset="0"/>
                <a:ea typeface="Prompt Medium" pitchFamily="34" charset="-122"/>
                <a:cs typeface="Prompt Medium" pitchFamily="34" charset="-120"/>
              </a:rPr>
              <a:t>4</a:t>
            </a:r>
            <a:endParaRPr lang="en-US" dirty="0"/>
          </a:p>
        </p:txBody>
      </p:sp>
      <p:sp>
        <p:nvSpPr>
          <p:cNvPr id="23" name="Text 21"/>
          <p:cNvSpPr/>
          <p:nvPr/>
        </p:nvSpPr>
        <p:spPr>
          <a:xfrm>
            <a:off x="4218087" y="3698081"/>
            <a:ext cx="1884759" cy="204267"/>
          </a:xfrm>
          <a:prstGeom prst="rect">
            <a:avLst/>
          </a:prstGeom>
          <a:noFill/>
          <a:ln/>
        </p:spPr>
        <p:txBody>
          <a:bodyPr wrap="none" lIns="0" tIns="0" rIns="0" bIns="0" rtlCol="0" anchor="t"/>
          <a:lstStyle/>
          <a:p>
            <a:pPr marL="0" indent="0" algn="ctr">
              <a:lnSpc>
                <a:spcPct val="104000"/>
              </a:lnSpc>
              <a:buNone/>
            </a:pPr>
            <a:r>
              <a:rPr lang="en-US" sz="1600" b="1" dirty="0">
                <a:solidFill>
                  <a:srgbClr val="DAD8E9"/>
                </a:solidFill>
                <a:latin typeface="Segoe Script" panose="030B0504020000000003" pitchFamily="66" charset="0"/>
                <a:ea typeface="Prompt Medium" pitchFamily="34" charset="-122"/>
                <a:cs typeface="Prompt Medium" pitchFamily="34" charset="-120"/>
              </a:rPr>
              <a:t>Week 4</a:t>
            </a:r>
            <a:endParaRPr lang="en-US" sz="1600" b="1" dirty="0">
              <a:latin typeface="Segoe Script" panose="030B0504020000000003" pitchFamily="66" charset="0"/>
            </a:endParaRPr>
          </a:p>
        </p:txBody>
      </p:sp>
      <p:sp>
        <p:nvSpPr>
          <p:cNvPr id="24" name="Text 22"/>
          <p:cNvSpPr/>
          <p:nvPr/>
        </p:nvSpPr>
        <p:spPr>
          <a:xfrm>
            <a:off x="4218087" y="3986436"/>
            <a:ext cx="1884759" cy="689149"/>
          </a:xfrm>
          <a:prstGeom prst="rect">
            <a:avLst/>
          </a:prstGeom>
          <a:noFill/>
          <a:ln/>
        </p:spPr>
        <p:txBody>
          <a:bodyPr wrap="square" lIns="0" tIns="0" rIns="0" bIns="0" rtlCol="0" anchor="t">
            <a:noAutofit/>
          </a:bodyPr>
          <a:lstStyle/>
          <a:p>
            <a:pPr marL="0" indent="0" algn="ctr">
              <a:lnSpc>
                <a:spcPct val="130000"/>
              </a:lnSpc>
              <a:buNone/>
            </a:pPr>
            <a:r>
              <a:rPr lang="en-US" sz="1400" b="1" dirty="0">
                <a:solidFill>
                  <a:srgbClr val="DAD8E9"/>
                </a:solidFill>
                <a:latin typeface="Eras Bold ITC" panose="020B0907030504020204" pitchFamily="34" charset="0"/>
                <a:ea typeface="Mukta Bold" pitchFamily="34" charset="-122"/>
                <a:cs typeface="Mukta Bold" pitchFamily="34" charset="-120"/>
              </a:rPr>
              <a:t>Landing Recommendation</a:t>
            </a:r>
            <a:endParaRPr lang="en-US" sz="1400" dirty="0">
              <a:latin typeface="Eras Bold ITC" panose="020B0907030504020204" pitchFamily="34" charset="0"/>
            </a:endParaRPr>
          </a:p>
          <a:p>
            <a:pPr marL="0" indent="0" algn="ctr">
              <a:lnSpc>
                <a:spcPct val="130000"/>
              </a:lnSpc>
              <a:buNone/>
            </a:pPr>
            <a:r>
              <a:rPr lang="en-US" sz="1400" dirty="0">
                <a:solidFill>
                  <a:srgbClr val="DAD8E9"/>
                </a:solidFill>
                <a:latin typeface="Mukta Light" pitchFamily="34" charset="0"/>
                <a:ea typeface="Mukta Light" pitchFamily="34" charset="-122"/>
                <a:cs typeface="Mukta Light" pitchFamily="34" charset="-120"/>
              </a:rPr>
              <a:t>Safety scoring algorithm and zone ranking</a:t>
            </a:r>
            <a:endParaRPr lang="en-US" sz="1400" dirty="0"/>
          </a:p>
        </p:txBody>
      </p:sp>
      <p:sp>
        <p:nvSpPr>
          <p:cNvPr id="25" name="Shape 23"/>
          <p:cNvSpPr/>
          <p:nvPr/>
        </p:nvSpPr>
        <p:spPr>
          <a:xfrm>
            <a:off x="6327949" y="2668637"/>
            <a:ext cx="19050" cy="441201"/>
          </a:xfrm>
          <a:prstGeom prst="roundRect">
            <a:avLst>
              <a:gd name="adj" fmla="val 324252"/>
            </a:avLst>
          </a:prstGeom>
          <a:solidFill>
            <a:srgbClr val="6D4562"/>
          </a:solidFill>
          <a:ln/>
        </p:spPr>
      </p:sp>
      <p:sp>
        <p:nvSpPr>
          <p:cNvPr id="26" name="Shape 24"/>
          <p:cNvSpPr/>
          <p:nvPr/>
        </p:nvSpPr>
        <p:spPr>
          <a:xfrm>
            <a:off x="6172051" y="2944416"/>
            <a:ext cx="330845" cy="330845"/>
          </a:xfrm>
          <a:prstGeom prst="roundRect">
            <a:avLst>
              <a:gd name="adj" fmla="val 18670"/>
            </a:avLst>
          </a:prstGeom>
          <a:solidFill>
            <a:srgbClr val="542C49"/>
          </a:solidFill>
          <a:ln w="4763">
            <a:solidFill>
              <a:srgbClr val="6D4562"/>
            </a:solidFill>
            <a:prstDash val="solid"/>
          </a:ln>
        </p:spPr>
      </p:sp>
      <p:sp>
        <p:nvSpPr>
          <p:cNvPr id="27" name="Text 25"/>
          <p:cNvSpPr/>
          <p:nvPr/>
        </p:nvSpPr>
        <p:spPr>
          <a:xfrm>
            <a:off x="6239433" y="2987278"/>
            <a:ext cx="196081" cy="245120"/>
          </a:xfrm>
          <a:prstGeom prst="rect">
            <a:avLst/>
          </a:prstGeom>
          <a:noFill/>
          <a:ln/>
        </p:spPr>
        <p:txBody>
          <a:bodyPr wrap="none" lIns="0" tIns="0" rIns="0" bIns="0" rtlCol="0" anchor="ctr"/>
          <a:lstStyle/>
          <a:p>
            <a:pPr marL="0" indent="0" algn="ctr">
              <a:lnSpc>
                <a:spcPct val="100000"/>
              </a:lnSpc>
              <a:buNone/>
            </a:pPr>
            <a:r>
              <a:rPr lang="en-US" dirty="0">
                <a:solidFill>
                  <a:srgbClr val="DAD8E9"/>
                </a:solidFill>
                <a:latin typeface="Prompt Medium" pitchFamily="34" charset="0"/>
                <a:ea typeface="Prompt Medium" pitchFamily="34" charset="-122"/>
                <a:cs typeface="Prompt Medium" pitchFamily="34" charset="-120"/>
              </a:rPr>
              <a:t>5</a:t>
            </a:r>
            <a:endParaRPr lang="en-US" dirty="0"/>
          </a:p>
        </p:txBody>
      </p:sp>
      <p:sp>
        <p:nvSpPr>
          <p:cNvPr id="28" name="Text 26"/>
          <p:cNvSpPr/>
          <p:nvPr/>
        </p:nvSpPr>
        <p:spPr>
          <a:xfrm>
            <a:off x="5395094" y="1544092"/>
            <a:ext cx="1884759" cy="204267"/>
          </a:xfrm>
          <a:prstGeom prst="rect">
            <a:avLst/>
          </a:prstGeom>
          <a:noFill/>
          <a:ln/>
        </p:spPr>
        <p:txBody>
          <a:bodyPr wrap="none" lIns="0" tIns="0" rIns="0" bIns="0" rtlCol="0" anchor="t"/>
          <a:lstStyle/>
          <a:p>
            <a:pPr marL="0" indent="0" algn="ctr">
              <a:lnSpc>
                <a:spcPct val="104000"/>
              </a:lnSpc>
              <a:buNone/>
            </a:pPr>
            <a:r>
              <a:rPr lang="en-US" sz="1600" b="1" dirty="0">
                <a:solidFill>
                  <a:srgbClr val="DAD8E9"/>
                </a:solidFill>
                <a:latin typeface="Segoe Script" panose="030B0504020000000003" pitchFamily="66" charset="0"/>
                <a:ea typeface="Prompt Medium" pitchFamily="34" charset="-122"/>
                <a:cs typeface="Prompt Medium" pitchFamily="34" charset="-120"/>
              </a:rPr>
              <a:t>Week 5</a:t>
            </a:r>
            <a:endParaRPr lang="en-US" sz="1600" b="1" dirty="0">
              <a:latin typeface="Segoe Script" panose="030B0504020000000003" pitchFamily="66" charset="0"/>
            </a:endParaRPr>
          </a:p>
        </p:txBody>
      </p:sp>
      <p:sp>
        <p:nvSpPr>
          <p:cNvPr id="29" name="Text 27"/>
          <p:cNvSpPr/>
          <p:nvPr/>
        </p:nvSpPr>
        <p:spPr>
          <a:xfrm>
            <a:off x="5058175" y="1832446"/>
            <a:ext cx="2754677" cy="689149"/>
          </a:xfrm>
          <a:prstGeom prst="rect">
            <a:avLst/>
          </a:prstGeom>
          <a:noFill/>
          <a:ln/>
        </p:spPr>
        <p:txBody>
          <a:bodyPr wrap="square" lIns="0" tIns="0" rIns="0" bIns="0" rtlCol="0" anchor="t">
            <a:noAutofit/>
          </a:bodyPr>
          <a:lstStyle/>
          <a:p>
            <a:pPr marL="0" indent="0" algn="ctr">
              <a:lnSpc>
                <a:spcPct val="130000"/>
              </a:lnSpc>
              <a:buNone/>
            </a:pPr>
            <a:r>
              <a:rPr lang="en-US" sz="1400" b="1" dirty="0">
                <a:solidFill>
                  <a:srgbClr val="DAD8E9"/>
                </a:solidFill>
                <a:latin typeface="Eras Bold ITC" panose="020B0907030504020204" pitchFamily="34" charset="0"/>
                <a:ea typeface="Mukta Bold" pitchFamily="34" charset="-122"/>
                <a:cs typeface="Mukta Bold" pitchFamily="34" charset="-120"/>
              </a:rPr>
              <a:t>Path Planning</a:t>
            </a:r>
            <a:endParaRPr lang="en-US" sz="1400" dirty="0">
              <a:latin typeface="Eras Bold ITC" panose="020B0907030504020204" pitchFamily="34" charset="0"/>
            </a:endParaRPr>
          </a:p>
          <a:p>
            <a:pPr marL="0" indent="0" algn="ctr">
              <a:lnSpc>
                <a:spcPct val="130000"/>
              </a:lnSpc>
              <a:buNone/>
            </a:pPr>
            <a:r>
              <a:rPr lang="en-US" sz="1400" dirty="0">
                <a:solidFill>
                  <a:srgbClr val="DAD8E9"/>
                </a:solidFill>
                <a:latin typeface="Mukta Light" pitchFamily="34" charset="0"/>
                <a:ea typeface="Mukta Light" pitchFamily="34" charset="-122"/>
                <a:cs typeface="Mukta Light" pitchFamily="34" charset="-120"/>
              </a:rPr>
              <a:t>A* &amp; path finding rover navigation with obstacle avoidance</a:t>
            </a:r>
            <a:endParaRPr lang="en-US" sz="1400" dirty="0"/>
          </a:p>
        </p:txBody>
      </p:sp>
      <p:sp>
        <p:nvSpPr>
          <p:cNvPr id="30" name="Shape 28"/>
          <p:cNvSpPr/>
          <p:nvPr/>
        </p:nvSpPr>
        <p:spPr>
          <a:xfrm>
            <a:off x="7504956" y="3109838"/>
            <a:ext cx="19050" cy="441201"/>
          </a:xfrm>
          <a:prstGeom prst="roundRect">
            <a:avLst>
              <a:gd name="adj" fmla="val 324252"/>
            </a:avLst>
          </a:prstGeom>
          <a:solidFill>
            <a:srgbClr val="6D4562"/>
          </a:solidFill>
          <a:ln/>
        </p:spPr>
      </p:sp>
      <p:sp>
        <p:nvSpPr>
          <p:cNvPr id="31" name="Shape 29"/>
          <p:cNvSpPr/>
          <p:nvPr/>
        </p:nvSpPr>
        <p:spPr>
          <a:xfrm>
            <a:off x="7349058" y="2944416"/>
            <a:ext cx="330845" cy="330845"/>
          </a:xfrm>
          <a:prstGeom prst="roundRect">
            <a:avLst>
              <a:gd name="adj" fmla="val 18670"/>
            </a:avLst>
          </a:prstGeom>
          <a:solidFill>
            <a:srgbClr val="542C49"/>
          </a:solidFill>
          <a:ln w="4763">
            <a:solidFill>
              <a:srgbClr val="6D4562"/>
            </a:solidFill>
            <a:prstDash val="solid"/>
          </a:ln>
        </p:spPr>
      </p:sp>
      <p:sp>
        <p:nvSpPr>
          <p:cNvPr id="32" name="Text 30"/>
          <p:cNvSpPr/>
          <p:nvPr/>
        </p:nvSpPr>
        <p:spPr>
          <a:xfrm>
            <a:off x="7416440" y="2987278"/>
            <a:ext cx="196081" cy="245120"/>
          </a:xfrm>
          <a:prstGeom prst="rect">
            <a:avLst/>
          </a:prstGeom>
          <a:noFill/>
          <a:ln/>
        </p:spPr>
        <p:txBody>
          <a:bodyPr wrap="none" lIns="0" tIns="0" rIns="0" bIns="0" rtlCol="0" anchor="ctr"/>
          <a:lstStyle/>
          <a:p>
            <a:pPr marL="0" indent="0" algn="ctr">
              <a:lnSpc>
                <a:spcPct val="100000"/>
              </a:lnSpc>
              <a:buNone/>
            </a:pPr>
            <a:r>
              <a:rPr lang="en-US" dirty="0">
                <a:solidFill>
                  <a:srgbClr val="DAD8E9"/>
                </a:solidFill>
                <a:latin typeface="Prompt Medium" pitchFamily="34" charset="0"/>
                <a:ea typeface="Prompt Medium" pitchFamily="34" charset="-122"/>
                <a:cs typeface="Prompt Medium" pitchFamily="34" charset="-120"/>
              </a:rPr>
              <a:t>6</a:t>
            </a:r>
            <a:endParaRPr lang="en-US" dirty="0"/>
          </a:p>
        </p:txBody>
      </p:sp>
      <p:sp>
        <p:nvSpPr>
          <p:cNvPr id="33" name="Text 31"/>
          <p:cNvSpPr/>
          <p:nvPr/>
        </p:nvSpPr>
        <p:spPr>
          <a:xfrm>
            <a:off x="6572101" y="3698081"/>
            <a:ext cx="1884759" cy="204267"/>
          </a:xfrm>
          <a:prstGeom prst="rect">
            <a:avLst/>
          </a:prstGeom>
          <a:noFill/>
          <a:ln/>
        </p:spPr>
        <p:txBody>
          <a:bodyPr wrap="none" lIns="0" tIns="0" rIns="0" bIns="0" rtlCol="0" anchor="t"/>
          <a:lstStyle/>
          <a:p>
            <a:pPr marL="0" indent="0" algn="ctr">
              <a:lnSpc>
                <a:spcPct val="104000"/>
              </a:lnSpc>
              <a:buNone/>
            </a:pPr>
            <a:r>
              <a:rPr lang="en-US" sz="1600" b="1" dirty="0">
                <a:solidFill>
                  <a:srgbClr val="DAD8E9"/>
                </a:solidFill>
                <a:latin typeface="Segoe Script" panose="030B0504020000000003" pitchFamily="66" charset="0"/>
                <a:ea typeface="Prompt Medium" pitchFamily="34" charset="-122"/>
                <a:cs typeface="Prompt Medium" pitchFamily="34" charset="-120"/>
              </a:rPr>
              <a:t>Week 6</a:t>
            </a:r>
            <a:endParaRPr lang="en-US" sz="1600" b="1" dirty="0">
              <a:latin typeface="Segoe Script" panose="030B0504020000000003" pitchFamily="66" charset="0"/>
            </a:endParaRPr>
          </a:p>
        </p:txBody>
      </p:sp>
      <p:sp>
        <p:nvSpPr>
          <p:cNvPr id="34" name="Text 32"/>
          <p:cNvSpPr/>
          <p:nvPr/>
        </p:nvSpPr>
        <p:spPr>
          <a:xfrm>
            <a:off x="6572101" y="3986436"/>
            <a:ext cx="1884759" cy="689149"/>
          </a:xfrm>
          <a:prstGeom prst="rect">
            <a:avLst/>
          </a:prstGeom>
          <a:noFill/>
          <a:ln/>
        </p:spPr>
        <p:txBody>
          <a:bodyPr wrap="square" lIns="0" tIns="0" rIns="0" bIns="0" rtlCol="0" anchor="t">
            <a:normAutofit fontScale="92500" lnSpcReduction="20000"/>
          </a:bodyPr>
          <a:lstStyle/>
          <a:p>
            <a:pPr marL="0" indent="0" algn="ctr">
              <a:lnSpc>
                <a:spcPct val="130000"/>
              </a:lnSpc>
              <a:buNone/>
            </a:pPr>
            <a:r>
              <a:rPr lang="en-US" sz="1400" b="1" dirty="0">
                <a:solidFill>
                  <a:srgbClr val="DAD8E9"/>
                </a:solidFill>
                <a:latin typeface="Eras Bold ITC" panose="020B0907030504020204" pitchFamily="34" charset="0"/>
                <a:ea typeface="Mukta Bold" pitchFamily="34" charset="-122"/>
                <a:cs typeface="Mukta Bold" pitchFamily="34" charset="-120"/>
              </a:rPr>
              <a:t>Dashboard</a:t>
            </a:r>
            <a:endParaRPr lang="en-US" sz="1400" dirty="0">
              <a:latin typeface="Eras Bold ITC" panose="020B0907030504020204" pitchFamily="34" charset="0"/>
            </a:endParaRPr>
          </a:p>
          <a:p>
            <a:pPr marL="0" indent="0" algn="ctr">
              <a:lnSpc>
                <a:spcPct val="130000"/>
              </a:lnSpc>
              <a:buNone/>
            </a:pPr>
            <a:r>
              <a:rPr lang="en-US" sz="1400" dirty="0">
                <a:solidFill>
                  <a:srgbClr val="DAD8E9"/>
                </a:solidFill>
                <a:latin typeface="Mukta Light" pitchFamily="34" charset="0"/>
                <a:ea typeface="Mukta Light" pitchFamily="34" charset="-122"/>
                <a:cs typeface="Mukta Light" pitchFamily="34" charset="-120"/>
              </a:rPr>
              <a:t>Full UI integration, testing, and deployment</a:t>
            </a:r>
            <a:endParaRPr lang="en-US" sz="1400" dirty="0"/>
          </a:p>
        </p:txBody>
      </p:sp>
      <p:sp>
        <p:nvSpPr>
          <p:cNvPr id="36" name="Rectangle 35">
            <a:extLst>
              <a:ext uri="{FF2B5EF4-FFF2-40B4-BE49-F238E27FC236}">
                <a16:creationId xmlns:a16="http://schemas.microsoft.com/office/drawing/2014/main" id="{8711A1C6-7AB2-4E69-95FE-B8D467D8B78D}"/>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2" name="Picture 41">
            <a:extLst>
              <a:ext uri="{FF2B5EF4-FFF2-40B4-BE49-F238E27FC236}">
                <a16:creationId xmlns:a16="http://schemas.microsoft.com/office/drawing/2014/main" id="{D90C0438-A5CF-2003-BFF8-FBDD0C94069F}"/>
              </a:ext>
            </a:extLst>
          </p:cNvPr>
          <p:cNvPicPr>
            <a:picLocks noChangeAspect="1"/>
          </p:cNvPicPr>
          <p:nvPr/>
        </p:nvPicPr>
        <p:blipFill>
          <a:blip r:embed="rId3"/>
          <a:stretch>
            <a:fillRect/>
          </a:stretch>
        </p:blipFill>
        <p:spPr>
          <a:xfrm>
            <a:off x="75789" y="4632828"/>
            <a:ext cx="441052" cy="441052"/>
          </a:xfrm>
          <a:prstGeom prst="rect">
            <a:avLst/>
          </a:prstGeom>
        </p:spPr>
      </p:pic>
      <p:sp>
        <p:nvSpPr>
          <p:cNvPr id="37" name="Action Button: Go Forward or Next 36">
            <a:hlinkClick r:id="" action="ppaction://hlinkshowjump?jump=nextslide" highlightClick="1"/>
            <a:extLst>
              <a:ext uri="{FF2B5EF4-FFF2-40B4-BE49-F238E27FC236}">
                <a16:creationId xmlns:a16="http://schemas.microsoft.com/office/drawing/2014/main" id="{2C1419C4-2DF5-27F4-4071-88548602E8CB}"/>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Action Button: Go Back or Previous 40">
            <a:hlinkClick r:id="" action="ppaction://hlinkshowjump?jump=previousslide" highlightClick="1"/>
            <a:extLst>
              <a:ext uri="{FF2B5EF4-FFF2-40B4-BE49-F238E27FC236}">
                <a16:creationId xmlns:a16="http://schemas.microsoft.com/office/drawing/2014/main" id="{06C7B3A7-09B2-0957-7E9F-C1D16E120DC3}"/>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7366ED7-FB54-777E-731B-73951051CCE8}"/>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ction Button: Go Back or Previous 4">
            <a:hlinkClick r:id="" action="ppaction://hlinkshowjump?jump=previousslide" highlightClick="1"/>
            <a:extLst>
              <a:ext uri="{FF2B5EF4-FFF2-40B4-BE49-F238E27FC236}">
                <a16:creationId xmlns:a16="http://schemas.microsoft.com/office/drawing/2014/main" id="{1502DCAE-B325-6ABB-CAB5-72270EE08310}"/>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ction Button: Go Forward or Next 6">
            <a:hlinkClick r:id="" action="ppaction://hlinkshowjump?jump=nextslide" highlightClick="1"/>
            <a:extLst>
              <a:ext uri="{FF2B5EF4-FFF2-40B4-BE49-F238E27FC236}">
                <a16:creationId xmlns:a16="http://schemas.microsoft.com/office/drawing/2014/main" id="{F89B863D-98B4-F6C9-8204-53E30347227C}"/>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2C30F170-35A5-8FE5-5AB3-9A94B929A640}"/>
              </a:ext>
            </a:extLst>
          </p:cNvPr>
          <p:cNvSpPr txBox="1"/>
          <p:nvPr/>
        </p:nvSpPr>
        <p:spPr>
          <a:xfrm>
            <a:off x="150436" y="582672"/>
            <a:ext cx="8843128" cy="4093428"/>
          </a:xfrm>
          <a:prstGeom prst="rect">
            <a:avLst/>
          </a:prstGeom>
          <a:noFill/>
        </p:spPr>
        <p:txBody>
          <a:bodyPr wrap="square">
            <a:spAutoFit/>
          </a:bodyPr>
          <a:lstStyle/>
          <a:p>
            <a:pPr algn="just">
              <a:buNone/>
            </a:pPr>
            <a:r>
              <a:rPr lang="en-IN" b="1" dirty="0">
                <a:solidFill>
                  <a:schemeClr val="bg1"/>
                </a:solidFill>
                <a:latin typeface="Eras Bold ITC" panose="020B0907030504020204" pitchFamily="34" charset="0"/>
              </a:rPr>
              <a:t>Transforming Lunar Exploration with AI</a:t>
            </a:r>
          </a:p>
          <a:p>
            <a:pPr marL="285750" indent="-285750" algn="just">
              <a:lnSpc>
                <a:spcPct val="150000"/>
              </a:lnSpc>
              <a:buFont typeface="Wingdings" panose="05000000000000000000" pitchFamily="2" charset="2"/>
              <a:buChar char="v"/>
            </a:pPr>
            <a:r>
              <a:rPr lang="en-IN" sz="1600" dirty="0">
                <a:solidFill>
                  <a:schemeClr val="bg1"/>
                </a:solidFill>
                <a:latin typeface="PMingLiU-ExtB" panose="02020500000000000000" pitchFamily="18" charset="-120"/>
                <a:ea typeface="PMingLiU-ExtB" panose="02020500000000000000" pitchFamily="18" charset="-120"/>
              </a:rPr>
              <a:t>Our solution combines </a:t>
            </a:r>
            <a:r>
              <a:rPr lang="en-IN" sz="1600" b="1" dirty="0">
                <a:solidFill>
                  <a:schemeClr val="bg1"/>
                </a:solidFill>
                <a:latin typeface="PMingLiU-ExtB" panose="02020500000000000000" pitchFamily="18" charset="-120"/>
                <a:ea typeface="PMingLiU-ExtB" panose="02020500000000000000" pitchFamily="18" charset="-120"/>
              </a:rPr>
              <a:t>Artificial Intelligence, Computer Vision, and Smart Path Planning</a:t>
            </a:r>
            <a:r>
              <a:rPr lang="en-IN" sz="1600" dirty="0">
                <a:solidFill>
                  <a:schemeClr val="bg1"/>
                </a:solidFill>
                <a:latin typeface="PMingLiU-ExtB" panose="02020500000000000000" pitchFamily="18" charset="-120"/>
                <a:ea typeface="PMingLiU-ExtB" panose="02020500000000000000" pitchFamily="18" charset="-120"/>
              </a:rPr>
              <a:t> to make lunar landing and rover navigation safer, faster, and more reliable. </a:t>
            </a:r>
          </a:p>
          <a:p>
            <a:pPr marL="285750" indent="-285750" algn="just">
              <a:lnSpc>
                <a:spcPct val="150000"/>
              </a:lnSpc>
              <a:buFont typeface="Wingdings" panose="05000000000000000000" pitchFamily="2" charset="2"/>
              <a:buChar char="v"/>
            </a:pPr>
            <a:r>
              <a:rPr lang="en-IN" sz="1600" dirty="0">
                <a:solidFill>
                  <a:schemeClr val="bg1"/>
                </a:solidFill>
                <a:latin typeface="PMingLiU-ExtB" panose="02020500000000000000" pitchFamily="18" charset="-120"/>
                <a:ea typeface="PMingLiU-ExtB" panose="02020500000000000000" pitchFamily="18" charset="-120"/>
              </a:rPr>
              <a:t>By automating hazard detection and landing site selection, we can </a:t>
            </a:r>
            <a:r>
              <a:rPr lang="en-IN" sz="1600" b="1" dirty="0">
                <a:solidFill>
                  <a:schemeClr val="bg1"/>
                </a:solidFill>
                <a:latin typeface="PMingLiU-ExtB" panose="02020500000000000000" pitchFamily="18" charset="-120"/>
                <a:ea typeface="PMingLiU-ExtB" panose="02020500000000000000" pitchFamily="18" charset="-120"/>
              </a:rPr>
              <a:t>reduce mission risks, save valuable time, and improve exploration efficiency.</a:t>
            </a:r>
            <a:r>
              <a:rPr lang="en-IN" sz="1600" dirty="0">
                <a:solidFill>
                  <a:schemeClr val="bg1"/>
                </a:solidFill>
                <a:latin typeface="PMingLiU-ExtB" panose="02020500000000000000" pitchFamily="18" charset="-120"/>
                <a:ea typeface="PMingLiU-ExtB" panose="02020500000000000000" pitchFamily="18" charset="-120"/>
              </a:rPr>
              <a:t> </a:t>
            </a:r>
          </a:p>
          <a:p>
            <a:pPr marL="285750" indent="-285750" algn="just">
              <a:lnSpc>
                <a:spcPct val="150000"/>
              </a:lnSpc>
              <a:buFont typeface="Wingdings" panose="05000000000000000000" pitchFamily="2" charset="2"/>
              <a:buChar char="v"/>
            </a:pPr>
            <a:r>
              <a:rPr lang="en-IN" sz="1600" dirty="0">
                <a:solidFill>
                  <a:schemeClr val="bg1"/>
                </a:solidFill>
                <a:latin typeface="PMingLiU-ExtB" panose="02020500000000000000" pitchFamily="18" charset="-120"/>
                <a:ea typeface="PMingLiU-ExtB" panose="02020500000000000000" pitchFamily="18" charset="-120"/>
              </a:rPr>
              <a:t>Designed using </a:t>
            </a:r>
            <a:r>
              <a:rPr lang="en-IN" sz="1600" b="1" dirty="0">
                <a:solidFill>
                  <a:schemeClr val="bg1"/>
                </a:solidFill>
                <a:latin typeface="PMingLiU-ExtB" panose="02020500000000000000" pitchFamily="18" charset="-120"/>
                <a:ea typeface="PMingLiU-ExtB" panose="02020500000000000000" pitchFamily="18" charset="-120"/>
              </a:rPr>
              <a:t>open-source technologies and real NASA/ISRO datasets</a:t>
            </a:r>
            <a:r>
              <a:rPr lang="en-IN" sz="1600" dirty="0">
                <a:solidFill>
                  <a:schemeClr val="bg1"/>
                </a:solidFill>
                <a:latin typeface="PMingLiU-ExtB" panose="02020500000000000000" pitchFamily="18" charset="-120"/>
                <a:ea typeface="PMingLiU-ExtB" panose="02020500000000000000" pitchFamily="18" charset="-120"/>
              </a:rPr>
              <a:t>, the project is practical, scalable, and ready for future enhancements. </a:t>
            </a:r>
          </a:p>
          <a:p>
            <a:pPr marL="285750" indent="-285750" algn="just">
              <a:lnSpc>
                <a:spcPct val="150000"/>
              </a:lnSpc>
              <a:buFont typeface="Wingdings" panose="05000000000000000000" pitchFamily="2" charset="2"/>
              <a:buChar char="v"/>
            </a:pPr>
            <a:r>
              <a:rPr lang="en-IN" sz="1600" dirty="0">
                <a:solidFill>
                  <a:schemeClr val="bg1"/>
                </a:solidFill>
                <a:latin typeface="PMingLiU-ExtB" panose="02020500000000000000" pitchFamily="18" charset="-120"/>
                <a:ea typeface="PMingLiU-ExtB" panose="02020500000000000000" pitchFamily="18" charset="-120"/>
              </a:rPr>
              <a:t>Beyond the Moon, the same architecture can support </a:t>
            </a:r>
            <a:r>
              <a:rPr lang="en-IN" sz="1600" b="1" dirty="0">
                <a:solidFill>
                  <a:schemeClr val="bg1"/>
                </a:solidFill>
                <a:latin typeface="PMingLiU-ExtB" panose="02020500000000000000" pitchFamily="18" charset="-120"/>
                <a:ea typeface="PMingLiU-ExtB" panose="02020500000000000000" pitchFamily="18" charset="-120"/>
              </a:rPr>
              <a:t>Mars missions and other planetary exploration</a:t>
            </a:r>
            <a:r>
              <a:rPr lang="en-IN" sz="1600" dirty="0">
                <a:solidFill>
                  <a:schemeClr val="bg1"/>
                </a:solidFill>
                <a:latin typeface="PMingLiU-ExtB" panose="02020500000000000000" pitchFamily="18" charset="-120"/>
                <a:ea typeface="PMingLiU-ExtB" panose="02020500000000000000" pitchFamily="18" charset="-120"/>
              </a:rPr>
              <a:t>, making it a future-ready solution. </a:t>
            </a:r>
          </a:p>
          <a:p>
            <a:pPr algn="just">
              <a:buNone/>
            </a:pPr>
            <a:r>
              <a:rPr lang="en-IN" b="1" dirty="0">
                <a:solidFill>
                  <a:schemeClr val="bg1"/>
                </a:solidFill>
                <a:latin typeface="Eras Bold ITC" panose="020B0907030504020204" pitchFamily="34" charset="0"/>
              </a:rPr>
              <a:t>Final Thought</a:t>
            </a:r>
          </a:p>
          <a:p>
            <a:pPr algn="just">
              <a:buNone/>
            </a:pPr>
            <a:r>
              <a:rPr lang="en-IN" sz="1600" b="1" dirty="0">
                <a:solidFill>
                  <a:schemeClr val="bg1"/>
                </a:solidFill>
                <a:latin typeface="PMingLiU-ExtB" panose="02020500000000000000" pitchFamily="18" charset="-120"/>
                <a:ea typeface="PMingLiU-ExtB" panose="02020500000000000000" pitchFamily="18" charset="-120"/>
              </a:rPr>
              <a:t>"The future of space exploration belongs to intelligent systems. With Lunar AI, we're not just helping machines land safely—we're enabling humanity to explore farther, smarter, and with greater confidence."</a:t>
            </a:r>
            <a:endParaRPr lang="en-IN" sz="1600" dirty="0">
              <a:solidFill>
                <a:schemeClr val="bg1"/>
              </a:solidFill>
              <a:latin typeface="PMingLiU-ExtB" panose="02020500000000000000" pitchFamily="18" charset="-120"/>
              <a:ea typeface="PMingLiU-ExtB" panose="02020500000000000000" pitchFamily="18" charset="-120"/>
            </a:endParaRPr>
          </a:p>
        </p:txBody>
      </p:sp>
      <p:sp>
        <p:nvSpPr>
          <p:cNvPr id="11" name="TextBox 10">
            <a:extLst>
              <a:ext uri="{FF2B5EF4-FFF2-40B4-BE49-F238E27FC236}">
                <a16:creationId xmlns:a16="http://schemas.microsoft.com/office/drawing/2014/main" id="{33333D84-ACF5-0051-EBC1-263E83E3438C}"/>
              </a:ext>
            </a:extLst>
          </p:cNvPr>
          <p:cNvSpPr txBox="1"/>
          <p:nvPr/>
        </p:nvSpPr>
        <p:spPr>
          <a:xfrm>
            <a:off x="274817" y="20055"/>
            <a:ext cx="3608363" cy="523220"/>
          </a:xfrm>
          <a:prstGeom prst="rect">
            <a:avLst/>
          </a:prstGeom>
          <a:noFill/>
        </p:spPr>
        <p:txBody>
          <a:bodyPr wrap="square" rtlCol="0">
            <a:spAutoFit/>
          </a:bodyPr>
          <a:lstStyle/>
          <a:p>
            <a:r>
              <a:rPr lang="en-US" sz="2800" dirty="0">
                <a:solidFill>
                  <a:srgbClr val="00FFCC"/>
                </a:solidFill>
                <a:latin typeface="Broadway" panose="04040905080B02020502" pitchFamily="82" charset="0"/>
              </a:rPr>
              <a:t>Conclusion</a:t>
            </a:r>
            <a:endParaRPr lang="en-IN" sz="2800" dirty="0">
              <a:solidFill>
                <a:srgbClr val="00FFCC"/>
              </a:solidFill>
              <a:latin typeface="Broadway" panose="04040905080B02020502" pitchFamily="82" charset="0"/>
            </a:endParaRPr>
          </a:p>
        </p:txBody>
      </p:sp>
    </p:spTree>
    <p:extLst>
      <p:ext uri="{BB962C8B-B14F-4D97-AF65-F5344CB8AC3E}">
        <p14:creationId xmlns:p14="http://schemas.microsoft.com/office/powerpoint/2010/main" val="284051518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67820" y="174054"/>
            <a:ext cx="4634954" cy="267891"/>
          </a:xfrm>
          <a:prstGeom prst="rect">
            <a:avLst/>
          </a:prstGeom>
          <a:noFill/>
          <a:ln/>
        </p:spPr>
        <p:txBody>
          <a:bodyPr wrap="none" lIns="0" tIns="0" rIns="0" bIns="0" rtlCol="0" anchor="t"/>
          <a:lstStyle/>
          <a:p>
            <a:pPr marL="0" indent="0" algn="l">
              <a:lnSpc>
                <a:spcPct val="104000"/>
              </a:lnSpc>
              <a:buNone/>
            </a:pPr>
            <a:r>
              <a:rPr lang="en-US" sz="2000" dirty="0">
                <a:solidFill>
                  <a:srgbClr val="00FFCC"/>
                </a:solidFill>
                <a:latin typeface="Broadway" panose="04040905080B02020502" pitchFamily="82" charset="0"/>
                <a:ea typeface="Prompt Medium" pitchFamily="34" charset="-122"/>
                <a:cs typeface="Prompt Medium" pitchFamily="34" charset="-120"/>
              </a:rPr>
              <a:t>Why Our Solution Will Win</a:t>
            </a:r>
            <a:endParaRPr lang="en-US" sz="2000" dirty="0">
              <a:solidFill>
                <a:srgbClr val="00FFCC"/>
              </a:solidFill>
              <a:latin typeface="Broadway" panose="04040905080B02020502" pitchFamily="82" charset="0"/>
            </a:endParaRPr>
          </a:p>
        </p:txBody>
      </p:sp>
      <p:sp>
        <p:nvSpPr>
          <p:cNvPr id="4" name="Shape 1"/>
          <p:cNvSpPr/>
          <p:nvPr/>
        </p:nvSpPr>
        <p:spPr>
          <a:xfrm>
            <a:off x="3794760" y="671751"/>
            <a:ext cx="5144734" cy="847427"/>
          </a:xfrm>
          <a:prstGeom prst="roundRect">
            <a:avLst>
              <a:gd name="adj" fmla="val 4780"/>
            </a:avLst>
          </a:prstGeom>
          <a:solidFill>
            <a:srgbClr val="542C49"/>
          </a:solidFill>
          <a:ln w="4763">
            <a:solidFill>
              <a:srgbClr val="6D4562"/>
            </a:solidFill>
            <a:prstDash val="solid"/>
          </a:ln>
        </p:spPr>
      </p:sp>
      <p:sp>
        <p:nvSpPr>
          <p:cNvPr id="5" name="Shape 2"/>
          <p:cNvSpPr/>
          <p:nvPr/>
        </p:nvSpPr>
        <p:spPr>
          <a:xfrm>
            <a:off x="3864486" y="772954"/>
            <a:ext cx="289322" cy="289322"/>
          </a:xfrm>
          <a:prstGeom prst="ellipse">
            <a:avLst/>
          </a:prstGeom>
          <a:solidFill>
            <a:srgbClr val="A95B95"/>
          </a:solidFill>
          <a:ln/>
        </p:spPr>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44035" y="852502"/>
            <a:ext cx="130150" cy="130150"/>
          </a:xfrm>
          <a:prstGeom prst="rect">
            <a:avLst/>
          </a:prstGeom>
        </p:spPr>
      </p:pic>
      <p:sp>
        <p:nvSpPr>
          <p:cNvPr id="7" name="Text 3"/>
          <p:cNvSpPr/>
          <p:nvPr/>
        </p:nvSpPr>
        <p:spPr>
          <a:xfrm>
            <a:off x="3910206" y="1092071"/>
            <a:ext cx="4432548" cy="133945"/>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Eras Bold ITC" panose="020B0907030504020204" pitchFamily="34" charset="0"/>
                <a:ea typeface="Prompt Medium" pitchFamily="34" charset="-122"/>
                <a:cs typeface="Prompt Medium" pitchFamily="34" charset="-120"/>
              </a:rPr>
              <a:t>Truly Innovative</a:t>
            </a:r>
            <a:endParaRPr lang="en-US" sz="1400" dirty="0">
              <a:latin typeface="Eras Bold ITC" panose="020B0907030504020204" pitchFamily="34" charset="0"/>
            </a:endParaRPr>
          </a:p>
        </p:txBody>
      </p:sp>
      <p:sp>
        <p:nvSpPr>
          <p:cNvPr id="8" name="Text 4"/>
          <p:cNvSpPr/>
          <p:nvPr/>
        </p:nvSpPr>
        <p:spPr>
          <a:xfrm>
            <a:off x="3879726" y="1292662"/>
            <a:ext cx="4432548" cy="125313"/>
          </a:xfrm>
          <a:prstGeom prst="rect">
            <a:avLst/>
          </a:prstGeom>
          <a:noFill/>
          <a:ln/>
        </p:spPr>
        <p:txBody>
          <a:bodyPr wrap="none" lIns="0" tIns="0" rIns="0" bIns="0" rtlCol="0" anchor="t"/>
          <a:lstStyle/>
          <a:p>
            <a:pPr marL="0" indent="0" algn="l">
              <a:lnSpc>
                <a:spcPct val="108000"/>
              </a:lnSpc>
              <a:buNone/>
            </a:pPr>
            <a:r>
              <a:rPr lang="en-US" sz="1300" dirty="0">
                <a:solidFill>
                  <a:srgbClr val="DAD8E9"/>
                </a:solidFill>
                <a:latin typeface="Mukta Light" pitchFamily="34" charset="0"/>
                <a:ea typeface="Mukta Light" pitchFamily="34" charset="-122"/>
                <a:cs typeface="Mukta Light" pitchFamily="34" charset="-120"/>
              </a:rPr>
              <a:t>End-to-end AI for lunar missions — not just detection, but decision-making</a:t>
            </a:r>
            <a:endParaRPr lang="en-US" sz="1300" dirty="0"/>
          </a:p>
        </p:txBody>
      </p:sp>
      <p:sp>
        <p:nvSpPr>
          <p:cNvPr id="9" name="Shape 5"/>
          <p:cNvSpPr/>
          <p:nvPr/>
        </p:nvSpPr>
        <p:spPr>
          <a:xfrm>
            <a:off x="3801382" y="1579453"/>
            <a:ext cx="5144733" cy="847427"/>
          </a:xfrm>
          <a:prstGeom prst="roundRect">
            <a:avLst>
              <a:gd name="adj" fmla="val 4780"/>
            </a:avLst>
          </a:prstGeom>
          <a:solidFill>
            <a:srgbClr val="542C49"/>
          </a:solidFill>
          <a:ln w="4763">
            <a:solidFill>
              <a:srgbClr val="6D4562"/>
            </a:solidFill>
            <a:prstDash val="solid"/>
          </a:ln>
        </p:spPr>
      </p:sp>
      <p:sp>
        <p:nvSpPr>
          <p:cNvPr id="10" name="Shape 6"/>
          <p:cNvSpPr/>
          <p:nvPr/>
        </p:nvSpPr>
        <p:spPr>
          <a:xfrm>
            <a:off x="3902586" y="1680656"/>
            <a:ext cx="289322" cy="289322"/>
          </a:xfrm>
          <a:prstGeom prst="ellipse">
            <a:avLst/>
          </a:prstGeom>
          <a:solidFill>
            <a:srgbClr val="A95B95"/>
          </a:solidFill>
          <a:ln/>
        </p:spPr>
      </p:sp>
      <p:pic>
        <p:nvPicPr>
          <p:cNvPr id="11"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82135" y="1760205"/>
            <a:ext cx="130150" cy="130150"/>
          </a:xfrm>
          <a:prstGeom prst="rect">
            <a:avLst/>
          </a:prstGeom>
        </p:spPr>
      </p:pic>
      <p:sp>
        <p:nvSpPr>
          <p:cNvPr id="12" name="Text 7"/>
          <p:cNvSpPr/>
          <p:nvPr/>
        </p:nvSpPr>
        <p:spPr>
          <a:xfrm>
            <a:off x="3902586" y="2007394"/>
            <a:ext cx="4432548" cy="133945"/>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Eras Bold ITC" panose="020B0907030504020204" pitchFamily="34" charset="0"/>
                <a:ea typeface="Prompt Medium" pitchFamily="34" charset="-122"/>
                <a:cs typeface="Prompt Medium" pitchFamily="34" charset="-120"/>
              </a:rPr>
              <a:t>Real-World Ready</a:t>
            </a:r>
            <a:endParaRPr lang="en-US" sz="1400" dirty="0">
              <a:latin typeface="Eras Bold ITC" panose="020B0907030504020204" pitchFamily="34" charset="0"/>
            </a:endParaRPr>
          </a:p>
        </p:txBody>
      </p:sp>
      <p:sp>
        <p:nvSpPr>
          <p:cNvPr id="13" name="Text 8"/>
          <p:cNvSpPr/>
          <p:nvPr/>
        </p:nvSpPr>
        <p:spPr>
          <a:xfrm>
            <a:off x="3902586" y="2200364"/>
            <a:ext cx="4432548" cy="125313"/>
          </a:xfrm>
          <a:prstGeom prst="rect">
            <a:avLst/>
          </a:prstGeom>
          <a:noFill/>
          <a:ln/>
        </p:spPr>
        <p:txBody>
          <a:bodyPr wrap="none" lIns="0" tIns="0" rIns="0" bIns="0" rtlCol="0" anchor="t"/>
          <a:lstStyle/>
          <a:p>
            <a:pPr marL="0" indent="0" algn="l">
              <a:lnSpc>
                <a:spcPct val="108000"/>
              </a:lnSpc>
              <a:buNone/>
            </a:pPr>
            <a:r>
              <a:rPr lang="en-US" sz="1300" dirty="0">
                <a:solidFill>
                  <a:srgbClr val="DAD8E9"/>
                </a:solidFill>
                <a:latin typeface="Mukta Light" pitchFamily="34" charset="0"/>
                <a:ea typeface="Mukta Light" pitchFamily="34" charset="-122"/>
                <a:cs typeface="Mukta Light" pitchFamily="34" charset="-120"/>
              </a:rPr>
              <a:t>Built on proven tech with direct application to ISRO &amp; NASA programs</a:t>
            </a:r>
            <a:endParaRPr lang="en-US" sz="1300" dirty="0"/>
          </a:p>
        </p:txBody>
      </p:sp>
      <p:sp>
        <p:nvSpPr>
          <p:cNvPr id="14" name="Shape 9"/>
          <p:cNvSpPr/>
          <p:nvPr/>
        </p:nvSpPr>
        <p:spPr>
          <a:xfrm>
            <a:off x="3801382" y="2487156"/>
            <a:ext cx="5138111" cy="847427"/>
          </a:xfrm>
          <a:prstGeom prst="roundRect">
            <a:avLst>
              <a:gd name="adj" fmla="val 4780"/>
            </a:avLst>
          </a:prstGeom>
          <a:solidFill>
            <a:srgbClr val="542C49"/>
          </a:solidFill>
          <a:ln w="4763">
            <a:solidFill>
              <a:srgbClr val="6D4562"/>
            </a:solidFill>
            <a:prstDash val="solid"/>
          </a:ln>
        </p:spPr>
      </p:sp>
      <p:sp>
        <p:nvSpPr>
          <p:cNvPr id="15" name="Shape 10"/>
          <p:cNvSpPr/>
          <p:nvPr/>
        </p:nvSpPr>
        <p:spPr>
          <a:xfrm>
            <a:off x="3902586" y="2588359"/>
            <a:ext cx="289322" cy="289322"/>
          </a:xfrm>
          <a:prstGeom prst="ellipse">
            <a:avLst/>
          </a:prstGeom>
          <a:solidFill>
            <a:srgbClr val="A95B95"/>
          </a:solidFill>
          <a:ln/>
        </p:spPr>
      </p:sp>
      <p:pic>
        <p:nvPicPr>
          <p:cNvPr id="16"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82135" y="2667908"/>
            <a:ext cx="130150" cy="130150"/>
          </a:xfrm>
          <a:prstGeom prst="rect">
            <a:avLst/>
          </a:prstGeom>
        </p:spPr>
      </p:pic>
      <p:sp>
        <p:nvSpPr>
          <p:cNvPr id="17" name="Text 11"/>
          <p:cNvSpPr/>
          <p:nvPr/>
        </p:nvSpPr>
        <p:spPr>
          <a:xfrm>
            <a:off x="3902586" y="2907476"/>
            <a:ext cx="4432548" cy="133945"/>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Eras Bold ITC" panose="020B0907030504020204" pitchFamily="34" charset="0"/>
                <a:ea typeface="Prompt Medium" pitchFamily="34" charset="-122"/>
                <a:cs typeface="Prompt Medium" pitchFamily="34" charset="-120"/>
              </a:rPr>
              <a:t>Infinitely Scalable</a:t>
            </a:r>
            <a:endParaRPr lang="en-US" sz="1400" dirty="0">
              <a:latin typeface="Eras Bold ITC" panose="020B0907030504020204" pitchFamily="34" charset="0"/>
            </a:endParaRPr>
          </a:p>
        </p:txBody>
      </p:sp>
      <p:sp>
        <p:nvSpPr>
          <p:cNvPr id="18" name="Text 12"/>
          <p:cNvSpPr/>
          <p:nvPr/>
        </p:nvSpPr>
        <p:spPr>
          <a:xfrm>
            <a:off x="3902586" y="3108067"/>
            <a:ext cx="4432548" cy="125313"/>
          </a:xfrm>
          <a:prstGeom prst="rect">
            <a:avLst/>
          </a:prstGeom>
          <a:noFill/>
          <a:ln/>
        </p:spPr>
        <p:txBody>
          <a:bodyPr wrap="none" lIns="0" tIns="0" rIns="0" bIns="0" rtlCol="0" anchor="t"/>
          <a:lstStyle/>
          <a:p>
            <a:pPr marL="0" indent="0" algn="l">
              <a:lnSpc>
                <a:spcPct val="108000"/>
              </a:lnSpc>
              <a:buNone/>
            </a:pPr>
            <a:r>
              <a:rPr lang="en-US" sz="1300" dirty="0">
                <a:solidFill>
                  <a:srgbClr val="DAD8E9"/>
                </a:solidFill>
                <a:latin typeface="Mukta Light" pitchFamily="34" charset="0"/>
                <a:ea typeface="Mukta Light" pitchFamily="34" charset="-122"/>
                <a:cs typeface="Mukta Light" pitchFamily="34" charset="-120"/>
              </a:rPr>
              <a:t>From Moon to Mars — the architecture extends to any planetary body</a:t>
            </a:r>
            <a:endParaRPr lang="en-US" sz="1300" dirty="0"/>
          </a:p>
        </p:txBody>
      </p:sp>
      <p:sp>
        <p:nvSpPr>
          <p:cNvPr id="19" name="Shape 13"/>
          <p:cNvSpPr/>
          <p:nvPr/>
        </p:nvSpPr>
        <p:spPr>
          <a:xfrm>
            <a:off x="3801383" y="3394859"/>
            <a:ext cx="5138110" cy="847427"/>
          </a:xfrm>
          <a:prstGeom prst="roundRect">
            <a:avLst>
              <a:gd name="adj" fmla="val 4780"/>
            </a:avLst>
          </a:prstGeom>
          <a:solidFill>
            <a:srgbClr val="542C49"/>
          </a:solidFill>
          <a:ln w="4763">
            <a:solidFill>
              <a:srgbClr val="6D4562"/>
            </a:solidFill>
            <a:prstDash val="solid"/>
          </a:ln>
        </p:spPr>
      </p:sp>
      <p:sp>
        <p:nvSpPr>
          <p:cNvPr id="20" name="Shape 14"/>
          <p:cNvSpPr/>
          <p:nvPr/>
        </p:nvSpPr>
        <p:spPr>
          <a:xfrm>
            <a:off x="3902586" y="3496062"/>
            <a:ext cx="289322" cy="289322"/>
          </a:xfrm>
          <a:prstGeom prst="ellipse">
            <a:avLst/>
          </a:prstGeom>
          <a:solidFill>
            <a:srgbClr val="A95B95"/>
          </a:solidFill>
          <a:ln/>
        </p:spPr>
      </p:sp>
      <p:pic>
        <p:nvPicPr>
          <p:cNvPr id="21"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82135" y="3575611"/>
            <a:ext cx="130150" cy="130150"/>
          </a:xfrm>
          <a:prstGeom prst="rect">
            <a:avLst/>
          </a:prstGeom>
        </p:spPr>
      </p:pic>
      <p:sp>
        <p:nvSpPr>
          <p:cNvPr id="22" name="Text 15"/>
          <p:cNvSpPr/>
          <p:nvPr/>
        </p:nvSpPr>
        <p:spPr>
          <a:xfrm>
            <a:off x="3902586" y="3815179"/>
            <a:ext cx="4432548" cy="133945"/>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Eras Bold ITC" panose="020B0907030504020204" pitchFamily="34" charset="0"/>
                <a:ea typeface="Prompt Medium" pitchFamily="34" charset="-122"/>
                <a:cs typeface="Prompt Medium" pitchFamily="34" charset="-120"/>
              </a:rPr>
              <a:t>Complete Package</a:t>
            </a:r>
            <a:endParaRPr lang="en-US" sz="1400" dirty="0">
              <a:latin typeface="Eras Bold ITC" panose="020B0907030504020204" pitchFamily="34" charset="0"/>
            </a:endParaRPr>
          </a:p>
        </p:txBody>
      </p:sp>
      <p:sp>
        <p:nvSpPr>
          <p:cNvPr id="23" name="Text 16"/>
          <p:cNvSpPr/>
          <p:nvPr/>
        </p:nvSpPr>
        <p:spPr>
          <a:xfrm>
            <a:off x="3818766" y="4015770"/>
            <a:ext cx="4432548" cy="125313"/>
          </a:xfrm>
          <a:prstGeom prst="rect">
            <a:avLst/>
          </a:prstGeom>
          <a:noFill/>
          <a:ln/>
        </p:spPr>
        <p:txBody>
          <a:bodyPr wrap="none" lIns="0" tIns="0" rIns="0" bIns="0" rtlCol="0" anchor="t"/>
          <a:lstStyle/>
          <a:p>
            <a:pPr marL="0" indent="0" algn="l">
              <a:lnSpc>
                <a:spcPct val="108000"/>
              </a:lnSpc>
              <a:buNone/>
            </a:pPr>
            <a:r>
              <a:rPr lang="en-US" sz="1300" dirty="0">
                <a:solidFill>
                  <a:srgbClr val="DAD8E9"/>
                </a:solidFill>
                <a:latin typeface="Mukta Light" pitchFamily="34" charset="0"/>
                <a:ea typeface="Mukta Light" pitchFamily="34" charset="-122"/>
                <a:cs typeface="Mukta Light" pitchFamily="34" charset="-120"/>
              </a:rPr>
              <a:t>Modern UI, professional architecture, high feasibility, &amp; strong visual impact</a:t>
            </a:r>
            <a:endParaRPr lang="en-US" sz="1300" dirty="0"/>
          </a:p>
        </p:txBody>
      </p:sp>
      <p:sp>
        <p:nvSpPr>
          <p:cNvPr id="24" name="Shape 17"/>
          <p:cNvSpPr/>
          <p:nvPr/>
        </p:nvSpPr>
        <p:spPr>
          <a:xfrm>
            <a:off x="3992002" y="4438829"/>
            <a:ext cx="45719" cy="193029"/>
          </a:xfrm>
          <a:prstGeom prst="roundRect">
            <a:avLst>
              <a:gd name="adj" fmla="val 59998"/>
            </a:avLst>
          </a:prstGeom>
          <a:solidFill>
            <a:srgbClr val="A95B95"/>
          </a:solidFill>
          <a:ln/>
        </p:spPr>
      </p:sp>
      <p:sp>
        <p:nvSpPr>
          <p:cNvPr id="25" name="Text 18"/>
          <p:cNvSpPr/>
          <p:nvPr/>
        </p:nvSpPr>
        <p:spPr>
          <a:xfrm>
            <a:off x="4113685" y="4438829"/>
            <a:ext cx="3278184" cy="500137"/>
          </a:xfrm>
          <a:prstGeom prst="rect">
            <a:avLst/>
          </a:prstGeom>
          <a:noFill/>
          <a:ln/>
        </p:spPr>
        <p:txBody>
          <a:bodyPr wrap="none" lIns="0" tIns="0" rIns="0" bIns="0" rtlCol="0" anchor="t"/>
          <a:lstStyle/>
          <a:p>
            <a:pPr marL="0" indent="0" algn="l">
              <a:lnSpc>
                <a:spcPct val="108000"/>
              </a:lnSpc>
              <a:buNone/>
            </a:pPr>
            <a:r>
              <a:rPr lang="en-US" sz="1400" dirty="0">
                <a:solidFill>
                  <a:srgbClr val="DAD8E9"/>
                </a:solidFill>
                <a:latin typeface="Mukta Light" pitchFamily="34" charset="0"/>
                <a:ea typeface="Mukta Light" pitchFamily="34" charset="-122"/>
                <a:cs typeface="Mukta Light" pitchFamily="34" charset="-120"/>
              </a:rPr>
              <a:t>This system doesn't just analyze the Moon —</a:t>
            </a:r>
          </a:p>
          <a:p>
            <a:pPr marL="0" indent="0" algn="l">
              <a:lnSpc>
                <a:spcPct val="108000"/>
              </a:lnSpc>
              <a:buNone/>
            </a:pPr>
            <a:r>
              <a:rPr lang="en-US" sz="1400" dirty="0">
                <a:solidFill>
                  <a:srgbClr val="DAD8E9"/>
                </a:solidFill>
                <a:latin typeface="Mukta Light" pitchFamily="34" charset="0"/>
                <a:ea typeface="Mukta Light" pitchFamily="34" charset="-122"/>
                <a:cs typeface="Mukta Light" pitchFamily="34" charset="-120"/>
              </a:rPr>
              <a:t> it </a:t>
            </a:r>
            <a:r>
              <a:rPr lang="en-US" sz="1400" b="1" dirty="0">
                <a:solidFill>
                  <a:srgbClr val="DAD8E9"/>
                </a:solidFill>
                <a:latin typeface="Mukta Bold" pitchFamily="34" charset="0"/>
                <a:ea typeface="Mukta Bold" pitchFamily="34" charset="-122"/>
                <a:cs typeface="Mukta Bold" pitchFamily="34" charset="-120"/>
              </a:rPr>
              <a:t>protects the missions</a:t>
            </a:r>
            <a:r>
              <a:rPr lang="en-US" sz="1400" dirty="0">
                <a:solidFill>
                  <a:srgbClr val="DAD8E9"/>
                </a:solidFill>
                <a:latin typeface="Mukta Light" pitchFamily="34" charset="0"/>
                <a:ea typeface="Mukta Light" pitchFamily="34" charset="-122"/>
                <a:cs typeface="Mukta Light" pitchFamily="34" charset="-120"/>
              </a:rPr>
              <a:t> that will one day walk on it.</a:t>
            </a:r>
            <a:endParaRPr lang="en-US" sz="1400" dirty="0"/>
          </a:p>
        </p:txBody>
      </p:sp>
      <p:sp>
        <p:nvSpPr>
          <p:cNvPr id="27" name="Rectangle 26">
            <a:extLst>
              <a:ext uri="{FF2B5EF4-FFF2-40B4-BE49-F238E27FC236}">
                <a16:creationId xmlns:a16="http://schemas.microsoft.com/office/drawing/2014/main" id="{ECFEDE99-15D1-2392-8B64-299333F303EF}"/>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IN" sz="1600" dirty="0">
              <a:solidFill>
                <a:schemeClr val="tx1">
                  <a:lumMod val="95000"/>
                  <a:lumOff val="5000"/>
                </a:schemeClr>
              </a:solidFill>
              <a:latin typeface="Bahnschrift SemiBold Condensed" panose="020B0502040204020203" pitchFamily="34" charset="0"/>
            </a:endParaRPr>
          </a:p>
        </p:txBody>
      </p:sp>
      <p:pic>
        <p:nvPicPr>
          <p:cNvPr id="31" name="Picture 30">
            <a:extLst>
              <a:ext uri="{FF2B5EF4-FFF2-40B4-BE49-F238E27FC236}">
                <a16:creationId xmlns:a16="http://schemas.microsoft.com/office/drawing/2014/main" id="{2558704D-59E4-EAF0-F2E4-63601E9156F5}"/>
              </a:ext>
            </a:extLst>
          </p:cNvPr>
          <p:cNvPicPr>
            <a:picLocks noChangeAspect="1"/>
          </p:cNvPicPr>
          <p:nvPr/>
        </p:nvPicPr>
        <p:blipFill>
          <a:blip r:embed="rId7"/>
          <a:stretch>
            <a:fillRect/>
          </a:stretch>
        </p:blipFill>
        <p:spPr>
          <a:xfrm>
            <a:off x="75789" y="4632828"/>
            <a:ext cx="441052" cy="441052"/>
          </a:xfrm>
          <a:prstGeom prst="rect">
            <a:avLst/>
          </a:prstGeom>
        </p:spPr>
      </p:pic>
      <p:sp>
        <p:nvSpPr>
          <p:cNvPr id="28" name="Action Button: Go Back or Previous 27">
            <a:hlinkClick r:id="" action="ppaction://hlinkshowjump?jump=previousslide" highlightClick="1"/>
            <a:extLst>
              <a:ext uri="{FF2B5EF4-FFF2-40B4-BE49-F238E27FC236}">
                <a16:creationId xmlns:a16="http://schemas.microsoft.com/office/drawing/2014/main" id="{C59260AA-66F5-BB8E-6643-24B2DAE4E094}"/>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Action Button: Go Forward or Next 28">
            <a:hlinkClick r:id="" action="ppaction://hlinkshowjump?jump=nextslide" highlightClick="1"/>
            <a:extLst>
              <a:ext uri="{FF2B5EF4-FFF2-40B4-BE49-F238E27FC236}">
                <a16:creationId xmlns:a16="http://schemas.microsoft.com/office/drawing/2014/main" id="{2CCC211A-D399-3997-213B-8E587A02DD57}"/>
              </a:ext>
            </a:extLst>
          </p:cNvPr>
          <p:cNvSpPr/>
          <p:nvPr/>
        </p:nvSpPr>
        <p:spPr>
          <a:xfrm>
            <a:off x="8617838" y="4892751"/>
            <a:ext cx="365759" cy="139254"/>
          </a:xfrm>
          <a:prstGeom prst="actionButtonForwardNex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A2862EF3-F054-9312-AED3-E60284D70C36}"/>
              </a:ext>
            </a:extLst>
          </p:cNvPr>
          <p:cNvPicPr>
            <a:picLocks noChangeAspect="1"/>
          </p:cNvPicPr>
          <p:nvPr/>
        </p:nvPicPr>
        <p:blipFill>
          <a:blip r:embed="rId8"/>
          <a:stretch>
            <a:fillRect/>
          </a:stretch>
        </p:blipFill>
        <p:spPr>
          <a:xfrm>
            <a:off x="180500" y="719837"/>
            <a:ext cx="3534637" cy="353463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05E511C-28C2-1A1F-53B2-FF384B184B4E}"/>
              </a:ext>
            </a:extLst>
          </p:cNvPr>
          <p:cNvSpPr/>
          <p:nvPr/>
        </p:nvSpPr>
        <p:spPr>
          <a:xfrm>
            <a:off x="7990449" y="4853354"/>
            <a:ext cx="1077762" cy="21804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IN" sz="1600" dirty="0">
                <a:solidFill>
                  <a:schemeClr val="tx1">
                    <a:lumMod val="95000"/>
                    <a:lumOff val="5000"/>
                  </a:schemeClr>
                </a:solidFill>
                <a:latin typeface="Bahnschrift SemiBold Condensed" panose="020B0502040204020203" pitchFamily="34" charset="0"/>
              </a:rPr>
              <a:t>PREV</a:t>
            </a:r>
          </a:p>
        </p:txBody>
      </p:sp>
      <p:sp>
        <p:nvSpPr>
          <p:cNvPr id="5" name="Action Button: Go Back or Previous 4">
            <a:hlinkClick r:id="" action="ppaction://hlinkshowjump?jump=previousslide" highlightClick="1"/>
            <a:extLst>
              <a:ext uri="{FF2B5EF4-FFF2-40B4-BE49-F238E27FC236}">
                <a16:creationId xmlns:a16="http://schemas.microsoft.com/office/drawing/2014/main" id="{92E82C7D-86FE-02E5-3478-0A9A53DB09B7}"/>
              </a:ext>
            </a:extLst>
          </p:cNvPr>
          <p:cNvSpPr/>
          <p:nvPr/>
        </p:nvSpPr>
        <p:spPr>
          <a:xfrm>
            <a:off x="8081010" y="4892751"/>
            <a:ext cx="388620" cy="139254"/>
          </a:xfrm>
          <a:prstGeom prst="actionButtonBackPrevio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295ED25B-B7ED-CAA9-A0B1-361C66CB72C2}"/>
              </a:ext>
            </a:extLst>
          </p:cNvPr>
          <p:cNvSpPr txBox="1"/>
          <p:nvPr/>
        </p:nvSpPr>
        <p:spPr>
          <a:xfrm>
            <a:off x="573313" y="2004775"/>
            <a:ext cx="7834497" cy="981038"/>
          </a:xfrm>
          <a:prstGeom prst="rect">
            <a:avLst/>
          </a:prstGeom>
          <a:noFill/>
        </p:spPr>
        <p:txBody>
          <a:bodyPr wrap="square">
            <a:spAutoFit/>
          </a:bodyPr>
          <a:lstStyle/>
          <a:p>
            <a:pPr>
              <a:lnSpc>
                <a:spcPct val="150000"/>
              </a:lnSpc>
              <a:buNone/>
            </a:pPr>
            <a:r>
              <a:rPr lang="en-IN" sz="2200" b="1" dirty="0">
                <a:solidFill>
                  <a:schemeClr val="bg1"/>
                </a:solidFill>
                <a:latin typeface="Monotype Corsiva" panose="03010101010201010101" pitchFamily="66" charset="0"/>
              </a:rPr>
              <a:t>"Together, let's make the next giant leap in space exploration safer with AI."</a:t>
            </a:r>
          </a:p>
          <a:p>
            <a:pPr>
              <a:lnSpc>
                <a:spcPct val="150000"/>
              </a:lnSpc>
              <a:buNone/>
            </a:pPr>
            <a:endParaRPr lang="en-IN" b="1" dirty="0">
              <a:solidFill>
                <a:schemeClr val="bg1"/>
              </a:solidFill>
              <a:latin typeface="Monotype Corsiva" panose="03010101010201010101" pitchFamily="66" charset="0"/>
            </a:endParaRPr>
          </a:p>
        </p:txBody>
      </p:sp>
      <p:sp>
        <p:nvSpPr>
          <p:cNvPr id="8" name="TextBox 7">
            <a:extLst>
              <a:ext uri="{FF2B5EF4-FFF2-40B4-BE49-F238E27FC236}">
                <a16:creationId xmlns:a16="http://schemas.microsoft.com/office/drawing/2014/main" id="{822713DE-FBB4-FF0E-3D65-FF97BEE4A2F8}"/>
              </a:ext>
            </a:extLst>
          </p:cNvPr>
          <p:cNvSpPr txBox="1"/>
          <p:nvPr/>
        </p:nvSpPr>
        <p:spPr>
          <a:xfrm>
            <a:off x="1599019" y="1033861"/>
            <a:ext cx="5945959" cy="1200329"/>
          </a:xfrm>
          <a:prstGeom prst="rect">
            <a:avLst/>
          </a:prstGeom>
          <a:noFill/>
        </p:spPr>
        <p:txBody>
          <a:bodyPr wrap="square" rtlCol="0">
            <a:spAutoFit/>
          </a:bodyPr>
          <a:lstStyle/>
          <a:p>
            <a:pPr>
              <a:buNone/>
            </a:pPr>
            <a:r>
              <a:rPr lang="en-IN" sz="7200" b="1" dirty="0">
                <a:ln>
                  <a:solidFill>
                    <a:schemeClr val="bg1"/>
                  </a:solidFill>
                </a:ln>
                <a:solidFill>
                  <a:srgbClr val="CC0066"/>
                </a:solidFill>
                <a:latin typeface="Algerian" panose="04020705040A02060702" pitchFamily="82" charset="0"/>
              </a:rPr>
              <a:t>Thank You!</a:t>
            </a:r>
          </a:p>
        </p:txBody>
      </p:sp>
      <p:sp>
        <p:nvSpPr>
          <p:cNvPr id="9" name="TextBox 8">
            <a:extLst>
              <a:ext uri="{FF2B5EF4-FFF2-40B4-BE49-F238E27FC236}">
                <a16:creationId xmlns:a16="http://schemas.microsoft.com/office/drawing/2014/main" id="{A76E85ED-E2E6-C03B-24CB-2B5AAF33C16E}"/>
              </a:ext>
            </a:extLst>
          </p:cNvPr>
          <p:cNvSpPr txBox="1"/>
          <p:nvPr/>
        </p:nvSpPr>
        <p:spPr>
          <a:xfrm>
            <a:off x="573313" y="3956727"/>
            <a:ext cx="5164636" cy="400110"/>
          </a:xfrm>
          <a:prstGeom prst="rect">
            <a:avLst/>
          </a:prstGeom>
          <a:noFill/>
          <a:ln>
            <a:noFill/>
          </a:ln>
        </p:spPr>
        <p:txBody>
          <a:bodyPr wrap="square" rtlCol="0">
            <a:spAutoFit/>
          </a:bodyPr>
          <a:lstStyle/>
          <a:p>
            <a:r>
              <a:rPr lang="en-US" sz="2000" dirty="0">
                <a:solidFill>
                  <a:schemeClr val="accent1">
                    <a:lumMod val="60000"/>
                    <a:lumOff val="40000"/>
                  </a:schemeClr>
                </a:solidFill>
                <a:latin typeface="Segoe Script" panose="030B0504020000000003" pitchFamily="66" charset="0"/>
              </a:rPr>
              <a:t>Any Questions?</a:t>
            </a:r>
            <a:endParaRPr lang="en-IN" sz="2000" dirty="0">
              <a:solidFill>
                <a:schemeClr val="accent1">
                  <a:lumMod val="60000"/>
                  <a:lumOff val="40000"/>
                </a:schemeClr>
              </a:solidFill>
              <a:latin typeface="Segoe Script" panose="030B0504020000000003" pitchFamily="66" charset="0"/>
            </a:endParaRPr>
          </a:p>
        </p:txBody>
      </p:sp>
    </p:spTree>
    <p:extLst>
      <p:ext uri="{BB962C8B-B14F-4D97-AF65-F5344CB8AC3E}">
        <p14:creationId xmlns:p14="http://schemas.microsoft.com/office/powerpoint/2010/main" val="403344357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1084</TotalTime>
  <Words>1396</Words>
  <Application>Microsoft Office PowerPoint</Application>
  <PresentationFormat>On-screen Show (16:9)</PresentationFormat>
  <Paragraphs>216</Paragraphs>
  <Slides>22</Slides>
  <Notes>18</Notes>
  <HiddenSlides>0</HiddenSlides>
  <MMClips>0</MMClips>
  <ScaleCrop>false</ScaleCrop>
  <HeadingPairs>
    <vt:vector size="6" baseType="variant">
      <vt:variant>
        <vt:lpstr>Fonts Used</vt:lpstr>
      </vt:variant>
      <vt:variant>
        <vt:i4>30</vt:i4>
      </vt:variant>
      <vt:variant>
        <vt:lpstr>Theme</vt:lpstr>
      </vt:variant>
      <vt:variant>
        <vt:i4>1</vt:i4>
      </vt:variant>
      <vt:variant>
        <vt:lpstr>Slide Titles</vt:lpstr>
      </vt:variant>
      <vt:variant>
        <vt:i4>22</vt:i4>
      </vt:variant>
    </vt:vector>
  </HeadingPairs>
  <TitlesOfParts>
    <vt:vector size="53" baseType="lpstr">
      <vt:lpstr>Prompt Medium</vt:lpstr>
      <vt:lpstr>Arial</vt:lpstr>
      <vt:lpstr>Broadway</vt:lpstr>
      <vt:lpstr>Franklin Gothic Demi</vt:lpstr>
      <vt:lpstr>Palatino Linotype</vt:lpstr>
      <vt:lpstr>Georgia</vt:lpstr>
      <vt:lpstr>Rockwell Extra Bold</vt:lpstr>
      <vt:lpstr>Algerian</vt:lpstr>
      <vt:lpstr>Mukta Light</vt:lpstr>
      <vt:lpstr>Sitka Subheading</vt:lpstr>
      <vt:lpstr>Showcard Gothic</vt:lpstr>
      <vt:lpstr>Segoe Script</vt:lpstr>
      <vt:lpstr>Cooper Black</vt:lpstr>
      <vt:lpstr>Forte</vt:lpstr>
      <vt:lpstr>Mukta Bold</vt:lpstr>
      <vt:lpstr>Calibri</vt:lpstr>
      <vt:lpstr>Bookman Old Style</vt:lpstr>
      <vt:lpstr>Consolas</vt:lpstr>
      <vt:lpstr>Monotype Corsiva</vt:lpstr>
      <vt:lpstr>Century</vt:lpstr>
      <vt:lpstr>Lucida Handwriting</vt:lpstr>
      <vt:lpstr>Bahnschrift SemiBold Condensed</vt:lpstr>
      <vt:lpstr>Bahnschrift SemiLight SemiConde</vt:lpstr>
      <vt:lpstr>Book Antiqua</vt:lpstr>
      <vt:lpstr>Eras Bold ITC</vt:lpstr>
      <vt:lpstr>Copperplate Gothic Bold</vt:lpstr>
      <vt:lpstr>PMingLiU-ExtB</vt:lpstr>
      <vt:lpstr>Wingdings</vt:lpstr>
      <vt:lpstr>Comic Sans MS</vt:lpstr>
      <vt:lpstr>MV Boli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RR Himanshu</dc:creator>
  <cp:lastModifiedBy>RR Himanshu</cp:lastModifiedBy>
  <cp:revision>16</cp:revision>
  <dcterms:created xsi:type="dcterms:W3CDTF">2026-07-12T11:09:51Z</dcterms:created>
  <dcterms:modified xsi:type="dcterms:W3CDTF">2026-07-19T10:18:01Z</dcterms:modified>
</cp:coreProperties>
</file>