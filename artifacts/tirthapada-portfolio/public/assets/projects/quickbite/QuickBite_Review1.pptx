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E2E0"/>
    <a:srgbClr val="E4F1F0"/>
    <a:srgbClr val="FCEBD8"/>
    <a:srgbClr val="FDEBD8"/>
    <a:srgbClr val="FFEEB9"/>
    <a:srgbClr val="BAEBFC"/>
    <a:srgbClr val="BAF1FC"/>
    <a:srgbClr val="D5FFDC"/>
    <a:srgbClr val="5DFF78"/>
    <a:srgbClr val="97EA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86" autoAdjust="0"/>
    <p:restoredTop sz="94610"/>
  </p:normalViewPr>
  <p:slideViewPr>
    <p:cSldViewPr snapToGrid="0" snapToObjects="1">
      <p:cViewPr>
        <p:scale>
          <a:sx n="66" d="100"/>
          <a:sy n="66" d="100"/>
        </p:scale>
        <p:origin x="38" y="4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3108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103120"/>
            <a:ext cx="5943600" cy="5943600"/>
          </a:xfrm>
          <a:prstGeom prst="ellipse">
            <a:avLst/>
          </a:prstGeom>
          <a:solidFill>
            <a:srgbClr val="E4F1F0"/>
          </a:solidFill>
          <a:ln/>
        </p:spPr>
      </p:sp>
      <p:sp>
        <p:nvSpPr>
          <p:cNvPr id="3" name="Shape 1"/>
          <p:cNvSpPr/>
          <p:nvPr/>
        </p:nvSpPr>
        <p:spPr>
          <a:xfrm>
            <a:off x="10607040" y="4206240"/>
            <a:ext cx="3291840" cy="3291840"/>
          </a:xfrm>
          <a:prstGeom prst="ellipse">
            <a:avLst/>
          </a:prstGeom>
          <a:solidFill>
            <a:srgbClr val="FDEBD8"/>
          </a:solidFill>
          <a:ln/>
        </p:spPr>
      </p:sp>
      <p:sp>
        <p:nvSpPr>
          <p:cNvPr id="4" name="Text 2"/>
          <p:cNvSpPr/>
          <p:nvPr/>
        </p:nvSpPr>
        <p:spPr>
          <a:xfrm>
            <a:off x="504825" y="36957"/>
            <a:ext cx="8456295" cy="1087755"/>
          </a:xfrm>
          <a:prstGeom prst="rect">
            <a:avLst/>
          </a:prstGeom>
          <a:noFill/>
          <a:ln/>
        </p:spPr>
        <p:txBody>
          <a:bodyPr wrap="square" rtlCol="0" anchor="ctr"/>
          <a:lstStyle/>
          <a:p>
            <a:pPr marL="0" indent="0">
              <a:buNone/>
            </a:pPr>
            <a:r>
              <a:rPr lang="en-US" sz="2600" b="1" kern="0" spc="200" dirty="0">
                <a:solidFill>
                  <a:srgbClr val="002060"/>
                </a:solidFill>
                <a:latin typeface="Arial Black" panose="020B0A04020102020204" pitchFamily="34" charset="0"/>
                <a:ea typeface="Calibri" pitchFamily="34" charset="-122"/>
                <a:cs typeface="Calibri" pitchFamily="34" charset="-120"/>
              </a:rPr>
              <a:t>GIET UNIVERSITY, GUNUPUR, ODISHA</a:t>
            </a:r>
            <a:endParaRPr lang="en-US" sz="2600" b="1" dirty="0">
              <a:solidFill>
                <a:srgbClr val="002060"/>
              </a:solidFill>
              <a:latin typeface="Arial Black" panose="020B0A04020102020204" pitchFamily="34" charset="0"/>
            </a:endParaRPr>
          </a:p>
        </p:txBody>
      </p:sp>
      <p:sp>
        <p:nvSpPr>
          <p:cNvPr id="5" name="Text 3"/>
          <p:cNvSpPr/>
          <p:nvPr/>
        </p:nvSpPr>
        <p:spPr>
          <a:xfrm>
            <a:off x="504825" y="768096"/>
            <a:ext cx="8846820" cy="365760"/>
          </a:xfrm>
          <a:prstGeom prst="rect">
            <a:avLst/>
          </a:prstGeom>
          <a:noFill/>
          <a:ln/>
        </p:spPr>
        <p:txBody>
          <a:bodyPr wrap="square" rtlCol="0" anchor="ctr"/>
          <a:lstStyle/>
          <a:p>
            <a:pPr marL="0" indent="0">
              <a:buNone/>
            </a:pPr>
            <a:r>
              <a:rPr lang="en-US" sz="1900" b="1" dirty="0">
                <a:solidFill>
                  <a:srgbClr val="002060"/>
                </a:solidFill>
                <a:latin typeface="Arial Black" panose="020B0A04020102020204" pitchFamily="34" charset="0"/>
                <a:ea typeface="Calibri" pitchFamily="34" charset="-122"/>
                <a:cs typeface="Calibri" pitchFamily="34" charset="-120"/>
              </a:rPr>
              <a:t>Department of Computer Science and Engineering</a:t>
            </a:r>
            <a:endParaRPr lang="en-US" sz="1900" b="1" dirty="0">
              <a:solidFill>
                <a:srgbClr val="002060"/>
              </a:solidFill>
              <a:latin typeface="Arial Black" panose="020B0A04020102020204" pitchFamily="34" charset="0"/>
            </a:endParaRPr>
          </a:p>
        </p:txBody>
      </p:sp>
      <p:sp>
        <p:nvSpPr>
          <p:cNvPr id="7" name="Text 5"/>
          <p:cNvSpPr/>
          <p:nvPr/>
        </p:nvSpPr>
        <p:spPr>
          <a:xfrm>
            <a:off x="10744200" y="502920"/>
            <a:ext cx="82296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GIET</a:t>
            </a:r>
            <a:endParaRPr lang="en-US" sz="1100" dirty="0"/>
          </a:p>
        </p:txBody>
      </p:sp>
      <p:sp>
        <p:nvSpPr>
          <p:cNvPr id="8" name="Text 6"/>
          <p:cNvSpPr/>
          <p:nvPr/>
        </p:nvSpPr>
        <p:spPr>
          <a:xfrm>
            <a:off x="749808" y="1976628"/>
            <a:ext cx="8686800" cy="1005840"/>
          </a:xfrm>
          <a:prstGeom prst="rect">
            <a:avLst/>
          </a:prstGeom>
          <a:noFill/>
          <a:ln/>
        </p:spPr>
        <p:txBody>
          <a:bodyPr wrap="square" rtlCol="0" anchor="ctr"/>
          <a:lstStyle/>
          <a:p>
            <a:pPr marL="0" indent="0">
              <a:buNone/>
            </a:pPr>
            <a:r>
              <a:rPr lang="en-US" sz="5400" b="1" dirty="0">
                <a:solidFill>
                  <a:srgbClr val="023E40"/>
                </a:solidFill>
                <a:latin typeface="Cambria" pitchFamily="34" charset="0"/>
                <a:ea typeface="Cambria" pitchFamily="34" charset="-122"/>
                <a:cs typeface="Cambria" pitchFamily="34" charset="-120"/>
              </a:rPr>
              <a:t>QuickBite</a:t>
            </a:r>
            <a:endParaRPr lang="en-US" sz="5400" dirty="0"/>
          </a:p>
        </p:txBody>
      </p:sp>
      <p:sp>
        <p:nvSpPr>
          <p:cNvPr id="9" name="Text 7"/>
          <p:cNvSpPr/>
          <p:nvPr/>
        </p:nvSpPr>
        <p:spPr>
          <a:xfrm>
            <a:off x="749808" y="2812351"/>
            <a:ext cx="8686800" cy="548640"/>
          </a:xfrm>
          <a:prstGeom prst="rect">
            <a:avLst/>
          </a:prstGeom>
          <a:noFill/>
          <a:ln/>
        </p:spPr>
        <p:txBody>
          <a:bodyPr wrap="square" rtlCol="0" anchor="ctr"/>
          <a:lstStyle/>
          <a:p>
            <a:pPr marL="0" indent="0">
              <a:buNone/>
            </a:pPr>
            <a:r>
              <a:rPr lang="en-US" sz="2200" b="1" dirty="0">
                <a:solidFill>
                  <a:srgbClr val="F77F00"/>
                </a:solidFill>
                <a:latin typeface="Calibri" pitchFamily="34" charset="0"/>
                <a:ea typeface="Calibri" pitchFamily="34" charset="-122"/>
                <a:cs typeface="Calibri" pitchFamily="34" charset="-120"/>
              </a:rPr>
              <a:t>Smart Food Ordering Platform</a:t>
            </a:r>
            <a:endParaRPr lang="en-US" sz="2200" dirty="0"/>
          </a:p>
        </p:txBody>
      </p:sp>
      <p:sp>
        <p:nvSpPr>
          <p:cNvPr id="10" name="Shape 8"/>
          <p:cNvSpPr/>
          <p:nvPr/>
        </p:nvSpPr>
        <p:spPr>
          <a:xfrm>
            <a:off x="864108" y="3448621"/>
            <a:ext cx="2377440" cy="41148"/>
          </a:xfrm>
          <a:prstGeom prst="rect">
            <a:avLst/>
          </a:prstGeom>
          <a:solidFill>
            <a:srgbClr val="D8DEDD"/>
          </a:solidFill>
          <a:ln/>
        </p:spPr>
      </p:sp>
      <p:sp>
        <p:nvSpPr>
          <p:cNvPr id="11" name="Text 9"/>
          <p:cNvSpPr/>
          <p:nvPr/>
        </p:nvSpPr>
        <p:spPr>
          <a:xfrm>
            <a:off x="655320" y="6217920"/>
            <a:ext cx="7315200" cy="365760"/>
          </a:xfrm>
          <a:prstGeom prst="rect">
            <a:avLst/>
          </a:prstGeom>
          <a:noFill/>
          <a:ln/>
        </p:spPr>
        <p:txBody>
          <a:bodyPr wrap="square" rtlCol="0" anchor="ctr"/>
          <a:lstStyle/>
          <a:p>
            <a:pPr marL="0" indent="0">
              <a:buNone/>
            </a:pPr>
            <a:r>
              <a:rPr lang="en-US" sz="1500" i="1" dirty="0">
                <a:solidFill>
                  <a:srgbClr val="5B6B69"/>
                </a:solidFill>
                <a:latin typeface="Calibri" pitchFamily="34" charset="0"/>
                <a:ea typeface="Calibri" pitchFamily="34" charset="-122"/>
                <a:cs typeface="Calibri" pitchFamily="34" charset="-120"/>
              </a:rPr>
              <a:t>Learning Project Presentation – Review 1</a:t>
            </a:r>
            <a:endParaRPr lang="en-US" sz="1500" dirty="0"/>
          </a:p>
        </p:txBody>
      </p:sp>
      <p:sp>
        <p:nvSpPr>
          <p:cNvPr id="12" name="Shape 10"/>
          <p:cNvSpPr/>
          <p:nvPr/>
        </p:nvSpPr>
        <p:spPr>
          <a:xfrm>
            <a:off x="749808" y="4568190"/>
            <a:ext cx="5536692" cy="1417320"/>
          </a:xfrm>
          <a:prstGeom prst="roundRect">
            <a:avLst>
              <a:gd name="adj" fmla="val 5161"/>
            </a:avLst>
          </a:prstGeom>
          <a:solidFill>
            <a:srgbClr val="F4F8F7"/>
          </a:solidFill>
          <a:ln w="12700">
            <a:solidFill>
              <a:srgbClr val="DCE7E5"/>
            </a:solidFill>
            <a:prstDash val="solid"/>
          </a:ln>
        </p:spPr>
        <p:txBody>
          <a:bodyPr/>
          <a:lstStyle/>
          <a:p>
            <a:endParaRPr lang="en-IN" dirty="0"/>
          </a:p>
        </p:txBody>
      </p:sp>
      <p:sp>
        <p:nvSpPr>
          <p:cNvPr id="13" name="Text 11"/>
          <p:cNvSpPr/>
          <p:nvPr/>
        </p:nvSpPr>
        <p:spPr>
          <a:xfrm>
            <a:off x="960120" y="4645152"/>
            <a:ext cx="4572000" cy="274320"/>
          </a:xfrm>
          <a:prstGeom prst="rect">
            <a:avLst/>
          </a:prstGeom>
          <a:noFill/>
          <a:ln/>
        </p:spPr>
        <p:txBody>
          <a:bodyPr wrap="square" rtlCol="0" anchor="ctr"/>
          <a:lstStyle/>
          <a:p>
            <a:pPr marL="0" indent="0">
              <a:buNone/>
            </a:pPr>
            <a:r>
              <a:rPr lang="en-US" sz="1600" b="1" kern="0" spc="100" dirty="0">
                <a:solidFill>
                  <a:srgbClr val="028090"/>
                </a:solidFill>
                <a:latin typeface="Calibri" pitchFamily="34" charset="0"/>
                <a:ea typeface="Calibri" pitchFamily="34" charset="-122"/>
                <a:cs typeface="Calibri" pitchFamily="34" charset="-120"/>
              </a:rPr>
              <a:t>PRESENTED</a:t>
            </a:r>
            <a:r>
              <a:rPr lang="en-US" sz="1100" b="1" kern="0" spc="100" dirty="0">
                <a:solidFill>
                  <a:srgbClr val="028090"/>
                </a:solidFill>
                <a:latin typeface="Calibri" pitchFamily="34" charset="0"/>
                <a:ea typeface="Calibri" pitchFamily="34" charset="-122"/>
                <a:cs typeface="Calibri" pitchFamily="34" charset="-120"/>
              </a:rPr>
              <a:t> </a:t>
            </a:r>
            <a:r>
              <a:rPr lang="en-US" sz="1600" b="1" kern="0" spc="100" dirty="0">
                <a:solidFill>
                  <a:srgbClr val="028090"/>
                </a:solidFill>
                <a:latin typeface="Calibri" pitchFamily="34" charset="0"/>
                <a:ea typeface="Calibri" pitchFamily="34" charset="-122"/>
                <a:cs typeface="Calibri" pitchFamily="34" charset="-120"/>
              </a:rPr>
              <a:t>BY</a:t>
            </a:r>
            <a:endParaRPr lang="en-US" sz="1600" dirty="0"/>
          </a:p>
        </p:txBody>
      </p:sp>
      <p:sp>
        <p:nvSpPr>
          <p:cNvPr id="14" name="Text 12"/>
          <p:cNvSpPr/>
          <p:nvPr/>
        </p:nvSpPr>
        <p:spPr>
          <a:xfrm>
            <a:off x="960120" y="4937760"/>
            <a:ext cx="1737360" cy="914400"/>
          </a:xfrm>
          <a:prstGeom prst="rect">
            <a:avLst/>
          </a:prstGeom>
          <a:noFill/>
          <a:ln/>
        </p:spPr>
        <p:txBody>
          <a:bodyPr wrap="square" rtlCol="0" anchor="t"/>
          <a:lstStyle/>
          <a:p>
            <a:pPr marL="0" indent="0">
              <a:buNone/>
            </a:pPr>
            <a:r>
              <a:rPr lang="en-US" sz="1600" b="1" dirty="0">
                <a:solidFill>
                  <a:srgbClr val="22302F"/>
                </a:solidFill>
                <a:latin typeface="Calibri" pitchFamily="34" charset="0"/>
                <a:ea typeface="Calibri" pitchFamily="34" charset="-122"/>
                <a:cs typeface="Calibri" pitchFamily="34" charset="-120"/>
              </a:rPr>
              <a:t>Tirthapada Panda</a:t>
            </a:r>
            <a:endParaRPr lang="en-US" sz="1600" dirty="0"/>
          </a:p>
          <a:p>
            <a:pPr marL="0" indent="0">
              <a:buNone/>
            </a:pPr>
            <a:r>
              <a:rPr lang="en-US" sz="1600" dirty="0">
                <a:solidFill>
                  <a:srgbClr val="5B6B69"/>
                </a:solidFill>
                <a:latin typeface="Calibri" pitchFamily="34" charset="0"/>
                <a:ea typeface="Calibri" pitchFamily="34" charset="-122"/>
                <a:cs typeface="Calibri" pitchFamily="34" charset="-120"/>
              </a:rPr>
              <a:t>25UG010106</a:t>
            </a:r>
            <a:endParaRPr lang="en-US" sz="1600" dirty="0"/>
          </a:p>
        </p:txBody>
      </p:sp>
      <p:sp>
        <p:nvSpPr>
          <p:cNvPr id="15" name="Text 13"/>
          <p:cNvSpPr/>
          <p:nvPr/>
        </p:nvSpPr>
        <p:spPr>
          <a:xfrm>
            <a:off x="2743199" y="4937760"/>
            <a:ext cx="2124075" cy="914400"/>
          </a:xfrm>
          <a:prstGeom prst="rect">
            <a:avLst/>
          </a:prstGeom>
          <a:noFill/>
          <a:ln/>
        </p:spPr>
        <p:txBody>
          <a:bodyPr wrap="square" rtlCol="0" anchor="t"/>
          <a:lstStyle/>
          <a:p>
            <a:pPr marL="0" indent="0">
              <a:buNone/>
            </a:pPr>
            <a:r>
              <a:rPr lang="en-US" sz="1600" b="1" dirty="0">
                <a:solidFill>
                  <a:srgbClr val="22302F"/>
                </a:solidFill>
                <a:latin typeface="Calibri" pitchFamily="34" charset="0"/>
                <a:ea typeface="Calibri" pitchFamily="34" charset="-122"/>
                <a:cs typeface="Calibri" pitchFamily="34" charset="-120"/>
              </a:rPr>
              <a:t>Swagatam Pradhan</a:t>
            </a:r>
            <a:endParaRPr lang="en-US" sz="1600" dirty="0"/>
          </a:p>
          <a:p>
            <a:pPr marL="0" indent="0">
              <a:buNone/>
            </a:pPr>
            <a:r>
              <a:rPr lang="en-US" sz="1600" dirty="0">
                <a:solidFill>
                  <a:srgbClr val="5B6B69"/>
                </a:solidFill>
                <a:latin typeface="Calibri" pitchFamily="34" charset="0"/>
                <a:ea typeface="Calibri" pitchFamily="34" charset="-122"/>
                <a:cs typeface="Calibri" pitchFamily="34" charset="-120"/>
              </a:rPr>
              <a:t>25UG010111</a:t>
            </a:r>
            <a:endParaRPr lang="en-US" sz="1600" dirty="0"/>
          </a:p>
        </p:txBody>
      </p:sp>
      <p:sp>
        <p:nvSpPr>
          <p:cNvPr id="16" name="Text 14"/>
          <p:cNvSpPr/>
          <p:nvPr/>
        </p:nvSpPr>
        <p:spPr>
          <a:xfrm>
            <a:off x="4686300" y="4968240"/>
            <a:ext cx="1737360" cy="914400"/>
          </a:xfrm>
          <a:prstGeom prst="rect">
            <a:avLst/>
          </a:prstGeom>
          <a:noFill/>
          <a:ln/>
        </p:spPr>
        <p:txBody>
          <a:bodyPr wrap="square" rtlCol="0" anchor="t"/>
          <a:lstStyle/>
          <a:p>
            <a:pPr marL="0" indent="0">
              <a:buNone/>
            </a:pPr>
            <a:r>
              <a:rPr lang="en-US" sz="1600" b="1" dirty="0">
                <a:solidFill>
                  <a:srgbClr val="22302F"/>
                </a:solidFill>
                <a:latin typeface="Calibri" pitchFamily="34" charset="0"/>
                <a:ea typeface="Calibri" pitchFamily="34" charset="-122"/>
                <a:cs typeface="Calibri" pitchFamily="34" charset="-120"/>
              </a:rPr>
              <a:t>Bibek Dash</a:t>
            </a:r>
            <a:endParaRPr lang="en-US" sz="1600" dirty="0"/>
          </a:p>
          <a:p>
            <a:pPr marL="0" indent="0">
              <a:buNone/>
            </a:pPr>
            <a:r>
              <a:rPr lang="en-US" sz="1600" dirty="0">
                <a:solidFill>
                  <a:srgbClr val="5B6B69"/>
                </a:solidFill>
                <a:latin typeface="Calibri" pitchFamily="34" charset="0"/>
                <a:ea typeface="Calibri" pitchFamily="34" charset="-122"/>
                <a:cs typeface="Calibri" pitchFamily="34" charset="-120"/>
              </a:rPr>
              <a:t>25UG010114</a:t>
            </a:r>
            <a:endParaRPr lang="en-US" sz="1600" dirty="0"/>
          </a:p>
        </p:txBody>
      </p:sp>
      <p:sp>
        <p:nvSpPr>
          <p:cNvPr id="17" name="Shape 15"/>
          <p:cNvSpPr/>
          <p:nvPr/>
        </p:nvSpPr>
        <p:spPr>
          <a:xfrm>
            <a:off x="6551295" y="4564380"/>
            <a:ext cx="3383280" cy="1417320"/>
          </a:xfrm>
          <a:prstGeom prst="roundRect">
            <a:avLst>
              <a:gd name="adj" fmla="val 5161"/>
            </a:avLst>
          </a:prstGeom>
          <a:solidFill>
            <a:srgbClr val="FDEBD8"/>
          </a:solidFill>
          <a:ln w="12700">
            <a:solidFill>
              <a:srgbClr val="F3D5B0"/>
            </a:solidFill>
            <a:prstDash val="solid"/>
          </a:ln>
        </p:spPr>
      </p:sp>
      <p:sp>
        <p:nvSpPr>
          <p:cNvPr id="18" name="Text 16"/>
          <p:cNvSpPr/>
          <p:nvPr/>
        </p:nvSpPr>
        <p:spPr>
          <a:xfrm>
            <a:off x="6779895" y="4683252"/>
            <a:ext cx="2926080" cy="274320"/>
          </a:xfrm>
          <a:prstGeom prst="rect">
            <a:avLst/>
          </a:prstGeom>
          <a:noFill/>
          <a:ln/>
        </p:spPr>
        <p:txBody>
          <a:bodyPr wrap="square" rtlCol="0" anchor="ctr"/>
          <a:lstStyle/>
          <a:p>
            <a:pPr marL="0" indent="0">
              <a:buNone/>
            </a:pPr>
            <a:r>
              <a:rPr lang="en-US" sz="1600" b="1" kern="0" spc="100" dirty="0">
                <a:solidFill>
                  <a:srgbClr val="F77F00"/>
                </a:solidFill>
                <a:latin typeface="Calibri" pitchFamily="34" charset="0"/>
                <a:ea typeface="Calibri" pitchFamily="34" charset="-122"/>
                <a:cs typeface="Calibri" pitchFamily="34" charset="-120"/>
              </a:rPr>
              <a:t>UNDER THE GUIDANCE OF</a:t>
            </a:r>
            <a:endParaRPr lang="en-US" sz="1600" dirty="0"/>
          </a:p>
        </p:txBody>
      </p:sp>
      <p:sp>
        <p:nvSpPr>
          <p:cNvPr id="19" name="Text 17"/>
          <p:cNvSpPr/>
          <p:nvPr/>
        </p:nvSpPr>
        <p:spPr>
          <a:xfrm>
            <a:off x="6779895" y="5021580"/>
            <a:ext cx="2926080" cy="36576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Ms. Sandhyarani Biswal</a:t>
            </a:r>
            <a:endParaRPr lang="en-US" sz="1600" dirty="0"/>
          </a:p>
        </p:txBody>
      </p:sp>
      <p:sp>
        <p:nvSpPr>
          <p:cNvPr id="20" name="Text 18"/>
          <p:cNvSpPr/>
          <p:nvPr/>
        </p:nvSpPr>
        <p:spPr>
          <a:xfrm>
            <a:off x="6779895" y="5387340"/>
            <a:ext cx="2926080" cy="320040"/>
          </a:xfrm>
          <a:prstGeom prst="rect">
            <a:avLst/>
          </a:prstGeom>
          <a:noFill/>
          <a:ln/>
        </p:spPr>
        <p:txBody>
          <a:bodyPr wrap="square" rtlCol="0" anchor="ctr"/>
          <a:lstStyle/>
          <a:p>
            <a:pPr marL="0" indent="0">
              <a:buNone/>
            </a:pPr>
            <a:r>
              <a:rPr lang="en-US" sz="1400" dirty="0">
                <a:solidFill>
                  <a:srgbClr val="5B6B69"/>
                </a:solidFill>
                <a:latin typeface="Calibri" pitchFamily="34" charset="0"/>
                <a:ea typeface="Calibri" pitchFamily="34" charset="-122"/>
                <a:cs typeface="Calibri" pitchFamily="34" charset="-120"/>
              </a:rPr>
              <a:t>Assistant Professor, CSE</a:t>
            </a:r>
            <a:endParaRPr lang="en-US" sz="1400" dirty="0"/>
          </a:p>
        </p:txBody>
      </p:sp>
      <p:pic>
        <p:nvPicPr>
          <p:cNvPr id="22" name="Picture 21">
            <a:extLst>
              <a:ext uri="{FF2B5EF4-FFF2-40B4-BE49-F238E27FC236}">
                <a16:creationId xmlns:a16="http://schemas.microsoft.com/office/drawing/2014/main" id="{A374BC95-10F6-94B6-EEAC-54FECE6ED72D}"/>
              </a:ext>
            </a:extLst>
          </p:cNvPr>
          <p:cNvPicPr/>
          <p:nvPr/>
        </p:nvPicPr>
        <p:blipFill>
          <a:blip r:embed="rId3" cstate="print"/>
          <a:srcRect/>
          <a:stretch>
            <a:fillRect/>
          </a:stretch>
        </p:blipFill>
        <p:spPr bwMode="auto">
          <a:xfrm>
            <a:off x="9745528" y="261415"/>
            <a:ext cx="1853658" cy="1637440"/>
          </a:xfrm>
          <a:prstGeom prst="rect">
            <a:avLst/>
          </a:prstGeom>
          <a:ln>
            <a:noFill/>
          </a:ln>
          <a:effectLst>
            <a:innerShdw blurRad="114300">
              <a:prstClr val="black"/>
            </a:innerShdw>
            <a:softEdge rad="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lgn="l">
              <a:buNone/>
            </a:pPr>
            <a:r>
              <a:rPr lang="en-US" sz="3000" b="1" dirty="0">
                <a:solidFill>
                  <a:srgbClr val="023E40"/>
                </a:solidFill>
                <a:latin typeface="Cambria" pitchFamily="34" charset="0"/>
                <a:ea typeface="Cambria" pitchFamily="34" charset="-122"/>
                <a:cs typeface="Cambria" pitchFamily="34" charset="-120"/>
              </a:rPr>
              <a:t>Outlines</a:t>
            </a:r>
            <a:endParaRPr lang="en-US" sz="3000" dirty="0"/>
          </a:p>
        </p:txBody>
      </p:sp>
      <p:sp>
        <p:nvSpPr>
          <p:cNvPr id="3" name="Shape 1"/>
          <p:cNvSpPr/>
          <p:nvPr/>
        </p:nvSpPr>
        <p:spPr>
          <a:xfrm>
            <a:off x="548640" y="1142994"/>
            <a:ext cx="5349240" cy="896112"/>
          </a:xfrm>
          <a:prstGeom prst="roundRect">
            <a:avLst>
              <a:gd name="adj" fmla="val 7143"/>
            </a:avLst>
          </a:prstGeom>
          <a:solidFill>
            <a:srgbClr val="F4F8F7"/>
          </a:solidFill>
          <a:ln w="12700">
            <a:solidFill>
              <a:srgbClr val="DCE7E5"/>
            </a:solidFill>
            <a:prstDash val="solid"/>
          </a:ln>
        </p:spPr>
      </p:sp>
      <p:sp>
        <p:nvSpPr>
          <p:cNvPr id="4" name="Shape 2"/>
          <p:cNvSpPr/>
          <p:nvPr/>
        </p:nvSpPr>
        <p:spPr>
          <a:xfrm>
            <a:off x="749808" y="1426458"/>
            <a:ext cx="365760" cy="365760"/>
          </a:xfrm>
          <a:prstGeom prst="ellipse">
            <a:avLst/>
          </a:prstGeom>
          <a:solidFill>
            <a:srgbClr val="028090"/>
          </a:solidFill>
          <a:ln/>
        </p:spPr>
      </p:sp>
      <p:sp>
        <p:nvSpPr>
          <p:cNvPr id="5" name="Text 3"/>
          <p:cNvSpPr/>
          <p:nvPr/>
        </p:nvSpPr>
        <p:spPr>
          <a:xfrm>
            <a:off x="749808" y="1426458"/>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98448" y="1271010"/>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Introduction</a:t>
            </a:r>
            <a:endParaRPr lang="en-US" dirty="0"/>
          </a:p>
        </p:txBody>
      </p:sp>
      <p:sp>
        <p:nvSpPr>
          <p:cNvPr id="7" name="Text 5"/>
          <p:cNvSpPr/>
          <p:nvPr/>
        </p:nvSpPr>
        <p:spPr>
          <a:xfrm>
            <a:off x="1298448" y="1600194"/>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Overview of the </a:t>
            </a:r>
            <a:r>
              <a:rPr lang="en-US" sz="1500" dirty="0" err="1">
                <a:solidFill>
                  <a:srgbClr val="5B6B69"/>
                </a:solidFill>
                <a:latin typeface="Calibri" pitchFamily="34" charset="0"/>
                <a:ea typeface="Calibri" pitchFamily="34" charset="-122"/>
                <a:cs typeface="Calibri" pitchFamily="34" charset="-120"/>
              </a:rPr>
              <a:t>QuickBite</a:t>
            </a:r>
            <a:r>
              <a:rPr lang="en-US" sz="1500" dirty="0">
                <a:solidFill>
                  <a:srgbClr val="5B6B69"/>
                </a:solidFill>
                <a:latin typeface="Calibri" pitchFamily="34" charset="0"/>
                <a:ea typeface="Calibri" pitchFamily="34" charset="-122"/>
                <a:cs typeface="Calibri" pitchFamily="34" charset="-120"/>
              </a:rPr>
              <a:t> platform and its purpose</a:t>
            </a:r>
            <a:endParaRPr lang="en-US" sz="1500" dirty="0"/>
          </a:p>
        </p:txBody>
      </p:sp>
      <p:sp>
        <p:nvSpPr>
          <p:cNvPr id="8" name="Shape 6"/>
          <p:cNvSpPr/>
          <p:nvPr/>
        </p:nvSpPr>
        <p:spPr>
          <a:xfrm>
            <a:off x="548640" y="2427257"/>
            <a:ext cx="5349240" cy="896112"/>
          </a:xfrm>
          <a:prstGeom prst="roundRect">
            <a:avLst>
              <a:gd name="adj" fmla="val 7143"/>
            </a:avLst>
          </a:prstGeom>
          <a:solidFill>
            <a:srgbClr val="F4F8F7"/>
          </a:solidFill>
          <a:ln w="12700">
            <a:solidFill>
              <a:srgbClr val="DCE7E5"/>
            </a:solidFill>
            <a:prstDash val="solid"/>
          </a:ln>
        </p:spPr>
      </p:sp>
      <p:sp>
        <p:nvSpPr>
          <p:cNvPr id="9" name="Shape 7"/>
          <p:cNvSpPr/>
          <p:nvPr/>
        </p:nvSpPr>
        <p:spPr>
          <a:xfrm>
            <a:off x="749808" y="2710721"/>
            <a:ext cx="365760" cy="365760"/>
          </a:xfrm>
          <a:prstGeom prst="ellipse">
            <a:avLst/>
          </a:prstGeom>
          <a:solidFill>
            <a:srgbClr val="F77F00"/>
          </a:solidFill>
          <a:ln/>
        </p:spPr>
      </p:sp>
      <p:sp>
        <p:nvSpPr>
          <p:cNvPr id="10" name="Text 8"/>
          <p:cNvSpPr/>
          <p:nvPr/>
        </p:nvSpPr>
        <p:spPr>
          <a:xfrm>
            <a:off x="749808" y="2710721"/>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298448" y="2555273"/>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Problem Definition &amp; Objectives</a:t>
            </a:r>
            <a:endParaRPr lang="en-US" dirty="0"/>
          </a:p>
        </p:txBody>
      </p:sp>
      <p:sp>
        <p:nvSpPr>
          <p:cNvPr id="12" name="Text 10"/>
          <p:cNvSpPr/>
          <p:nvPr/>
        </p:nvSpPr>
        <p:spPr>
          <a:xfrm>
            <a:off x="1298448" y="2884457"/>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The gap identified and goals set for the project</a:t>
            </a:r>
            <a:endParaRPr lang="en-US" sz="1500" dirty="0"/>
          </a:p>
        </p:txBody>
      </p:sp>
      <p:sp>
        <p:nvSpPr>
          <p:cNvPr id="13" name="Shape 11"/>
          <p:cNvSpPr/>
          <p:nvPr/>
        </p:nvSpPr>
        <p:spPr>
          <a:xfrm>
            <a:off x="548640" y="3692865"/>
            <a:ext cx="5349240" cy="896112"/>
          </a:xfrm>
          <a:prstGeom prst="roundRect">
            <a:avLst>
              <a:gd name="adj" fmla="val 7143"/>
            </a:avLst>
          </a:prstGeom>
          <a:solidFill>
            <a:srgbClr val="F4F8F7"/>
          </a:solidFill>
          <a:ln w="12700">
            <a:solidFill>
              <a:srgbClr val="DCE7E5"/>
            </a:solidFill>
            <a:prstDash val="solid"/>
          </a:ln>
        </p:spPr>
      </p:sp>
      <p:sp>
        <p:nvSpPr>
          <p:cNvPr id="14" name="Shape 12"/>
          <p:cNvSpPr/>
          <p:nvPr/>
        </p:nvSpPr>
        <p:spPr>
          <a:xfrm>
            <a:off x="749808" y="3976329"/>
            <a:ext cx="365760" cy="365760"/>
          </a:xfrm>
          <a:prstGeom prst="ellipse">
            <a:avLst/>
          </a:prstGeom>
          <a:solidFill>
            <a:srgbClr val="028090"/>
          </a:solidFill>
          <a:ln/>
        </p:spPr>
      </p:sp>
      <p:sp>
        <p:nvSpPr>
          <p:cNvPr id="15" name="Text 13"/>
          <p:cNvSpPr/>
          <p:nvPr/>
        </p:nvSpPr>
        <p:spPr>
          <a:xfrm>
            <a:off x="749808" y="3976329"/>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298448" y="3820881"/>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Requirement Analysis &amp; Scope</a:t>
            </a:r>
            <a:endParaRPr lang="en-US" dirty="0"/>
          </a:p>
        </p:txBody>
      </p:sp>
      <p:sp>
        <p:nvSpPr>
          <p:cNvPr id="17" name="Text 15"/>
          <p:cNvSpPr/>
          <p:nvPr/>
        </p:nvSpPr>
        <p:spPr>
          <a:xfrm>
            <a:off x="1298448" y="4150065"/>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Functional &amp; non-functional requirements, and scope</a:t>
            </a:r>
            <a:endParaRPr lang="en-US" sz="1500" dirty="0"/>
          </a:p>
        </p:txBody>
      </p:sp>
      <p:sp>
        <p:nvSpPr>
          <p:cNvPr id="18" name="Shape 16"/>
          <p:cNvSpPr/>
          <p:nvPr/>
        </p:nvSpPr>
        <p:spPr>
          <a:xfrm>
            <a:off x="548640" y="4958476"/>
            <a:ext cx="5349240" cy="896112"/>
          </a:xfrm>
          <a:prstGeom prst="roundRect">
            <a:avLst>
              <a:gd name="adj" fmla="val 7143"/>
            </a:avLst>
          </a:prstGeom>
          <a:solidFill>
            <a:srgbClr val="F4F8F7"/>
          </a:solidFill>
          <a:ln w="12700">
            <a:solidFill>
              <a:srgbClr val="DCE7E5"/>
            </a:solidFill>
            <a:prstDash val="solid"/>
          </a:ln>
        </p:spPr>
      </p:sp>
      <p:sp>
        <p:nvSpPr>
          <p:cNvPr id="19" name="Shape 17"/>
          <p:cNvSpPr/>
          <p:nvPr/>
        </p:nvSpPr>
        <p:spPr>
          <a:xfrm>
            <a:off x="749808" y="5241940"/>
            <a:ext cx="365760" cy="365760"/>
          </a:xfrm>
          <a:prstGeom prst="ellipse">
            <a:avLst/>
          </a:prstGeom>
          <a:solidFill>
            <a:srgbClr val="F77F00"/>
          </a:solidFill>
          <a:ln/>
        </p:spPr>
      </p:sp>
      <p:sp>
        <p:nvSpPr>
          <p:cNvPr id="20" name="Text 18"/>
          <p:cNvSpPr/>
          <p:nvPr/>
        </p:nvSpPr>
        <p:spPr>
          <a:xfrm>
            <a:off x="749808" y="5241940"/>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298448" y="5086492"/>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Existing System Study</a:t>
            </a:r>
            <a:endParaRPr lang="en-US" dirty="0"/>
          </a:p>
        </p:txBody>
      </p:sp>
      <p:sp>
        <p:nvSpPr>
          <p:cNvPr id="22" name="Text 20"/>
          <p:cNvSpPr/>
          <p:nvPr/>
        </p:nvSpPr>
        <p:spPr>
          <a:xfrm>
            <a:off x="1298448" y="5415676"/>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Features seen in existing food ordering platforms</a:t>
            </a:r>
            <a:endParaRPr lang="en-US" sz="1500" dirty="0"/>
          </a:p>
        </p:txBody>
      </p:sp>
      <p:sp>
        <p:nvSpPr>
          <p:cNvPr id="23" name="Shape 21"/>
          <p:cNvSpPr/>
          <p:nvPr/>
        </p:nvSpPr>
        <p:spPr>
          <a:xfrm>
            <a:off x="6263640" y="1142992"/>
            <a:ext cx="5349240" cy="896112"/>
          </a:xfrm>
          <a:prstGeom prst="roundRect">
            <a:avLst>
              <a:gd name="adj" fmla="val 7143"/>
            </a:avLst>
          </a:prstGeom>
          <a:solidFill>
            <a:srgbClr val="F4F8F7"/>
          </a:solidFill>
          <a:ln w="12700">
            <a:solidFill>
              <a:srgbClr val="DCE7E5"/>
            </a:solidFill>
            <a:prstDash val="solid"/>
          </a:ln>
        </p:spPr>
      </p:sp>
      <p:sp>
        <p:nvSpPr>
          <p:cNvPr id="24" name="Shape 22"/>
          <p:cNvSpPr/>
          <p:nvPr/>
        </p:nvSpPr>
        <p:spPr>
          <a:xfrm>
            <a:off x="6464808" y="1426456"/>
            <a:ext cx="365760" cy="365760"/>
          </a:xfrm>
          <a:prstGeom prst="ellipse">
            <a:avLst/>
          </a:prstGeom>
          <a:solidFill>
            <a:srgbClr val="028090"/>
          </a:solidFill>
          <a:ln/>
        </p:spPr>
      </p:sp>
      <p:sp>
        <p:nvSpPr>
          <p:cNvPr id="25" name="Text 23"/>
          <p:cNvSpPr/>
          <p:nvPr/>
        </p:nvSpPr>
        <p:spPr>
          <a:xfrm>
            <a:off x="6464808" y="1426456"/>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p:nvPr/>
        </p:nvSpPr>
        <p:spPr>
          <a:xfrm>
            <a:off x="7013448" y="1271008"/>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Proposed Solution &amp; System Design</a:t>
            </a:r>
            <a:endParaRPr lang="en-US" dirty="0"/>
          </a:p>
        </p:txBody>
      </p:sp>
      <p:sp>
        <p:nvSpPr>
          <p:cNvPr id="27" name="Text 25"/>
          <p:cNvSpPr/>
          <p:nvPr/>
        </p:nvSpPr>
        <p:spPr>
          <a:xfrm>
            <a:off x="7013448" y="1600192"/>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Our approach, architecture and technology choices</a:t>
            </a:r>
            <a:endParaRPr lang="en-US" sz="1500" dirty="0"/>
          </a:p>
        </p:txBody>
      </p:sp>
      <p:sp>
        <p:nvSpPr>
          <p:cNvPr id="28" name="Shape 26"/>
          <p:cNvSpPr/>
          <p:nvPr/>
        </p:nvSpPr>
        <p:spPr>
          <a:xfrm>
            <a:off x="6263640" y="2408597"/>
            <a:ext cx="5349240" cy="896112"/>
          </a:xfrm>
          <a:prstGeom prst="roundRect">
            <a:avLst>
              <a:gd name="adj" fmla="val 7143"/>
            </a:avLst>
          </a:prstGeom>
          <a:solidFill>
            <a:srgbClr val="F4F8F7"/>
          </a:solidFill>
          <a:ln w="12700">
            <a:solidFill>
              <a:srgbClr val="DCE7E5"/>
            </a:solidFill>
            <a:prstDash val="solid"/>
          </a:ln>
        </p:spPr>
      </p:sp>
      <p:sp>
        <p:nvSpPr>
          <p:cNvPr id="29" name="Shape 27"/>
          <p:cNvSpPr/>
          <p:nvPr/>
        </p:nvSpPr>
        <p:spPr>
          <a:xfrm>
            <a:off x="6464808" y="2692061"/>
            <a:ext cx="365760" cy="365760"/>
          </a:xfrm>
          <a:prstGeom prst="ellipse">
            <a:avLst/>
          </a:prstGeom>
          <a:solidFill>
            <a:srgbClr val="F77F00"/>
          </a:solidFill>
          <a:ln/>
        </p:spPr>
      </p:sp>
      <p:sp>
        <p:nvSpPr>
          <p:cNvPr id="30" name="Text 28"/>
          <p:cNvSpPr/>
          <p:nvPr/>
        </p:nvSpPr>
        <p:spPr>
          <a:xfrm>
            <a:off x="6464808" y="2692061"/>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Text 29"/>
          <p:cNvSpPr/>
          <p:nvPr/>
        </p:nvSpPr>
        <p:spPr>
          <a:xfrm>
            <a:off x="7013448" y="2536613"/>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Development Progress</a:t>
            </a:r>
            <a:endParaRPr lang="en-US" dirty="0"/>
          </a:p>
        </p:txBody>
      </p:sp>
      <p:sp>
        <p:nvSpPr>
          <p:cNvPr id="32" name="Text 30"/>
          <p:cNvSpPr/>
          <p:nvPr/>
        </p:nvSpPr>
        <p:spPr>
          <a:xfrm>
            <a:off x="7013448" y="2865797"/>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What has been built so far towards the ~40% mark</a:t>
            </a:r>
            <a:endParaRPr lang="en-US" sz="1500" dirty="0"/>
          </a:p>
        </p:txBody>
      </p:sp>
      <p:sp>
        <p:nvSpPr>
          <p:cNvPr id="33" name="Shape 31"/>
          <p:cNvSpPr/>
          <p:nvPr/>
        </p:nvSpPr>
        <p:spPr>
          <a:xfrm>
            <a:off x="6263640" y="3674211"/>
            <a:ext cx="5349240" cy="896112"/>
          </a:xfrm>
          <a:prstGeom prst="roundRect">
            <a:avLst>
              <a:gd name="adj" fmla="val 7143"/>
            </a:avLst>
          </a:prstGeom>
          <a:solidFill>
            <a:srgbClr val="F4F8F7"/>
          </a:solidFill>
          <a:ln w="12700">
            <a:solidFill>
              <a:srgbClr val="DCE7E5"/>
            </a:solidFill>
            <a:prstDash val="solid"/>
          </a:ln>
        </p:spPr>
      </p:sp>
      <p:sp>
        <p:nvSpPr>
          <p:cNvPr id="34" name="Shape 32"/>
          <p:cNvSpPr/>
          <p:nvPr/>
        </p:nvSpPr>
        <p:spPr>
          <a:xfrm>
            <a:off x="6464808" y="3957675"/>
            <a:ext cx="365760" cy="365760"/>
          </a:xfrm>
          <a:prstGeom prst="ellipse">
            <a:avLst/>
          </a:prstGeom>
          <a:solidFill>
            <a:srgbClr val="028090"/>
          </a:solidFill>
          <a:ln/>
        </p:spPr>
      </p:sp>
      <p:sp>
        <p:nvSpPr>
          <p:cNvPr id="35" name="Text 33"/>
          <p:cNvSpPr/>
          <p:nvPr/>
        </p:nvSpPr>
        <p:spPr>
          <a:xfrm>
            <a:off x="6464808" y="3957675"/>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6" name="Text 34"/>
          <p:cNvSpPr/>
          <p:nvPr/>
        </p:nvSpPr>
        <p:spPr>
          <a:xfrm>
            <a:off x="7013448" y="3802227"/>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Conclusion &amp; Future Work</a:t>
            </a:r>
            <a:endParaRPr lang="en-US" dirty="0"/>
          </a:p>
        </p:txBody>
      </p:sp>
      <p:sp>
        <p:nvSpPr>
          <p:cNvPr id="37" name="Text 35"/>
          <p:cNvSpPr/>
          <p:nvPr/>
        </p:nvSpPr>
        <p:spPr>
          <a:xfrm>
            <a:off x="7013448" y="4131411"/>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Summary of work done and what comes next</a:t>
            </a:r>
            <a:endParaRPr lang="en-US" sz="1500" dirty="0"/>
          </a:p>
        </p:txBody>
      </p:sp>
      <p:sp>
        <p:nvSpPr>
          <p:cNvPr id="38" name="Shape 36"/>
          <p:cNvSpPr/>
          <p:nvPr/>
        </p:nvSpPr>
        <p:spPr>
          <a:xfrm>
            <a:off x="6263640" y="4949133"/>
            <a:ext cx="5349240" cy="896112"/>
          </a:xfrm>
          <a:prstGeom prst="roundRect">
            <a:avLst>
              <a:gd name="adj" fmla="val 7143"/>
            </a:avLst>
          </a:prstGeom>
          <a:solidFill>
            <a:srgbClr val="F4F8F7"/>
          </a:solidFill>
          <a:ln w="12700">
            <a:solidFill>
              <a:srgbClr val="DCE7E5"/>
            </a:solidFill>
            <a:prstDash val="solid"/>
          </a:ln>
        </p:spPr>
      </p:sp>
      <p:sp>
        <p:nvSpPr>
          <p:cNvPr id="39" name="Shape 37"/>
          <p:cNvSpPr/>
          <p:nvPr/>
        </p:nvSpPr>
        <p:spPr>
          <a:xfrm>
            <a:off x="6464808" y="5232597"/>
            <a:ext cx="365760" cy="365760"/>
          </a:xfrm>
          <a:prstGeom prst="ellipse">
            <a:avLst/>
          </a:prstGeom>
          <a:solidFill>
            <a:srgbClr val="F77F00"/>
          </a:solidFill>
          <a:ln/>
        </p:spPr>
      </p:sp>
      <p:sp>
        <p:nvSpPr>
          <p:cNvPr id="40" name="Text 38"/>
          <p:cNvSpPr/>
          <p:nvPr/>
        </p:nvSpPr>
        <p:spPr>
          <a:xfrm>
            <a:off x="6464808" y="5232597"/>
            <a:ext cx="36576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1" name="Text 39"/>
          <p:cNvSpPr/>
          <p:nvPr/>
        </p:nvSpPr>
        <p:spPr>
          <a:xfrm>
            <a:off x="7013448" y="5077149"/>
            <a:ext cx="4434840" cy="329184"/>
          </a:xfrm>
          <a:prstGeom prst="rect">
            <a:avLst/>
          </a:prstGeom>
          <a:noFill/>
          <a:ln/>
        </p:spPr>
        <p:txBody>
          <a:bodyPr wrap="square" rtlCol="0" anchor="b"/>
          <a:lstStyle/>
          <a:p>
            <a:pPr marL="0" indent="0">
              <a:buNone/>
            </a:pPr>
            <a:r>
              <a:rPr lang="en-US" b="1" dirty="0">
                <a:solidFill>
                  <a:srgbClr val="22302F"/>
                </a:solidFill>
                <a:latin typeface="Calibri" pitchFamily="34" charset="0"/>
                <a:ea typeface="Calibri" pitchFamily="34" charset="-122"/>
                <a:cs typeface="Calibri" pitchFamily="34" charset="-120"/>
              </a:rPr>
              <a:t>Q&amp;A</a:t>
            </a:r>
            <a:endParaRPr lang="en-US" dirty="0"/>
          </a:p>
        </p:txBody>
      </p:sp>
      <p:sp>
        <p:nvSpPr>
          <p:cNvPr id="42" name="Text 40"/>
          <p:cNvSpPr/>
          <p:nvPr/>
        </p:nvSpPr>
        <p:spPr>
          <a:xfrm>
            <a:off x="7013448" y="5406333"/>
            <a:ext cx="4434840" cy="365760"/>
          </a:xfrm>
          <a:prstGeom prst="rect">
            <a:avLst/>
          </a:prstGeom>
          <a:noFill/>
          <a:ln/>
        </p:spPr>
        <p:txBody>
          <a:bodyPr wrap="square" rtlCol="0" anchor="t"/>
          <a:lstStyle/>
          <a:p>
            <a:pPr marL="0" indent="0">
              <a:buNone/>
            </a:pPr>
            <a:r>
              <a:rPr lang="en-US" sz="1500" dirty="0">
                <a:solidFill>
                  <a:srgbClr val="5B6B69"/>
                </a:solidFill>
                <a:latin typeface="Calibri" pitchFamily="34" charset="0"/>
                <a:ea typeface="Calibri" pitchFamily="34" charset="-122"/>
                <a:cs typeface="Calibri" pitchFamily="34" charset="-120"/>
              </a:rPr>
              <a:t>Open floor for questions and suggestions</a:t>
            </a:r>
            <a:endParaRPr lang="en-US" sz="1500" dirty="0"/>
          </a:p>
        </p:txBody>
      </p:sp>
      <p:sp>
        <p:nvSpPr>
          <p:cNvPr id="43" name="Text 41"/>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44" name="Text 42"/>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lgn="l">
              <a:buNone/>
            </a:pPr>
            <a:r>
              <a:rPr lang="en-US" sz="2800" b="1" dirty="0">
                <a:solidFill>
                  <a:srgbClr val="023E40"/>
                </a:solidFill>
                <a:latin typeface="Cambria" pitchFamily="34" charset="0"/>
                <a:ea typeface="Cambria" pitchFamily="34" charset="-122"/>
                <a:cs typeface="Cambria" pitchFamily="34" charset="-120"/>
              </a:rPr>
              <a:t>Introduction, Problem Definition &amp; Objectives</a:t>
            </a:r>
            <a:endParaRPr lang="en-US" sz="2800" dirty="0"/>
          </a:p>
        </p:txBody>
      </p:sp>
      <p:sp>
        <p:nvSpPr>
          <p:cNvPr id="3" name="Text 1"/>
          <p:cNvSpPr/>
          <p:nvPr/>
        </p:nvSpPr>
        <p:spPr>
          <a:xfrm>
            <a:off x="548640" y="1097280"/>
            <a:ext cx="5394960" cy="274320"/>
          </a:xfrm>
          <a:prstGeom prst="rect">
            <a:avLst/>
          </a:prstGeom>
          <a:noFill/>
          <a:ln/>
        </p:spPr>
        <p:txBody>
          <a:bodyPr wrap="square" rtlCol="0" anchor="ctr"/>
          <a:lstStyle/>
          <a:p>
            <a:pPr marL="0" indent="0">
              <a:buNone/>
            </a:pPr>
            <a:r>
              <a:rPr lang="en-US" sz="1500" b="1" kern="0" spc="100" dirty="0">
                <a:solidFill>
                  <a:srgbClr val="028090"/>
                </a:solidFill>
                <a:latin typeface="Calibri" pitchFamily="34" charset="0"/>
                <a:ea typeface="Calibri" pitchFamily="34" charset="-122"/>
                <a:cs typeface="Calibri" pitchFamily="34" charset="-120"/>
              </a:rPr>
              <a:t>INTRODUCTION</a:t>
            </a:r>
            <a:endParaRPr lang="en-US" sz="1500" dirty="0"/>
          </a:p>
        </p:txBody>
      </p:sp>
      <p:sp>
        <p:nvSpPr>
          <p:cNvPr id="4" name="Text 2"/>
          <p:cNvSpPr/>
          <p:nvPr/>
        </p:nvSpPr>
        <p:spPr>
          <a:xfrm>
            <a:off x="548640" y="1389888"/>
            <a:ext cx="5394960" cy="914400"/>
          </a:xfrm>
          <a:prstGeom prst="rect">
            <a:avLst/>
          </a:prstGeom>
          <a:noFill/>
          <a:ln/>
        </p:spPr>
        <p:txBody>
          <a:bodyPr wrap="square" rtlCol="0" anchor="t"/>
          <a:lstStyle/>
          <a:p>
            <a:pPr marL="0" indent="0" algn="just">
              <a:lnSpc>
                <a:spcPct val="115000"/>
              </a:lnSpc>
              <a:buNone/>
            </a:pPr>
            <a:r>
              <a:rPr lang="en-US" sz="1450" dirty="0" err="1">
                <a:solidFill>
                  <a:srgbClr val="22302F"/>
                </a:solidFill>
                <a:latin typeface="Calibri" pitchFamily="34" charset="0"/>
                <a:ea typeface="Calibri" pitchFamily="34" charset="-122"/>
                <a:cs typeface="Calibri" pitchFamily="34" charset="-120"/>
              </a:rPr>
              <a:t>QuickBite</a:t>
            </a:r>
            <a:r>
              <a:rPr lang="en-US" sz="1450" dirty="0">
                <a:solidFill>
                  <a:srgbClr val="22302F"/>
                </a:solidFill>
                <a:latin typeface="Calibri" pitchFamily="34" charset="0"/>
                <a:ea typeface="Calibri" pitchFamily="34" charset="-122"/>
                <a:cs typeface="Calibri" pitchFamily="34" charset="-120"/>
              </a:rPr>
              <a:t> is a smart food ordering web platform that lets users browse food, explore categories, manage a cart and place orders online through a simple, responsive interface backed by a database.</a:t>
            </a:r>
            <a:endParaRPr lang="en-US" sz="1450" dirty="0"/>
          </a:p>
        </p:txBody>
      </p:sp>
      <p:sp>
        <p:nvSpPr>
          <p:cNvPr id="5" name="Text 3"/>
          <p:cNvSpPr/>
          <p:nvPr/>
        </p:nvSpPr>
        <p:spPr>
          <a:xfrm>
            <a:off x="548640" y="2395728"/>
            <a:ext cx="5394960" cy="274320"/>
          </a:xfrm>
          <a:prstGeom prst="rect">
            <a:avLst/>
          </a:prstGeom>
          <a:noFill/>
          <a:ln/>
        </p:spPr>
        <p:txBody>
          <a:bodyPr wrap="square" rtlCol="0" anchor="ctr"/>
          <a:lstStyle/>
          <a:p>
            <a:pPr marL="0" indent="0">
              <a:buNone/>
            </a:pPr>
            <a:r>
              <a:rPr lang="en-US" sz="1500" b="1" kern="0" spc="100" dirty="0">
                <a:solidFill>
                  <a:srgbClr val="F77F00"/>
                </a:solidFill>
                <a:latin typeface="Calibri" pitchFamily="34" charset="0"/>
                <a:ea typeface="Calibri" pitchFamily="34" charset="-122"/>
                <a:cs typeface="Calibri" pitchFamily="34" charset="-120"/>
              </a:rPr>
              <a:t>PROBLEM</a:t>
            </a:r>
            <a:endParaRPr lang="en-US" sz="1500" dirty="0"/>
          </a:p>
        </p:txBody>
      </p:sp>
      <p:sp>
        <p:nvSpPr>
          <p:cNvPr id="6" name="Text 4"/>
          <p:cNvSpPr/>
          <p:nvPr/>
        </p:nvSpPr>
        <p:spPr>
          <a:xfrm>
            <a:off x="548640" y="2697480"/>
            <a:ext cx="5394960" cy="1554480"/>
          </a:xfrm>
          <a:prstGeom prst="rect">
            <a:avLst/>
          </a:prstGeom>
          <a:noFill/>
          <a:ln/>
        </p:spPr>
        <p:txBody>
          <a:bodyPr wrap="square" rtlCol="0" anchor="t"/>
          <a:lstStyle/>
          <a:p>
            <a:pPr marL="342900" indent="-342900" algn="just">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Limited food discovery</a:t>
            </a:r>
            <a:endParaRPr lang="en-US" sz="1450" dirty="0"/>
          </a:p>
          <a:p>
            <a:pPr marL="342900" indent="-342900" algn="just">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Difficulty comparing available items</a:t>
            </a:r>
            <a:endParaRPr lang="en-US" sz="1450" dirty="0"/>
          </a:p>
          <a:p>
            <a:pPr marL="342900" indent="-342900" algn="just">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Less organized category browsing</a:t>
            </a:r>
            <a:endParaRPr lang="en-US" sz="1450" dirty="0"/>
          </a:p>
          <a:p>
            <a:pPr marL="342900" indent="-342900" algn="just">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Manual order management</a:t>
            </a:r>
            <a:endParaRPr lang="en-US" sz="1450" dirty="0"/>
          </a:p>
          <a:p>
            <a:pPr marL="342900" indent="-342900" algn="just">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No centralized digital ordering experience</a:t>
            </a:r>
            <a:endParaRPr lang="en-US" sz="1450" dirty="0"/>
          </a:p>
        </p:txBody>
      </p:sp>
      <p:sp>
        <p:nvSpPr>
          <p:cNvPr id="7" name="Text 5"/>
          <p:cNvSpPr/>
          <p:nvPr/>
        </p:nvSpPr>
        <p:spPr>
          <a:xfrm>
            <a:off x="548640" y="4343400"/>
            <a:ext cx="5394960" cy="274320"/>
          </a:xfrm>
          <a:prstGeom prst="rect">
            <a:avLst/>
          </a:prstGeom>
          <a:noFill/>
          <a:ln/>
        </p:spPr>
        <p:txBody>
          <a:bodyPr wrap="square" rtlCol="0" anchor="ctr"/>
          <a:lstStyle/>
          <a:p>
            <a:pPr marL="0" indent="0">
              <a:buNone/>
            </a:pPr>
            <a:r>
              <a:rPr lang="en-US" sz="1500" b="1" kern="0" spc="100" dirty="0">
                <a:solidFill>
                  <a:srgbClr val="028090"/>
                </a:solidFill>
                <a:latin typeface="Calibri" pitchFamily="34" charset="0"/>
                <a:ea typeface="Calibri" pitchFamily="34" charset="-122"/>
                <a:cs typeface="Calibri" pitchFamily="34" charset="-120"/>
              </a:rPr>
              <a:t>OBJECTIVES</a:t>
            </a:r>
            <a:endParaRPr lang="en-US" sz="1500" dirty="0"/>
          </a:p>
        </p:txBody>
      </p:sp>
      <p:sp>
        <p:nvSpPr>
          <p:cNvPr id="8" name="Text 6"/>
          <p:cNvSpPr/>
          <p:nvPr/>
        </p:nvSpPr>
        <p:spPr>
          <a:xfrm>
            <a:off x="548640" y="4645152"/>
            <a:ext cx="5394960" cy="1737360"/>
          </a:xfrm>
          <a:prstGeom prst="rect">
            <a:avLst/>
          </a:prstGeom>
          <a:noFill/>
          <a:ln/>
        </p:spPr>
        <p:txBody>
          <a:bodyPr wrap="square" rtlCol="0" anchor="t"/>
          <a:lstStyle/>
          <a:p>
            <a:pPr marL="342900" indent="-342900">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Build a user-friendly food ordering platform</a:t>
            </a:r>
            <a:endParaRPr lang="en-US" sz="1450" dirty="0"/>
          </a:p>
          <a:p>
            <a:pPr marL="342900" indent="-342900">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Organize food into clear categories with search &amp; filters</a:t>
            </a:r>
            <a:endParaRPr lang="en-US" sz="1450" dirty="0"/>
          </a:p>
          <a:p>
            <a:pPr marL="342900" indent="-342900">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Implement cart and wishlist functionality</a:t>
            </a:r>
            <a:endParaRPr lang="en-US" sz="1450" dirty="0"/>
          </a:p>
          <a:p>
            <a:pPr marL="342900" indent="-342900">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Maintain user &amp; order data using a database</a:t>
            </a:r>
            <a:endParaRPr lang="en-US" sz="1450" dirty="0"/>
          </a:p>
          <a:p>
            <a:pPr marL="342900" indent="-342900">
              <a:spcAft>
                <a:spcPts val="600"/>
              </a:spcAft>
              <a:buSzPct val="100000"/>
              <a:buChar char="•"/>
            </a:pPr>
            <a:r>
              <a:rPr lang="en-US" sz="1450" dirty="0">
                <a:solidFill>
                  <a:srgbClr val="22302F"/>
                </a:solidFill>
                <a:latin typeface="Calibri" pitchFamily="34" charset="0"/>
                <a:ea typeface="Calibri" pitchFamily="34" charset="-122"/>
                <a:cs typeface="Calibri" pitchFamily="34" charset="-120"/>
              </a:rPr>
              <a:t>Provide a responsive, attractive interface</a:t>
            </a:r>
            <a:endParaRPr lang="en-US" sz="1450" dirty="0"/>
          </a:p>
        </p:txBody>
      </p:sp>
      <p:sp>
        <p:nvSpPr>
          <p:cNvPr id="9" name="Shape 7"/>
          <p:cNvSpPr/>
          <p:nvPr/>
        </p:nvSpPr>
        <p:spPr>
          <a:xfrm>
            <a:off x="6537960" y="1051560"/>
            <a:ext cx="5074920" cy="5647820"/>
          </a:xfrm>
          <a:prstGeom prst="roundRect">
            <a:avLst>
              <a:gd name="adj" fmla="val 1802"/>
            </a:avLst>
          </a:prstGeom>
          <a:solidFill>
            <a:srgbClr val="F4F8F7"/>
          </a:solidFill>
          <a:ln w="12700">
            <a:solidFill>
              <a:srgbClr val="DCE7E5"/>
            </a:solidFill>
            <a:prstDash val="solid"/>
          </a:ln>
        </p:spPr>
      </p:sp>
      <p:sp>
        <p:nvSpPr>
          <p:cNvPr id="10" name="Text 8"/>
          <p:cNvSpPr/>
          <p:nvPr/>
        </p:nvSpPr>
        <p:spPr>
          <a:xfrm>
            <a:off x="6537960" y="1234440"/>
            <a:ext cx="5074920" cy="320040"/>
          </a:xfrm>
          <a:prstGeom prst="rect">
            <a:avLst/>
          </a:prstGeom>
          <a:noFill/>
          <a:ln/>
        </p:spPr>
        <p:txBody>
          <a:bodyPr wrap="square" rtlCol="0" anchor="ctr"/>
          <a:lstStyle/>
          <a:p>
            <a:pPr marL="0" indent="0" algn="ctr">
              <a:buNone/>
            </a:pPr>
            <a:r>
              <a:rPr lang="en-US" sz="1600" b="1" kern="0" spc="100" dirty="0">
                <a:solidFill>
                  <a:srgbClr val="5B6B69"/>
                </a:solidFill>
                <a:latin typeface="Calibri" pitchFamily="34" charset="0"/>
                <a:ea typeface="Calibri" pitchFamily="34" charset="-122"/>
                <a:cs typeface="Calibri" pitchFamily="34" charset="-120"/>
              </a:rPr>
              <a:t>USER ORDERING FLOW</a:t>
            </a:r>
            <a:endParaRPr lang="en-US" sz="1600" dirty="0"/>
          </a:p>
        </p:txBody>
      </p:sp>
      <p:sp>
        <p:nvSpPr>
          <p:cNvPr id="11" name="Shape 9"/>
          <p:cNvSpPr/>
          <p:nvPr/>
        </p:nvSpPr>
        <p:spPr>
          <a:xfrm>
            <a:off x="7429500" y="1737360"/>
            <a:ext cx="3291840" cy="566928"/>
          </a:xfrm>
          <a:prstGeom prst="roundRect">
            <a:avLst>
              <a:gd name="adj" fmla="val 12903"/>
            </a:avLst>
          </a:prstGeom>
          <a:solidFill>
            <a:srgbClr val="028090"/>
          </a:solidFill>
          <a:ln/>
        </p:spPr>
      </p:sp>
      <p:sp>
        <p:nvSpPr>
          <p:cNvPr id="12" name="Text 10"/>
          <p:cNvSpPr/>
          <p:nvPr/>
        </p:nvSpPr>
        <p:spPr>
          <a:xfrm>
            <a:off x="7429500" y="1737360"/>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User</a:t>
            </a:r>
            <a:endParaRPr lang="en-US" dirty="0"/>
          </a:p>
        </p:txBody>
      </p:sp>
      <p:sp>
        <p:nvSpPr>
          <p:cNvPr id="13" name="Shape 11"/>
          <p:cNvSpPr/>
          <p:nvPr/>
        </p:nvSpPr>
        <p:spPr>
          <a:xfrm>
            <a:off x="9075420" y="2304288"/>
            <a:ext cx="0" cy="274320"/>
          </a:xfrm>
          <a:prstGeom prst="line">
            <a:avLst/>
          </a:prstGeom>
          <a:noFill/>
          <a:ln w="19050">
            <a:solidFill>
              <a:srgbClr val="5B6B69"/>
            </a:solidFill>
            <a:prstDash val="solid"/>
            <a:tailEnd type="triangle"/>
          </a:ln>
        </p:spPr>
      </p:sp>
      <p:sp>
        <p:nvSpPr>
          <p:cNvPr id="14" name="Shape 12"/>
          <p:cNvSpPr/>
          <p:nvPr/>
        </p:nvSpPr>
        <p:spPr>
          <a:xfrm>
            <a:off x="7429500" y="2578608"/>
            <a:ext cx="3291840" cy="566928"/>
          </a:xfrm>
          <a:prstGeom prst="roundRect">
            <a:avLst>
              <a:gd name="adj" fmla="val 12903"/>
            </a:avLst>
          </a:prstGeom>
          <a:solidFill>
            <a:srgbClr val="028090"/>
          </a:solidFill>
          <a:ln/>
        </p:spPr>
      </p:sp>
      <p:sp>
        <p:nvSpPr>
          <p:cNvPr id="15" name="Text 13"/>
          <p:cNvSpPr/>
          <p:nvPr/>
        </p:nvSpPr>
        <p:spPr>
          <a:xfrm>
            <a:off x="7429500" y="2578608"/>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Browse Food</a:t>
            </a:r>
            <a:endParaRPr lang="en-US" dirty="0"/>
          </a:p>
        </p:txBody>
      </p:sp>
      <p:sp>
        <p:nvSpPr>
          <p:cNvPr id="16" name="Shape 14"/>
          <p:cNvSpPr/>
          <p:nvPr/>
        </p:nvSpPr>
        <p:spPr>
          <a:xfrm>
            <a:off x="9075420" y="3145536"/>
            <a:ext cx="0" cy="274320"/>
          </a:xfrm>
          <a:prstGeom prst="line">
            <a:avLst/>
          </a:prstGeom>
          <a:noFill/>
          <a:ln w="19050">
            <a:solidFill>
              <a:srgbClr val="5B6B69"/>
            </a:solidFill>
            <a:prstDash val="solid"/>
            <a:tailEnd type="triangle"/>
          </a:ln>
        </p:spPr>
      </p:sp>
      <p:sp>
        <p:nvSpPr>
          <p:cNvPr id="17" name="Shape 15"/>
          <p:cNvSpPr/>
          <p:nvPr/>
        </p:nvSpPr>
        <p:spPr>
          <a:xfrm>
            <a:off x="7429500" y="3419856"/>
            <a:ext cx="3291840" cy="566928"/>
          </a:xfrm>
          <a:prstGeom prst="roundRect">
            <a:avLst>
              <a:gd name="adj" fmla="val 12903"/>
            </a:avLst>
          </a:prstGeom>
          <a:solidFill>
            <a:srgbClr val="028090"/>
          </a:solidFill>
          <a:ln/>
        </p:spPr>
      </p:sp>
      <p:sp>
        <p:nvSpPr>
          <p:cNvPr id="18" name="Text 16"/>
          <p:cNvSpPr/>
          <p:nvPr/>
        </p:nvSpPr>
        <p:spPr>
          <a:xfrm>
            <a:off x="7429500" y="3419856"/>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Select Food</a:t>
            </a:r>
            <a:endParaRPr lang="en-US" dirty="0"/>
          </a:p>
        </p:txBody>
      </p:sp>
      <p:sp>
        <p:nvSpPr>
          <p:cNvPr id="19" name="Shape 17"/>
          <p:cNvSpPr/>
          <p:nvPr/>
        </p:nvSpPr>
        <p:spPr>
          <a:xfrm>
            <a:off x="9075420" y="3986784"/>
            <a:ext cx="0" cy="274320"/>
          </a:xfrm>
          <a:prstGeom prst="line">
            <a:avLst/>
          </a:prstGeom>
          <a:noFill/>
          <a:ln w="19050">
            <a:solidFill>
              <a:srgbClr val="5B6B69"/>
            </a:solidFill>
            <a:prstDash val="solid"/>
            <a:tailEnd type="triangle"/>
          </a:ln>
        </p:spPr>
      </p:sp>
      <p:sp>
        <p:nvSpPr>
          <p:cNvPr id="20" name="Shape 18"/>
          <p:cNvSpPr/>
          <p:nvPr/>
        </p:nvSpPr>
        <p:spPr>
          <a:xfrm>
            <a:off x="7429500" y="4261104"/>
            <a:ext cx="3291840" cy="566928"/>
          </a:xfrm>
          <a:prstGeom prst="roundRect">
            <a:avLst>
              <a:gd name="adj" fmla="val 12903"/>
            </a:avLst>
          </a:prstGeom>
          <a:solidFill>
            <a:srgbClr val="028090"/>
          </a:solidFill>
          <a:ln/>
        </p:spPr>
      </p:sp>
      <p:sp>
        <p:nvSpPr>
          <p:cNvPr id="21" name="Text 19"/>
          <p:cNvSpPr/>
          <p:nvPr/>
        </p:nvSpPr>
        <p:spPr>
          <a:xfrm>
            <a:off x="7429500" y="4261104"/>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Cart / Wishlist</a:t>
            </a:r>
            <a:endParaRPr lang="en-US" dirty="0"/>
          </a:p>
        </p:txBody>
      </p:sp>
      <p:sp>
        <p:nvSpPr>
          <p:cNvPr id="22" name="Shape 20"/>
          <p:cNvSpPr/>
          <p:nvPr/>
        </p:nvSpPr>
        <p:spPr>
          <a:xfrm>
            <a:off x="9075420" y="4828032"/>
            <a:ext cx="0" cy="274320"/>
          </a:xfrm>
          <a:prstGeom prst="line">
            <a:avLst/>
          </a:prstGeom>
          <a:noFill/>
          <a:ln w="19050">
            <a:solidFill>
              <a:srgbClr val="5B6B69"/>
            </a:solidFill>
            <a:prstDash val="solid"/>
            <a:tailEnd type="triangle"/>
          </a:ln>
        </p:spPr>
      </p:sp>
      <p:sp>
        <p:nvSpPr>
          <p:cNvPr id="23" name="Shape 21"/>
          <p:cNvSpPr/>
          <p:nvPr/>
        </p:nvSpPr>
        <p:spPr>
          <a:xfrm>
            <a:off x="7429500" y="5102352"/>
            <a:ext cx="3291840" cy="566928"/>
          </a:xfrm>
          <a:prstGeom prst="roundRect">
            <a:avLst>
              <a:gd name="adj" fmla="val 12903"/>
            </a:avLst>
          </a:prstGeom>
          <a:solidFill>
            <a:srgbClr val="028090"/>
          </a:solidFill>
          <a:ln/>
        </p:spPr>
      </p:sp>
      <p:sp>
        <p:nvSpPr>
          <p:cNvPr id="24" name="Text 22"/>
          <p:cNvSpPr/>
          <p:nvPr/>
        </p:nvSpPr>
        <p:spPr>
          <a:xfrm>
            <a:off x="7429500" y="5102352"/>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Place Order</a:t>
            </a:r>
            <a:endParaRPr lang="en-US" dirty="0"/>
          </a:p>
        </p:txBody>
      </p:sp>
      <p:sp>
        <p:nvSpPr>
          <p:cNvPr id="25" name="Shape 23"/>
          <p:cNvSpPr/>
          <p:nvPr/>
        </p:nvSpPr>
        <p:spPr>
          <a:xfrm>
            <a:off x="9075420" y="5669280"/>
            <a:ext cx="0" cy="274320"/>
          </a:xfrm>
          <a:prstGeom prst="line">
            <a:avLst/>
          </a:prstGeom>
          <a:noFill/>
          <a:ln w="19050">
            <a:solidFill>
              <a:srgbClr val="5B6B69"/>
            </a:solidFill>
            <a:prstDash val="solid"/>
            <a:tailEnd type="triangle"/>
          </a:ln>
        </p:spPr>
      </p:sp>
      <p:sp>
        <p:nvSpPr>
          <p:cNvPr id="26" name="Shape 24"/>
          <p:cNvSpPr/>
          <p:nvPr/>
        </p:nvSpPr>
        <p:spPr>
          <a:xfrm>
            <a:off x="7429500" y="5943600"/>
            <a:ext cx="3291840" cy="566928"/>
          </a:xfrm>
          <a:prstGeom prst="roundRect">
            <a:avLst>
              <a:gd name="adj" fmla="val 12903"/>
            </a:avLst>
          </a:prstGeom>
          <a:solidFill>
            <a:srgbClr val="F77F00"/>
          </a:solidFill>
          <a:ln/>
        </p:spPr>
      </p:sp>
      <p:sp>
        <p:nvSpPr>
          <p:cNvPr id="27" name="Text 25"/>
          <p:cNvSpPr/>
          <p:nvPr/>
        </p:nvSpPr>
        <p:spPr>
          <a:xfrm>
            <a:off x="7429500" y="5943600"/>
            <a:ext cx="3291840" cy="566928"/>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Order Management</a:t>
            </a:r>
            <a:endParaRPr lang="en-US" dirty="0"/>
          </a:p>
        </p:txBody>
      </p:sp>
      <p:sp>
        <p:nvSpPr>
          <p:cNvPr id="28" name="Text 26"/>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29" name="Text 27"/>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lgn="l">
              <a:buNone/>
            </a:pPr>
            <a:r>
              <a:rPr lang="en-US" sz="2800" b="1" dirty="0">
                <a:solidFill>
                  <a:srgbClr val="023E40"/>
                </a:solidFill>
                <a:latin typeface="Cambria" pitchFamily="34" charset="0"/>
                <a:ea typeface="Cambria" pitchFamily="34" charset="-122"/>
                <a:cs typeface="Cambria" pitchFamily="34" charset="-120"/>
              </a:rPr>
              <a:t>Requirement Analysis &amp; Scope</a:t>
            </a:r>
            <a:endParaRPr lang="en-US" sz="2800" dirty="0"/>
          </a:p>
        </p:txBody>
      </p:sp>
      <p:sp>
        <p:nvSpPr>
          <p:cNvPr id="3" name="Shape 1"/>
          <p:cNvSpPr/>
          <p:nvPr/>
        </p:nvSpPr>
        <p:spPr>
          <a:xfrm>
            <a:off x="483326" y="1097280"/>
            <a:ext cx="3703320" cy="4526280"/>
          </a:xfrm>
          <a:prstGeom prst="roundRect">
            <a:avLst>
              <a:gd name="adj" fmla="val 1975"/>
            </a:avLst>
          </a:prstGeom>
          <a:solidFill>
            <a:srgbClr val="E4F1F0"/>
          </a:solidFill>
          <a:ln w="12700">
            <a:solidFill>
              <a:srgbClr val="C6E2E0"/>
            </a:solidFill>
            <a:prstDash val="solid"/>
          </a:ln>
        </p:spPr>
      </p:sp>
      <p:sp>
        <p:nvSpPr>
          <p:cNvPr id="4" name="Text 2"/>
          <p:cNvSpPr/>
          <p:nvPr/>
        </p:nvSpPr>
        <p:spPr>
          <a:xfrm>
            <a:off x="731520" y="1234440"/>
            <a:ext cx="3337560" cy="320040"/>
          </a:xfrm>
          <a:prstGeom prst="rect">
            <a:avLst/>
          </a:prstGeom>
          <a:noFill/>
          <a:ln/>
        </p:spPr>
        <p:txBody>
          <a:bodyPr wrap="square" rtlCol="0" anchor="ctr"/>
          <a:lstStyle/>
          <a:p>
            <a:pPr marL="0" indent="0">
              <a:buNone/>
            </a:pPr>
            <a:r>
              <a:rPr lang="en-US" b="1" dirty="0">
                <a:solidFill>
                  <a:srgbClr val="023E40"/>
                </a:solidFill>
                <a:latin typeface="Calibri" pitchFamily="34" charset="0"/>
                <a:ea typeface="Calibri" pitchFamily="34" charset="-122"/>
                <a:cs typeface="Calibri" pitchFamily="34" charset="-120"/>
              </a:rPr>
              <a:t>FUNCTIONAL REQUIREMENTS</a:t>
            </a:r>
            <a:endParaRPr lang="en-US" dirty="0"/>
          </a:p>
        </p:txBody>
      </p:sp>
      <p:sp>
        <p:nvSpPr>
          <p:cNvPr id="5" name="Text 3"/>
          <p:cNvSpPr/>
          <p:nvPr/>
        </p:nvSpPr>
        <p:spPr>
          <a:xfrm>
            <a:off x="731520" y="1600200"/>
            <a:ext cx="3337560" cy="3566160"/>
          </a:xfrm>
          <a:prstGeom prst="rect">
            <a:avLst/>
          </a:prstGeom>
          <a:noFill/>
          <a:ln/>
        </p:spPr>
        <p:txBody>
          <a:bodyPr wrap="square" rtlCol="0" anchor="t"/>
          <a:lstStyle/>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Registration &amp; Login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Category Browsing</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Search &amp; Filtering</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Food Details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Wishlist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Shopping Cart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Order Placement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Order History</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Notifications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Database Storage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Admin food management</a:t>
            </a:r>
            <a:endParaRPr lang="en-US" sz="1600" dirty="0"/>
          </a:p>
        </p:txBody>
      </p:sp>
      <p:sp>
        <p:nvSpPr>
          <p:cNvPr id="6" name="Shape 4"/>
          <p:cNvSpPr/>
          <p:nvPr/>
        </p:nvSpPr>
        <p:spPr>
          <a:xfrm>
            <a:off x="4434840" y="1097280"/>
            <a:ext cx="3703320" cy="4526280"/>
          </a:xfrm>
          <a:prstGeom prst="roundRect">
            <a:avLst>
              <a:gd name="adj" fmla="val 1975"/>
            </a:avLst>
          </a:prstGeom>
          <a:solidFill>
            <a:srgbClr val="FDEBD8"/>
          </a:solidFill>
          <a:ln w="12700">
            <a:solidFill>
              <a:srgbClr val="F3D5B0"/>
            </a:solidFill>
            <a:prstDash val="solid"/>
          </a:ln>
        </p:spPr>
      </p:sp>
      <p:sp>
        <p:nvSpPr>
          <p:cNvPr id="7" name="Text 5"/>
          <p:cNvSpPr/>
          <p:nvPr/>
        </p:nvSpPr>
        <p:spPr>
          <a:xfrm>
            <a:off x="4500154" y="1234440"/>
            <a:ext cx="3886200" cy="320040"/>
          </a:xfrm>
          <a:prstGeom prst="rect">
            <a:avLst/>
          </a:prstGeom>
          <a:noFill/>
          <a:ln/>
        </p:spPr>
        <p:txBody>
          <a:bodyPr wrap="square" rtlCol="0" anchor="ctr"/>
          <a:lstStyle/>
          <a:p>
            <a:pPr marL="0" indent="0">
              <a:buNone/>
            </a:pPr>
            <a:r>
              <a:rPr lang="en-US" b="1" dirty="0">
                <a:solidFill>
                  <a:srgbClr val="B85C00"/>
                </a:solidFill>
                <a:latin typeface="Calibri" pitchFamily="34" charset="0"/>
                <a:ea typeface="Calibri" pitchFamily="34" charset="-122"/>
                <a:cs typeface="Calibri" pitchFamily="34" charset="-120"/>
              </a:rPr>
              <a:t>NON-FUNCTIONAL REQUIREMENTS</a:t>
            </a:r>
            <a:endParaRPr lang="en-US" dirty="0"/>
          </a:p>
        </p:txBody>
      </p:sp>
      <p:sp>
        <p:nvSpPr>
          <p:cNvPr id="8" name="Text 6"/>
          <p:cNvSpPr/>
          <p:nvPr/>
        </p:nvSpPr>
        <p:spPr>
          <a:xfrm>
            <a:off x="4617720" y="1600200"/>
            <a:ext cx="3337560" cy="3566160"/>
          </a:xfrm>
          <a:prstGeom prst="rect">
            <a:avLst/>
          </a:prstGeom>
          <a:noFill/>
          <a:ln/>
        </p:spPr>
        <p:txBody>
          <a:bodyPr wrap="square" rtlCol="0" anchor="t"/>
          <a:lstStyle/>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Responsive design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Easy navigation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Simple user interface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Fast interaction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Data consistency</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Maintainable code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Light / Dark theme support</a:t>
            </a:r>
            <a:endParaRPr lang="en-US" sz="1600" dirty="0"/>
          </a:p>
        </p:txBody>
      </p:sp>
      <p:sp>
        <p:nvSpPr>
          <p:cNvPr id="9" name="Shape 7"/>
          <p:cNvSpPr/>
          <p:nvPr/>
        </p:nvSpPr>
        <p:spPr>
          <a:xfrm>
            <a:off x="8321040" y="1097280"/>
            <a:ext cx="3291840" cy="4526280"/>
          </a:xfrm>
          <a:prstGeom prst="roundRect">
            <a:avLst>
              <a:gd name="adj" fmla="val 2222"/>
            </a:avLst>
          </a:prstGeom>
          <a:solidFill>
            <a:srgbClr val="F4F8F7"/>
          </a:solidFill>
          <a:ln w="12700">
            <a:solidFill>
              <a:srgbClr val="DCE7E5"/>
            </a:solidFill>
            <a:prstDash val="solid"/>
          </a:ln>
        </p:spPr>
      </p:sp>
      <p:sp>
        <p:nvSpPr>
          <p:cNvPr id="10" name="Text 8"/>
          <p:cNvSpPr/>
          <p:nvPr/>
        </p:nvSpPr>
        <p:spPr>
          <a:xfrm>
            <a:off x="8503920" y="1234440"/>
            <a:ext cx="2926080" cy="320040"/>
          </a:xfrm>
          <a:prstGeom prst="rect">
            <a:avLst/>
          </a:prstGeom>
          <a:noFill/>
          <a:ln/>
        </p:spPr>
        <p:txBody>
          <a:bodyPr wrap="square" rtlCol="0" anchor="ctr"/>
          <a:lstStyle/>
          <a:p>
            <a:pPr marL="0" indent="0">
              <a:buNone/>
            </a:pPr>
            <a:r>
              <a:rPr lang="en-US" b="1" dirty="0">
                <a:solidFill>
                  <a:srgbClr val="5B6B69"/>
                </a:solidFill>
                <a:latin typeface="Calibri" pitchFamily="34" charset="0"/>
                <a:ea typeface="Calibri" pitchFamily="34" charset="-122"/>
                <a:cs typeface="Calibri" pitchFamily="34" charset="-120"/>
              </a:rPr>
              <a:t>SCOPE</a:t>
            </a:r>
            <a:endParaRPr lang="en-US" dirty="0"/>
          </a:p>
        </p:txBody>
      </p:sp>
      <p:sp>
        <p:nvSpPr>
          <p:cNvPr id="11" name="Text 9"/>
          <p:cNvSpPr/>
          <p:nvPr/>
        </p:nvSpPr>
        <p:spPr>
          <a:xfrm>
            <a:off x="8503920" y="1572768"/>
            <a:ext cx="2926080" cy="1051560"/>
          </a:xfrm>
          <a:prstGeom prst="rect">
            <a:avLst/>
          </a:prstGeom>
          <a:noFill/>
          <a:ln/>
        </p:spPr>
        <p:txBody>
          <a:bodyPr wrap="square" rtlCol="0" anchor="t"/>
          <a:lstStyle/>
          <a:p>
            <a:pPr marL="0" indent="0" algn="just">
              <a:buNone/>
            </a:pPr>
            <a:r>
              <a:rPr lang="en-US" sz="1500" dirty="0">
                <a:solidFill>
                  <a:srgbClr val="22302F"/>
                </a:solidFill>
                <a:latin typeface="Calibri" pitchFamily="34" charset="0"/>
                <a:ea typeface="Calibri" pitchFamily="34" charset="-122"/>
                <a:cs typeface="Calibri" pitchFamily="34" charset="-120"/>
              </a:rPr>
              <a:t>A complete foundation for a web-based food ordering platform where users can discover food, manage selections and place orders.</a:t>
            </a:r>
            <a:endParaRPr lang="en-US" sz="1500" dirty="0"/>
          </a:p>
        </p:txBody>
      </p:sp>
      <p:sp>
        <p:nvSpPr>
          <p:cNvPr id="12" name="Shape 10"/>
          <p:cNvSpPr/>
          <p:nvPr/>
        </p:nvSpPr>
        <p:spPr>
          <a:xfrm>
            <a:off x="8549640" y="2743200"/>
            <a:ext cx="2834640" cy="457200"/>
          </a:xfrm>
          <a:prstGeom prst="roundRect">
            <a:avLst>
              <a:gd name="adj" fmla="val 12000"/>
            </a:avLst>
          </a:prstGeom>
          <a:solidFill>
            <a:srgbClr val="5B6B69"/>
          </a:solidFill>
          <a:ln/>
        </p:spPr>
      </p:sp>
      <p:sp>
        <p:nvSpPr>
          <p:cNvPr id="13" name="Text 11"/>
          <p:cNvSpPr/>
          <p:nvPr/>
        </p:nvSpPr>
        <p:spPr>
          <a:xfrm>
            <a:off x="8549640" y="2743200"/>
            <a:ext cx="28346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USER SIDE</a:t>
            </a:r>
            <a:endParaRPr lang="en-US" sz="1200" dirty="0"/>
          </a:p>
        </p:txBody>
      </p:sp>
      <p:sp>
        <p:nvSpPr>
          <p:cNvPr id="14" name="Shape 12"/>
          <p:cNvSpPr/>
          <p:nvPr/>
        </p:nvSpPr>
        <p:spPr>
          <a:xfrm>
            <a:off x="9966960" y="3200400"/>
            <a:ext cx="0" cy="256032"/>
          </a:xfrm>
          <a:prstGeom prst="line">
            <a:avLst/>
          </a:prstGeom>
          <a:noFill/>
          <a:ln w="19050">
            <a:solidFill>
              <a:srgbClr val="5B6B69"/>
            </a:solidFill>
            <a:prstDash val="solid"/>
            <a:tailEnd type="triangle"/>
          </a:ln>
        </p:spPr>
      </p:sp>
      <p:sp>
        <p:nvSpPr>
          <p:cNvPr id="15" name="Shape 13"/>
          <p:cNvSpPr/>
          <p:nvPr/>
        </p:nvSpPr>
        <p:spPr>
          <a:xfrm>
            <a:off x="8549640" y="3456432"/>
            <a:ext cx="2834640" cy="457200"/>
          </a:xfrm>
          <a:prstGeom prst="roundRect">
            <a:avLst>
              <a:gd name="adj" fmla="val 12000"/>
            </a:avLst>
          </a:prstGeom>
          <a:solidFill>
            <a:srgbClr val="028090"/>
          </a:solidFill>
          <a:ln/>
        </p:spPr>
      </p:sp>
      <p:sp>
        <p:nvSpPr>
          <p:cNvPr id="16" name="Text 14"/>
          <p:cNvSpPr/>
          <p:nvPr/>
        </p:nvSpPr>
        <p:spPr>
          <a:xfrm>
            <a:off x="8549640" y="3456432"/>
            <a:ext cx="28346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17" name="Shape 15"/>
          <p:cNvSpPr/>
          <p:nvPr/>
        </p:nvSpPr>
        <p:spPr>
          <a:xfrm>
            <a:off x="9966960" y="3913632"/>
            <a:ext cx="0" cy="256032"/>
          </a:xfrm>
          <a:prstGeom prst="line">
            <a:avLst/>
          </a:prstGeom>
          <a:noFill/>
          <a:ln w="19050">
            <a:solidFill>
              <a:srgbClr val="5B6B69"/>
            </a:solidFill>
            <a:prstDash val="solid"/>
            <a:tailEnd type="triangle"/>
          </a:ln>
        </p:spPr>
      </p:sp>
      <p:sp>
        <p:nvSpPr>
          <p:cNvPr id="18" name="Shape 16"/>
          <p:cNvSpPr/>
          <p:nvPr/>
        </p:nvSpPr>
        <p:spPr>
          <a:xfrm>
            <a:off x="8549640" y="4169664"/>
            <a:ext cx="2834640" cy="457200"/>
          </a:xfrm>
          <a:prstGeom prst="roundRect">
            <a:avLst>
              <a:gd name="adj" fmla="val 12000"/>
            </a:avLst>
          </a:prstGeom>
          <a:solidFill>
            <a:srgbClr val="028090"/>
          </a:solidFill>
          <a:ln/>
        </p:spPr>
      </p:sp>
      <p:sp>
        <p:nvSpPr>
          <p:cNvPr id="19" name="Text 17"/>
          <p:cNvSpPr/>
          <p:nvPr/>
        </p:nvSpPr>
        <p:spPr>
          <a:xfrm>
            <a:off x="8549640" y="4169664"/>
            <a:ext cx="28346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Backend</a:t>
            </a:r>
            <a:endParaRPr lang="en-US" sz="1200" dirty="0"/>
          </a:p>
        </p:txBody>
      </p:sp>
      <p:sp>
        <p:nvSpPr>
          <p:cNvPr id="20" name="Shape 18"/>
          <p:cNvSpPr/>
          <p:nvPr/>
        </p:nvSpPr>
        <p:spPr>
          <a:xfrm>
            <a:off x="9966960" y="4626864"/>
            <a:ext cx="0" cy="256032"/>
          </a:xfrm>
          <a:prstGeom prst="line">
            <a:avLst/>
          </a:prstGeom>
          <a:noFill/>
          <a:ln w="19050">
            <a:solidFill>
              <a:srgbClr val="5B6B69"/>
            </a:solidFill>
            <a:prstDash val="solid"/>
            <a:tailEnd type="triangle"/>
          </a:ln>
        </p:spPr>
      </p:sp>
      <p:sp>
        <p:nvSpPr>
          <p:cNvPr id="21" name="Shape 19"/>
          <p:cNvSpPr/>
          <p:nvPr/>
        </p:nvSpPr>
        <p:spPr>
          <a:xfrm>
            <a:off x="8549640" y="4882896"/>
            <a:ext cx="2834640" cy="457200"/>
          </a:xfrm>
          <a:prstGeom prst="roundRect">
            <a:avLst>
              <a:gd name="adj" fmla="val 12000"/>
            </a:avLst>
          </a:prstGeom>
          <a:solidFill>
            <a:srgbClr val="028090"/>
          </a:solidFill>
          <a:ln/>
        </p:spPr>
      </p:sp>
      <p:sp>
        <p:nvSpPr>
          <p:cNvPr id="22" name="Text 20"/>
          <p:cNvSpPr/>
          <p:nvPr/>
        </p:nvSpPr>
        <p:spPr>
          <a:xfrm>
            <a:off x="8549640" y="4882896"/>
            <a:ext cx="283464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Database</a:t>
            </a:r>
            <a:endParaRPr lang="en-US" sz="1200" dirty="0"/>
          </a:p>
        </p:txBody>
      </p:sp>
      <p:sp>
        <p:nvSpPr>
          <p:cNvPr id="23" name="Text 21"/>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24" name="Text 22"/>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lgn="l">
              <a:buNone/>
            </a:pPr>
            <a:r>
              <a:rPr lang="en-US" sz="2800" b="1" dirty="0">
                <a:solidFill>
                  <a:srgbClr val="023E40"/>
                </a:solidFill>
                <a:latin typeface="Cambria" pitchFamily="34" charset="0"/>
                <a:ea typeface="Cambria" pitchFamily="34" charset="-122"/>
                <a:cs typeface="Cambria" pitchFamily="34" charset="-120"/>
              </a:rPr>
              <a:t>Existing System Study</a:t>
            </a:r>
            <a:endParaRPr lang="en-US" sz="2800" dirty="0"/>
          </a:p>
        </p:txBody>
      </p:sp>
      <p:sp>
        <p:nvSpPr>
          <p:cNvPr id="3" name="Text 1"/>
          <p:cNvSpPr/>
          <p:nvPr/>
        </p:nvSpPr>
        <p:spPr>
          <a:xfrm>
            <a:off x="548640" y="1143000"/>
            <a:ext cx="5989320" cy="457200"/>
          </a:xfrm>
          <a:prstGeom prst="rect">
            <a:avLst/>
          </a:prstGeom>
          <a:noFill/>
          <a:ln/>
        </p:spPr>
        <p:txBody>
          <a:bodyPr wrap="square" rtlCol="0" anchor="ctr"/>
          <a:lstStyle/>
          <a:p>
            <a:pPr marL="0" indent="0">
              <a:buNone/>
            </a:pPr>
            <a:r>
              <a:rPr lang="en-US" sz="1500" dirty="0">
                <a:solidFill>
                  <a:srgbClr val="22302F"/>
                </a:solidFill>
                <a:latin typeface="Calibri" pitchFamily="34" charset="0"/>
                <a:ea typeface="Calibri" pitchFamily="34" charset="-122"/>
                <a:cs typeface="Calibri" pitchFamily="34" charset="-120"/>
              </a:rPr>
              <a:t>Existing food-delivery platforms commonly provide the following features:</a:t>
            </a:r>
            <a:endParaRPr lang="en-US" sz="1500" dirty="0"/>
          </a:p>
        </p:txBody>
      </p:sp>
      <p:sp>
        <p:nvSpPr>
          <p:cNvPr id="4" name="Shape 2"/>
          <p:cNvSpPr/>
          <p:nvPr/>
        </p:nvSpPr>
        <p:spPr>
          <a:xfrm>
            <a:off x="604626" y="1719633"/>
            <a:ext cx="2606040" cy="777240"/>
          </a:xfrm>
          <a:prstGeom prst="roundRect">
            <a:avLst>
              <a:gd name="adj" fmla="val 8235"/>
            </a:avLst>
          </a:prstGeom>
          <a:solidFill>
            <a:srgbClr val="F4F8F7"/>
          </a:solidFill>
          <a:ln w="12700">
            <a:solidFill>
              <a:srgbClr val="DCE7E5"/>
            </a:solidFill>
            <a:prstDash val="solid"/>
          </a:ln>
        </p:spPr>
      </p:sp>
      <p:sp>
        <p:nvSpPr>
          <p:cNvPr id="5" name="Text 3"/>
          <p:cNvSpPr/>
          <p:nvPr/>
        </p:nvSpPr>
        <p:spPr>
          <a:xfrm>
            <a:off x="741786" y="1719633"/>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Restaurant &amp; food discovery</a:t>
            </a:r>
            <a:endParaRPr lang="en-US" sz="1600" dirty="0"/>
          </a:p>
        </p:txBody>
      </p:sp>
      <p:sp>
        <p:nvSpPr>
          <p:cNvPr id="6" name="Shape 4"/>
          <p:cNvSpPr/>
          <p:nvPr/>
        </p:nvSpPr>
        <p:spPr>
          <a:xfrm>
            <a:off x="3347826" y="1719633"/>
            <a:ext cx="2606040" cy="777240"/>
          </a:xfrm>
          <a:prstGeom prst="roundRect">
            <a:avLst>
              <a:gd name="adj" fmla="val 8235"/>
            </a:avLst>
          </a:prstGeom>
          <a:solidFill>
            <a:srgbClr val="F4F8F7"/>
          </a:solidFill>
          <a:ln w="12700">
            <a:solidFill>
              <a:srgbClr val="DCE7E5"/>
            </a:solidFill>
            <a:prstDash val="solid"/>
          </a:ln>
        </p:spPr>
      </p:sp>
      <p:sp>
        <p:nvSpPr>
          <p:cNvPr id="7" name="Text 5"/>
          <p:cNvSpPr/>
          <p:nvPr/>
        </p:nvSpPr>
        <p:spPr>
          <a:xfrm>
            <a:off x="3484986" y="1719633"/>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Category-based browsing</a:t>
            </a:r>
            <a:endParaRPr lang="en-US" sz="1600" dirty="0"/>
          </a:p>
        </p:txBody>
      </p:sp>
      <p:sp>
        <p:nvSpPr>
          <p:cNvPr id="8" name="Shape 6"/>
          <p:cNvSpPr/>
          <p:nvPr/>
        </p:nvSpPr>
        <p:spPr>
          <a:xfrm>
            <a:off x="604626" y="2801988"/>
            <a:ext cx="2606040" cy="777240"/>
          </a:xfrm>
          <a:prstGeom prst="roundRect">
            <a:avLst>
              <a:gd name="adj" fmla="val 8235"/>
            </a:avLst>
          </a:prstGeom>
          <a:solidFill>
            <a:srgbClr val="F4F8F7"/>
          </a:solidFill>
          <a:ln w="12700">
            <a:solidFill>
              <a:srgbClr val="DCE7E5"/>
            </a:solidFill>
            <a:prstDash val="solid"/>
          </a:ln>
        </p:spPr>
      </p:sp>
      <p:sp>
        <p:nvSpPr>
          <p:cNvPr id="9" name="Text 7"/>
          <p:cNvSpPr/>
          <p:nvPr/>
        </p:nvSpPr>
        <p:spPr>
          <a:xfrm>
            <a:off x="741786" y="2801988"/>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Search</a:t>
            </a:r>
            <a:endParaRPr lang="en-US" sz="1600" dirty="0"/>
          </a:p>
        </p:txBody>
      </p:sp>
      <p:sp>
        <p:nvSpPr>
          <p:cNvPr id="10" name="Shape 8"/>
          <p:cNvSpPr/>
          <p:nvPr/>
        </p:nvSpPr>
        <p:spPr>
          <a:xfrm>
            <a:off x="3347826" y="2801988"/>
            <a:ext cx="2606040" cy="777240"/>
          </a:xfrm>
          <a:prstGeom prst="roundRect">
            <a:avLst>
              <a:gd name="adj" fmla="val 8235"/>
            </a:avLst>
          </a:prstGeom>
          <a:solidFill>
            <a:srgbClr val="F4F8F7"/>
          </a:solidFill>
          <a:ln w="12700">
            <a:solidFill>
              <a:srgbClr val="DCE7E5"/>
            </a:solidFill>
            <a:prstDash val="solid"/>
          </a:ln>
        </p:spPr>
      </p:sp>
      <p:sp>
        <p:nvSpPr>
          <p:cNvPr id="11" name="Text 9"/>
          <p:cNvSpPr/>
          <p:nvPr/>
        </p:nvSpPr>
        <p:spPr>
          <a:xfrm>
            <a:off x="3484986" y="2801988"/>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Cart and ordering</a:t>
            </a:r>
            <a:endParaRPr lang="en-US" sz="1600" dirty="0"/>
          </a:p>
        </p:txBody>
      </p:sp>
      <p:sp>
        <p:nvSpPr>
          <p:cNvPr id="12" name="Shape 10"/>
          <p:cNvSpPr/>
          <p:nvPr/>
        </p:nvSpPr>
        <p:spPr>
          <a:xfrm>
            <a:off x="604626" y="3884339"/>
            <a:ext cx="2606040" cy="777240"/>
          </a:xfrm>
          <a:prstGeom prst="roundRect">
            <a:avLst>
              <a:gd name="adj" fmla="val 8235"/>
            </a:avLst>
          </a:prstGeom>
          <a:solidFill>
            <a:srgbClr val="F4F8F7"/>
          </a:solidFill>
          <a:ln w="12700">
            <a:solidFill>
              <a:srgbClr val="DCE7E5"/>
            </a:solidFill>
            <a:prstDash val="solid"/>
          </a:ln>
        </p:spPr>
      </p:sp>
      <p:sp>
        <p:nvSpPr>
          <p:cNvPr id="13" name="Text 11"/>
          <p:cNvSpPr/>
          <p:nvPr/>
        </p:nvSpPr>
        <p:spPr>
          <a:xfrm>
            <a:off x="741786" y="3884339"/>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Offers</a:t>
            </a:r>
            <a:endParaRPr lang="en-US" sz="1600" dirty="0"/>
          </a:p>
        </p:txBody>
      </p:sp>
      <p:sp>
        <p:nvSpPr>
          <p:cNvPr id="14" name="Shape 12"/>
          <p:cNvSpPr/>
          <p:nvPr/>
        </p:nvSpPr>
        <p:spPr>
          <a:xfrm>
            <a:off x="3347826" y="3893670"/>
            <a:ext cx="2606040" cy="777240"/>
          </a:xfrm>
          <a:prstGeom prst="roundRect">
            <a:avLst>
              <a:gd name="adj" fmla="val 8235"/>
            </a:avLst>
          </a:prstGeom>
          <a:solidFill>
            <a:srgbClr val="F4F8F7"/>
          </a:solidFill>
          <a:ln w="12700">
            <a:solidFill>
              <a:srgbClr val="DCE7E5"/>
            </a:solidFill>
            <a:prstDash val="solid"/>
          </a:ln>
        </p:spPr>
      </p:sp>
      <p:sp>
        <p:nvSpPr>
          <p:cNvPr id="15" name="Text 13"/>
          <p:cNvSpPr/>
          <p:nvPr/>
        </p:nvSpPr>
        <p:spPr>
          <a:xfrm>
            <a:off x="3484986" y="3887144"/>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User accounts</a:t>
            </a:r>
            <a:endParaRPr lang="en-US" sz="1600" dirty="0"/>
          </a:p>
        </p:txBody>
      </p:sp>
      <p:sp>
        <p:nvSpPr>
          <p:cNvPr id="16" name="Shape 14"/>
          <p:cNvSpPr/>
          <p:nvPr/>
        </p:nvSpPr>
        <p:spPr>
          <a:xfrm>
            <a:off x="604626" y="4948029"/>
            <a:ext cx="2606040" cy="777240"/>
          </a:xfrm>
          <a:prstGeom prst="roundRect">
            <a:avLst>
              <a:gd name="adj" fmla="val 8235"/>
            </a:avLst>
          </a:prstGeom>
          <a:solidFill>
            <a:srgbClr val="F4F8F7"/>
          </a:solidFill>
          <a:ln w="12700">
            <a:solidFill>
              <a:srgbClr val="DCE7E5"/>
            </a:solidFill>
            <a:prstDash val="solid"/>
          </a:ln>
        </p:spPr>
      </p:sp>
      <p:sp>
        <p:nvSpPr>
          <p:cNvPr id="17" name="Text 15"/>
          <p:cNvSpPr/>
          <p:nvPr/>
        </p:nvSpPr>
        <p:spPr>
          <a:xfrm>
            <a:off x="741786" y="4948029"/>
            <a:ext cx="2331720" cy="777240"/>
          </a:xfrm>
          <a:prstGeom prst="rect">
            <a:avLst/>
          </a:prstGeom>
          <a:noFill/>
          <a:ln/>
        </p:spPr>
        <p:txBody>
          <a:bodyPr wrap="square" rtlCol="0" anchor="ctr"/>
          <a:lstStyle/>
          <a:p>
            <a:pPr marL="0" indent="0">
              <a:buNone/>
            </a:pPr>
            <a:r>
              <a:rPr lang="en-US" sz="1600" b="1" dirty="0">
                <a:solidFill>
                  <a:srgbClr val="22302F"/>
                </a:solidFill>
                <a:latin typeface="Calibri" pitchFamily="34" charset="0"/>
                <a:ea typeface="Calibri" pitchFamily="34" charset="-122"/>
                <a:cs typeface="Calibri" pitchFamily="34" charset="-120"/>
              </a:rPr>
              <a:t>Order tracking</a:t>
            </a:r>
            <a:endParaRPr lang="en-US" sz="1600" dirty="0"/>
          </a:p>
        </p:txBody>
      </p:sp>
      <p:sp>
        <p:nvSpPr>
          <p:cNvPr id="20" name="Shape 18"/>
          <p:cNvSpPr/>
          <p:nvPr/>
        </p:nvSpPr>
        <p:spPr>
          <a:xfrm>
            <a:off x="6537960" y="1143000"/>
            <a:ext cx="5074920" cy="4937760"/>
          </a:xfrm>
          <a:prstGeom prst="roundRect">
            <a:avLst>
              <a:gd name="adj" fmla="val 1852"/>
            </a:avLst>
          </a:prstGeom>
          <a:solidFill>
            <a:srgbClr val="F4F8F7"/>
          </a:solidFill>
          <a:ln w="12700">
            <a:solidFill>
              <a:srgbClr val="DCE7E5"/>
            </a:solidFill>
            <a:prstDash val="solid"/>
          </a:ln>
        </p:spPr>
      </p:sp>
      <p:sp>
        <p:nvSpPr>
          <p:cNvPr id="21" name="Text 19"/>
          <p:cNvSpPr/>
          <p:nvPr/>
        </p:nvSpPr>
        <p:spPr>
          <a:xfrm>
            <a:off x="6537960" y="1325880"/>
            <a:ext cx="5074920" cy="320040"/>
          </a:xfrm>
          <a:prstGeom prst="rect">
            <a:avLst/>
          </a:prstGeom>
          <a:noFill/>
          <a:ln/>
        </p:spPr>
        <p:txBody>
          <a:bodyPr wrap="square" rtlCol="0" anchor="ctr"/>
          <a:lstStyle/>
          <a:p>
            <a:pPr marL="0" indent="0" algn="ctr">
              <a:buNone/>
            </a:pPr>
            <a:r>
              <a:rPr lang="en-US" sz="1600" b="1" kern="0" spc="100" dirty="0">
                <a:solidFill>
                  <a:srgbClr val="5B6B69"/>
                </a:solidFill>
                <a:latin typeface="Calibri" pitchFamily="34" charset="0"/>
                <a:ea typeface="Calibri" pitchFamily="34" charset="-122"/>
                <a:cs typeface="Calibri" pitchFamily="34" charset="-120"/>
              </a:rPr>
              <a:t>FROM STUDY TO DESIGN</a:t>
            </a:r>
            <a:endParaRPr lang="en-US" sz="1600" dirty="0"/>
          </a:p>
        </p:txBody>
      </p:sp>
      <p:sp>
        <p:nvSpPr>
          <p:cNvPr id="22" name="Shape 20"/>
          <p:cNvSpPr/>
          <p:nvPr/>
        </p:nvSpPr>
        <p:spPr>
          <a:xfrm>
            <a:off x="7292340" y="1920240"/>
            <a:ext cx="3566160" cy="621792"/>
          </a:xfrm>
          <a:prstGeom prst="roundRect">
            <a:avLst>
              <a:gd name="adj" fmla="val 11765"/>
            </a:avLst>
          </a:prstGeom>
          <a:solidFill>
            <a:srgbClr val="028090"/>
          </a:solidFill>
          <a:ln/>
        </p:spPr>
      </p:sp>
      <p:sp>
        <p:nvSpPr>
          <p:cNvPr id="23" name="Text 21"/>
          <p:cNvSpPr/>
          <p:nvPr/>
        </p:nvSpPr>
        <p:spPr>
          <a:xfrm>
            <a:off x="7383780" y="1920240"/>
            <a:ext cx="3383280" cy="62179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Existing Food Ordering Platforms</a:t>
            </a:r>
            <a:endParaRPr lang="en-US" sz="1600" dirty="0"/>
          </a:p>
        </p:txBody>
      </p:sp>
      <p:sp>
        <p:nvSpPr>
          <p:cNvPr id="24" name="Shape 22"/>
          <p:cNvSpPr/>
          <p:nvPr/>
        </p:nvSpPr>
        <p:spPr>
          <a:xfrm>
            <a:off x="9075420" y="2542032"/>
            <a:ext cx="0" cy="310896"/>
          </a:xfrm>
          <a:prstGeom prst="line">
            <a:avLst/>
          </a:prstGeom>
          <a:noFill/>
          <a:ln w="19050">
            <a:solidFill>
              <a:srgbClr val="5B6B69"/>
            </a:solidFill>
            <a:prstDash val="solid"/>
            <a:tailEnd type="triangle"/>
          </a:ln>
        </p:spPr>
      </p:sp>
      <p:sp>
        <p:nvSpPr>
          <p:cNvPr id="25" name="Shape 23"/>
          <p:cNvSpPr/>
          <p:nvPr/>
        </p:nvSpPr>
        <p:spPr>
          <a:xfrm>
            <a:off x="7292340" y="2852928"/>
            <a:ext cx="3566160" cy="621792"/>
          </a:xfrm>
          <a:prstGeom prst="roundRect">
            <a:avLst>
              <a:gd name="adj" fmla="val 11765"/>
            </a:avLst>
          </a:prstGeom>
          <a:solidFill>
            <a:srgbClr val="028090"/>
          </a:solidFill>
          <a:ln/>
        </p:spPr>
      </p:sp>
      <p:sp>
        <p:nvSpPr>
          <p:cNvPr id="26" name="Text 24"/>
          <p:cNvSpPr/>
          <p:nvPr/>
        </p:nvSpPr>
        <p:spPr>
          <a:xfrm>
            <a:off x="7383780" y="2852928"/>
            <a:ext cx="3383280" cy="62179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Study Features &amp; User Flow</a:t>
            </a:r>
            <a:endParaRPr lang="en-US" sz="1600" dirty="0"/>
          </a:p>
        </p:txBody>
      </p:sp>
      <p:sp>
        <p:nvSpPr>
          <p:cNvPr id="27" name="Shape 25"/>
          <p:cNvSpPr/>
          <p:nvPr/>
        </p:nvSpPr>
        <p:spPr>
          <a:xfrm>
            <a:off x="9075420" y="3474720"/>
            <a:ext cx="0" cy="310896"/>
          </a:xfrm>
          <a:prstGeom prst="line">
            <a:avLst/>
          </a:prstGeom>
          <a:noFill/>
          <a:ln w="19050">
            <a:solidFill>
              <a:srgbClr val="5B6B69"/>
            </a:solidFill>
            <a:prstDash val="solid"/>
            <a:tailEnd type="triangle"/>
          </a:ln>
        </p:spPr>
      </p:sp>
      <p:sp>
        <p:nvSpPr>
          <p:cNvPr id="28" name="Shape 26"/>
          <p:cNvSpPr/>
          <p:nvPr/>
        </p:nvSpPr>
        <p:spPr>
          <a:xfrm>
            <a:off x="7292340" y="3785616"/>
            <a:ext cx="3566160" cy="621792"/>
          </a:xfrm>
          <a:prstGeom prst="roundRect">
            <a:avLst>
              <a:gd name="adj" fmla="val 11765"/>
            </a:avLst>
          </a:prstGeom>
          <a:solidFill>
            <a:srgbClr val="028090"/>
          </a:solidFill>
          <a:ln/>
        </p:spPr>
      </p:sp>
      <p:sp>
        <p:nvSpPr>
          <p:cNvPr id="29" name="Text 27"/>
          <p:cNvSpPr/>
          <p:nvPr/>
        </p:nvSpPr>
        <p:spPr>
          <a:xfrm>
            <a:off x="7383780" y="3785616"/>
            <a:ext cx="3383280" cy="62179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Identify Requirements</a:t>
            </a:r>
            <a:endParaRPr lang="en-US" sz="1600" dirty="0"/>
          </a:p>
        </p:txBody>
      </p:sp>
      <p:sp>
        <p:nvSpPr>
          <p:cNvPr id="30" name="Shape 28"/>
          <p:cNvSpPr/>
          <p:nvPr/>
        </p:nvSpPr>
        <p:spPr>
          <a:xfrm>
            <a:off x="9075420" y="4407408"/>
            <a:ext cx="0" cy="310896"/>
          </a:xfrm>
          <a:prstGeom prst="line">
            <a:avLst/>
          </a:prstGeom>
          <a:noFill/>
          <a:ln w="19050">
            <a:solidFill>
              <a:srgbClr val="5B6B69"/>
            </a:solidFill>
            <a:prstDash val="solid"/>
            <a:tailEnd type="triangle"/>
          </a:ln>
        </p:spPr>
      </p:sp>
      <p:sp>
        <p:nvSpPr>
          <p:cNvPr id="31" name="Shape 29"/>
          <p:cNvSpPr/>
          <p:nvPr/>
        </p:nvSpPr>
        <p:spPr>
          <a:xfrm>
            <a:off x="7292340" y="4718304"/>
            <a:ext cx="3566160" cy="621792"/>
          </a:xfrm>
          <a:prstGeom prst="roundRect">
            <a:avLst>
              <a:gd name="adj" fmla="val 11765"/>
            </a:avLst>
          </a:prstGeom>
          <a:solidFill>
            <a:srgbClr val="F77F00"/>
          </a:solidFill>
          <a:ln/>
        </p:spPr>
      </p:sp>
      <p:sp>
        <p:nvSpPr>
          <p:cNvPr id="32" name="Text 30"/>
          <p:cNvSpPr/>
          <p:nvPr/>
        </p:nvSpPr>
        <p:spPr>
          <a:xfrm>
            <a:off x="7383780" y="4718304"/>
            <a:ext cx="3383280" cy="62179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Design QuickBite</a:t>
            </a:r>
            <a:endParaRPr lang="en-US" sz="1600" dirty="0"/>
          </a:p>
        </p:txBody>
      </p:sp>
      <p:sp>
        <p:nvSpPr>
          <p:cNvPr id="33" name="Text 31"/>
          <p:cNvSpPr/>
          <p:nvPr/>
        </p:nvSpPr>
        <p:spPr>
          <a:xfrm>
            <a:off x="6858000" y="5532120"/>
            <a:ext cx="4434840" cy="502920"/>
          </a:xfrm>
          <a:prstGeom prst="rect">
            <a:avLst/>
          </a:prstGeom>
          <a:noFill/>
          <a:ln/>
        </p:spPr>
        <p:txBody>
          <a:bodyPr wrap="square" rtlCol="0" anchor="ctr"/>
          <a:lstStyle/>
          <a:p>
            <a:pPr marL="0" indent="0" algn="ctr">
              <a:buNone/>
            </a:pPr>
            <a:r>
              <a:rPr lang="en-US" sz="1000" i="1" dirty="0">
                <a:solidFill>
                  <a:srgbClr val="5B6B69"/>
                </a:solidFill>
                <a:latin typeface="Calibri" pitchFamily="34" charset="0"/>
                <a:ea typeface="Calibri" pitchFamily="34" charset="-122"/>
                <a:cs typeface="Calibri" pitchFamily="34" charset="-120"/>
              </a:rPr>
              <a:t>From studying existing platforms, we identified common design patterns and functional requirements adapted into a smaller academic learning project.</a:t>
            </a:r>
            <a:endParaRPr lang="en-US" sz="1000" dirty="0"/>
          </a:p>
        </p:txBody>
      </p:sp>
      <p:sp>
        <p:nvSpPr>
          <p:cNvPr id="34" name="Text 32"/>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35" name="Text 33"/>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4867" y="329371"/>
            <a:ext cx="11064240" cy="640080"/>
          </a:xfrm>
          <a:prstGeom prst="rect">
            <a:avLst/>
          </a:prstGeom>
          <a:noFill/>
          <a:ln/>
        </p:spPr>
        <p:txBody>
          <a:bodyPr wrap="square" rtlCol="0" anchor="ctr"/>
          <a:lstStyle/>
          <a:p>
            <a:pPr marL="0" indent="0" algn="l">
              <a:buNone/>
            </a:pPr>
            <a:r>
              <a:rPr lang="en-US" sz="2800" b="1" dirty="0">
                <a:solidFill>
                  <a:srgbClr val="023E40"/>
                </a:solidFill>
                <a:latin typeface="Cambria" pitchFamily="34" charset="0"/>
                <a:ea typeface="Cambria" pitchFamily="34" charset="-122"/>
                <a:cs typeface="Cambria" pitchFamily="34" charset="-120"/>
              </a:rPr>
              <a:t>Proposed Solution &amp; System Design</a:t>
            </a:r>
            <a:endParaRPr lang="en-US" sz="2800" dirty="0"/>
          </a:p>
        </p:txBody>
      </p:sp>
      <p:sp>
        <p:nvSpPr>
          <p:cNvPr id="3" name="Text 1"/>
          <p:cNvSpPr/>
          <p:nvPr/>
        </p:nvSpPr>
        <p:spPr>
          <a:xfrm>
            <a:off x="454867" y="1023195"/>
            <a:ext cx="4368593" cy="457200"/>
          </a:xfrm>
          <a:prstGeom prst="rect">
            <a:avLst/>
          </a:prstGeom>
          <a:noFill/>
          <a:ln/>
        </p:spPr>
        <p:txBody>
          <a:bodyPr wrap="square" rtlCol="0" anchor="t"/>
          <a:lstStyle/>
          <a:p>
            <a:pPr marL="0" indent="0">
              <a:buNone/>
            </a:pPr>
            <a:r>
              <a:rPr lang="en-US" dirty="0">
                <a:solidFill>
                  <a:srgbClr val="22302F"/>
                </a:solidFill>
                <a:latin typeface="Calibri" pitchFamily="34" charset="0"/>
                <a:ea typeface="Calibri" pitchFamily="34" charset="-122"/>
                <a:cs typeface="Calibri" pitchFamily="34" charset="-120"/>
              </a:rPr>
              <a:t>QuickBite provides a centralized web interface where users can:</a:t>
            </a:r>
            <a:endParaRPr lang="en-US" dirty="0"/>
          </a:p>
        </p:txBody>
      </p:sp>
      <p:sp>
        <p:nvSpPr>
          <p:cNvPr id="4" name="Text 2"/>
          <p:cNvSpPr/>
          <p:nvPr/>
        </p:nvSpPr>
        <p:spPr>
          <a:xfrm>
            <a:off x="457200" y="1700971"/>
            <a:ext cx="4114800" cy="2537460"/>
          </a:xfrm>
          <a:prstGeom prst="rect">
            <a:avLst/>
          </a:prstGeom>
          <a:noFill/>
          <a:ln/>
        </p:spPr>
        <p:txBody>
          <a:bodyPr wrap="square" rtlCol="0" anchor="t"/>
          <a:lstStyle/>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Register / Login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Browse food categories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Search and filter food</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Open food details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Add items to wishlist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Add items to cart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Place orders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View order information</a:t>
            </a:r>
            <a:endParaRPr lang="en-US" sz="1600" dirty="0"/>
          </a:p>
        </p:txBody>
      </p:sp>
      <p:sp>
        <p:nvSpPr>
          <p:cNvPr id="5" name="Shape 3"/>
          <p:cNvSpPr/>
          <p:nvPr/>
        </p:nvSpPr>
        <p:spPr>
          <a:xfrm>
            <a:off x="457200" y="4251960"/>
            <a:ext cx="4114800" cy="1920240"/>
          </a:xfrm>
          <a:prstGeom prst="roundRect">
            <a:avLst>
              <a:gd name="adj" fmla="val 3810"/>
            </a:avLst>
          </a:prstGeom>
          <a:solidFill>
            <a:srgbClr val="F4F8F7"/>
          </a:solidFill>
          <a:ln w="12700">
            <a:solidFill>
              <a:srgbClr val="DCE7E5"/>
            </a:solidFill>
            <a:prstDash val="solid"/>
          </a:ln>
        </p:spPr>
      </p:sp>
      <p:sp>
        <p:nvSpPr>
          <p:cNvPr id="6" name="Text 4"/>
          <p:cNvSpPr/>
          <p:nvPr/>
        </p:nvSpPr>
        <p:spPr>
          <a:xfrm>
            <a:off x="640080" y="4336126"/>
            <a:ext cx="3749040" cy="274320"/>
          </a:xfrm>
          <a:prstGeom prst="rect">
            <a:avLst/>
          </a:prstGeom>
          <a:noFill/>
          <a:ln/>
        </p:spPr>
        <p:txBody>
          <a:bodyPr wrap="square" rtlCol="0" anchor="ctr"/>
          <a:lstStyle/>
          <a:p>
            <a:pPr marL="0" indent="0">
              <a:buNone/>
            </a:pPr>
            <a:r>
              <a:rPr lang="en-US" sz="1500" b="1" kern="0" spc="100" dirty="0">
                <a:solidFill>
                  <a:srgbClr val="5B6B69"/>
                </a:solidFill>
                <a:latin typeface="Calibri" pitchFamily="34" charset="0"/>
                <a:ea typeface="Calibri" pitchFamily="34" charset="-122"/>
                <a:cs typeface="Calibri" pitchFamily="34" charset="-120"/>
              </a:rPr>
              <a:t>TECHNOLOGIES</a:t>
            </a:r>
            <a:endParaRPr lang="en-US" sz="1500" dirty="0"/>
          </a:p>
        </p:txBody>
      </p:sp>
      <p:sp>
        <p:nvSpPr>
          <p:cNvPr id="7" name="Text 5"/>
          <p:cNvSpPr/>
          <p:nvPr/>
        </p:nvSpPr>
        <p:spPr>
          <a:xfrm>
            <a:off x="640080" y="4656166"/>
            <a:ext cx="3749040" cy="1371600"/>
          </a:xfrm>
          <a:prstGeom prst="rect">
            <a:avLst/>
          </a:prstGeom>
          <a:noFill/>
          <a:ln/>
        </p:spPr>
        <p:txBody>
          <a:bodyPr wrap="square" rtlCol="0" anchor="t"/>
          <a:lstStyle/>
          <a:p>
            <a:pPr marL="0" indent="0">
              <a:spcAft>
                <a:spcPts val="800"/>
              </a:spcAft>
              <a:buNone/>
            </a:pPr>
            <a:r>
              <a:rPr lang="en-US" sz="1700" b="1" dirty="0">
                <a:solidFill>
                  <a:srgbClr val="023E40"/>
                </a:solidFill>
                <a:latin typeface="Calibri" pitchFamily="34" charset="0"/>
                <a:ea typeface="Calibri" pitchFamily="34" charset="-122"/>
                <a:cs typeface="Calibri" pitchFamily="34" charset="-120"/>
              </a:rPr>
              <a:t>Frontend:</a:t>
            </a:r>
            <a:r>
              <a:rPr lang="en-US" sz="1400" b="1" dirty="0">
                <a:solidFill>
                  <a:srgbClr val="023E40"/>
                </a:solidFill>
                <a:latin typeface="Calibri" pitchFamily="34" charset="0"/>
                <a:ea typeface="Calibri" pitchFamily="34" charset="-122"/>
                <a:cs typeface="Calibri" pitchFamily="34" charset="-120"/>
              </a:rPr>
              <a:t>  </a:t>
            </a:r>
            <a:r>
              <a:rPr lang="en-US" sz="1600" dirty="0">
                <a:solidFill>
                  <a:srgbClr val="22302F"/>
                </a:solidFill>
                <a:latin typeface="Calibri" pitchFamily="34" charset="0"/>
                <a:ea typeface="Calibri" pitchFamily="34" charset="-122"/>
                <a:cs typeface="Calibri" pitchFamily="34" charset="-120"/>
              </a:rPr>
              <a:t>HTML, CSS, JavaScript</a:t>
            </a:r>
            <a:endParaRPr lang="en-US" sz="1600" dirty="0"/>
          </a:p>
          <a:p>
            <a:pPr marL="0" indent="0">
              <a:spcAft>
                <a:spcPts val="800"/>
              </a:spcAft>
              <a:buNone/>
            </a:pPr>
            <a:r>
              <a:rPr lang="en-US" sz="1700" b="1" dirty="0">
                <a:solidFill>
                  <a:srgbClr val="023E40"/>
                </a:solidFill>
                <a:latin typeface="Calibri" pitchFamily="34" charset="0"/>
                <a:ea typeface="Calibri" pitchFamily="34" charset="-122"/>
                <a:cs typeface="Calibri" pitchFamily="34" charset="-120"/>
              </a:rPr>
              <a:t>Backend:  </a:t>
            </a:r>
            <a:r>
              <a:rPr lang="en-US" sz="1600" dirty="0">
                <a:solidFill>
                  <a:srgbClr val="22302F"/>
                </a:solidFill>
                <a:latin typeface="Calibri" pitchFamily="34" charset="0"/>
                <a:ea typeface="Calibri" pitchFamily="34" charset="-122"/>
                <a:cs typeface="Calibri" pitchFamily="34" charset="-120"/>
              </a:rPr>
              <a:t>Node.js / Express.js</a:t>
            </a:r>
            <a:endParaRPr lang="en-US" sz="1600" dirty="0"/>
          </a:p>
          <a:p>
            <a:pPr marL="0" indent="0">
              <a:spcAft>
                <a:spcPts val="800"/>
              </a:spcAft>
              <a:buNone/>
            </a:pPr>
            <a:r>
              <a:rPr lang="en-US" sz="1700" b="1" dirty="0">
                <a:solidFill>
                  <a:srgbClr val="023E40"/>
                </a:solidFill>
                <a:latin typeface="Calibri" pitchFamily="34" charset="0"/>
                <a:ea typeface="Calibri" pitchFamily="34" charset="-122"/>
                <a:cs typeface="Calibri" pitchFamily="34" charset="-120"/>
              </a:rPr>
              <a:t>Database:</a:t>
            </a:r>
            <a:r>
              <a:rPr lang="en-US" sz="1400" b="1" dirty="0">
                <a:solidFill>
                  <a:srgbClr val="023E40"/>
                </a:solidFill>
                <a:latin typeface="Calibri" pitchFamily="34" charset="0"/>
                <a:ea typeface="Calibri" pitchFamily="34" charset="-122"/>
                <a:cs typeface="Calibri" pitchFamily="34" charset="-120"/>
              </a:rPr>
              <a:t>  </a:t>
            </a:r>
            <a:r>
              <a:rPr lang="en-US" sz="1600" dirty="0">
                <a:solidFill>
                  <a:srgbClr val="22302F"/>
                </a:solidFill>
                <a:latin typeface="Calibri" pitchFamily="34" charset="0"/>
                <a:ea typeface="Calibri" pitchFamily="34" charset="-122"/>
                <a:cs typeface="Calibri" pitchFamily="34" charset="-120"/>
              </a:rPr>
              <a:t>SQLite (project database)</a:t>
            </a:r>
            <a:endParaRPr lang="en-US" sz="1600" dirty="0"/>
          </a:p>
        </p:txBody>
      </p:sp>
      <p:sp>
        <p:nvSpPr>
          <p:cNvPr id="8" name="Shape 6"/>
          <p:cNvSpPr/>
          <p:nvPr/>
        </p:nvSpPr>
        <p:spPr>
          <a:xfrm>
            <a:off x="5074920" y="1051560"/>
            <a:ext cx="6537960" cy="5120640"/>
          </a:xfrm>
          <a:prstGeom prst="roundRect">
            <a:avLst>
              <a:gd name="adj" fmla="val 1786"/>
            </a:avLst>
          </a:prstGeom>
          <a:solidFill>
            <a:srgbClr val="F4F8F7"/>
          </a:solidFill>
          <a:ln w="12700">
            <a:solidFill>
              <a:srgbClr val="DCE7E5"/>
            </a:solidFill>
            <a:prstDash val="solid"/>
          </a:ln>
        </p:spPr>
      </p:sp>
      <p:sp>
        <p:nvSpPr>
          <p:cNvPr id="9" name="Text 7"/>
          <p:cNvSpPr/>
          <p:nvPr/>
        </p:nvSpPr>
        <p:spPr>
          <a:xfrm>
            <a:off x="5074920" y="1161288"/>
            <a:ext cx="6537960" cy="274320"/>
          </a:xfrm>
          <a:prstGeom prst="rect">
            <a:avLst/>
          </a:prstGeom>
          <a:noFill/>
          <a:ln/>
        </p:spPr>
        <p:txBody>
          <a:bodyPr wrap="square" rtlCol="0" anchor="ctr"/>
          <a:lstStyle/>
          <a:p>
            <a:pPr marL="0" indent="0" algn="ctr">
              <a:buNone/>
            </a:pPr>
            <a:r>
              <a:rPr lang="en-US" sz="2400" b="1" kern="0" spc="100" dirty="0">
                <a:solidFill>
                  <a:srgbClr val="5B6B69"/>
                </a:solidFill>
                <a:latin typeface="Calibri" pitchFamily="34" charset="0"/>
                <a:ea typeface="Calibri" pitchFamily="34" charset="-122"/>
                <a:cs typeface="Calibri" pitchFamily="34" charset="-120"/>
              </a:rPr>
              <a:t>SYSTEM ARCHITECTURE</a:t>
            </a:r>
            <a:endParaRPr lang="en-US" sz="2400" dirty="0"/>
          </a:p>
        </p:txBody>
      </p:sp>
      <p:sp>
        <p:nvSpPr>
          <p:cNvPr id="10" name="Shape 8"/>
          <p:cNvSpPr/>
          <p:nvPr/>
        </p:nvSpPr>
        <p:spPr>
          <a:xfrm>
            <a:off x="7246620" y="1554480"/>
            <a:ext cx="2194560" cy="502920"/>
          </a:xfrm>
          <a:prstGeom prst="roundRect">
            <a:avLst>
              <a:gd name="adj" fmla="val 12727"/>
            </a:avLst>
          </a:prstGeom>
          <a:solidFill>
            <a:srgbClr val="023E40"/>
          </a:solidFill>
          <a:ln/>
        </p:spPr>
      </p:sp>
      <p:sp>
        <p:nvSpPr>
          <p:cNvPr id="11" name="Text 9"/>
          <p:cNvSpPr/>
          <p:nvPr/>
        </p:nvSpPr>
        <p:spPr>
          <a:xfrm>
            <a:off x="7246620" y="1554480"/>
            <a:ext cx="219456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QUICKBITE</a:t>
            </a:r>
            <a:endParaRPr lang="en-US" sz="2000" dirty="0"/>
          </a:p>
        </p:txBody>
      </p:sp>
      <p:sp>
        <p:nvSpPr>
          <p:cNvPr id="12" name="Shape 10"/>
          <p:cNvSpPr/>
          <p:nvPr/>
        </p:nvSpPr>
        <p:spPr>
          <a:xfrm>
            <a:off x="8343900" y="2057400"/>
            <a:ext cx="0" cy="292608"/>
          </a:xfrm>
          <a:prstGeom prst="line">
            <a:avLst/>
          </a:prstGeom>
          <a:noFill/>
          <a:ln w="19050">
            <a:solidFill>
              <a:srgbClr val="5B6B69"/>
            </a:solidFill>
            <a:prstDash val="solid"/>
          </a:ln>
        </p:spPr>
      </p:sp>
      <p:sp>
        <p:nvSpPr>
          <p:cNvPr id="13" name="Shape 11"/>
          <p:cNvSpPr/>
          <p:nvPr/>
        </p:nvSpPr>
        <p:spPr>
          <a:xfrm>
            <a:off x="6309360" y="2350008"/>
            <a:ext cx="4069080" cy="0"/>
          </a:xfrm>
          <a:prstGeom prst="line">
            <a:avLst/>
          </a:prstGeom>
          <a:noFill/>
          <a:ln w="19050">
            <a:solidFill>
              <a:srgbClr val="5B6B69"/>
            </a:solidFill>
            <a:prstDash val="solid"/>
          </a:ln>
        </p:spPr>
      </p:sp>
      <p:sp>
        <p:nvSpPr>
          <p:cNvPr id="14" name="Shape 12"/>
          <p:cNvSpPr/>
          <p:nvPr/>
        </p:nvSpPr>
        <p:spPr>
          <a:xfrm>
            <a:off x="6309360" y="2350008"/>
            <a:ext cx="0" cy="219456"/>
          </a:xfrm>
          <a:prstGeom prst="line">
            <a:avLst/>
          </a:prstGeom>
          <a:noFill/>
          <a:ln w="19050">
            <a:solidFill>
              <a:srgbClr val="5B6B69"/>
            </a:solidFill>
            <a:prstDash val="solid"/>
            <a:tailEnd type="triangle"/>
          </a:ln>
        </p:spPr>
      </p:sp>
      <p:sp>
        <p:nvSpPr>
          <p:cNvPr id="15" name="Shape 13"/>
          <p:cNvSpPr/>
          <p:nvPr/>
        </p:nvSpPr>
        <p:spPr>
          <a:xfrm>
            <a:off x="5440680" y="2569464"/>
            <a:ext cx="1737360" cy="457200"/>
          </a:xfrm>
          <a:prstGeom prst="roundRect">
            <a:avLst>
              <a:gd name="adj" fmla="val 12000"/>
            </a:avLst>
          </a:prstGeom>
          <a:solidFill>
            <a:srgbClr val="028090"/>
          </a:solidFill>
          <a:ln/>
        </p:spPr>
      </p:sp>
      <p:sp>
        <p:nvSpPr>
          <p:cNvPr id="16" name="Text 14"/>
          <p:cNvSpPr/>
          <p:nvPr/>
        </p:nvSpPr>
        <p:spPr>
          <a:xfrm>
            <a:off x="5440680" y="2569464"/>
            <a:ext cx="173736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USER</a:t>
            </a:r>
            <a:endParaRPr lang="en-US" sz="2000" dirty="0"/>
          </a:p>
        </p:txBody>
      </p:sp>
      <p:sp>
        <p:nvSpPr>
          <p:cNvPr id="17" name="Shape 15"/>
          <p:cNvSpPr/>
          <p:nvPr/>
        </p:nvSpPr>
        <p:spPr>
          <a:xfrm>
            <a:off x="8343900" y="2350008"/>
            <a:ext cx="0" cy="219456"/>
          </a:xfrm>
          <a:prstGeom prst="line">
            <a:avLst/>
          </a:prstGeom>
          <a:noFill/>
          <a:ln w="19050">
            <a:solidFill>
              <a:srgbClr val="5B6B69"/>
            </a:solidFill>
            <a:prstDash val="solid"/>
            <a:tailEnd type="triangle"/>
          </a:ln>
        </p:spPr>
      </p:sp>
      <p:sp>
        <p:nvSpPr>
          <p:cNvPr id="18" name="Shape 16"/>
          <p:cNvSpPr/>
          <p:nvPr/>
        </p:nvSpPr>
        <p:spPr>
          <a:xfrm>
            <a:off x="7475220" y="2569464"/>
            <a:ext cx="1737360" cy="457200"/>
          </a:xfrm>
          <a:prstGeom prst="roundRect">
            <a:avLst>
              <a:gd name="adj" fmla="val 12000"/>
            </a:avLst>
          </a:prstGeom>
          <a:solidFill>
            <a:srgbClr val="028090"/>
          </a:solidFill>
          <a:ln/>
        </p:spPr>
      </p:sp>
      <p:sp>
        <p:nvSpPr>
          <p:cNvPr id="19" name="Text 17"/>
          <p:cNvSpPr/>
          <p:nvPr/>
        </p:nvSpPr>
        <p:spPr>
          <a:xfrm>
            <a:off x="7475220" y="2569464"/>
            <a:ext cx="173736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ADMIN</a:t>
            </a:r>
            <a:endParaRPr lang="en-US" sz="2000" dirty="0"/>
          </a:p>
        </p:txBody>
      </p:sp>
      <p:sp>
        <p:nvSpPr>
          <p:cNvPr id="20" name="Shape 18"/>
          <p:cNvSpPr/>
          <p:nvPr/>
        </p:nvSpPr>
        <p:spPr>
          <a:xfrm>
            <a:off x="10378440" y="2350008"/>
            <a:ext cx="0" cy="219456"/>
          </a:xfrm>
          <a:prstGeom prst="line">
            <a:avLst/>
          </a:prstGeom>
          <a:noFill/>
          <a:ln w="19050">
            <a:solidFill>
              <a:srgbClr val="5B6B69"/>
            </a:solidFill>
            <a:prstDash val="solid"/>
            <a:tailEnd type="triangle"/>
          </a:ln>
        </p:spPr>
      </p:sp>
      <p:sp>
        <p:nvSpPr>
          <p:cNvPr id="21" name="Shape 19"/>
          <p:cNvSpPr/>
          <p:nvPr/>
        </p:nvSpPr>
        <p:spPr>
          <a:xfrm>
            <a:off x="9509760" y="2569464"/>
            <a:ext cx="1737360" cy="457200"/>
          </a:xfrm>
          <a:prstGeom prst="roundRect">
            <a:avLst>
              <a:gd name="adj" fmla="val 12000"/>
            </a:avLst>
          </a:prstGeom>
          <a:solidFill>
            <a:srgbClr val="F77F00"/>
          </a:solidFill>
          <a:ln/>
        </p:spPr>
      </p:sp>
      <p:sp>
        <p:nvSpPr>
          <p:cNvPr id="22" name="Text 20"/>
          <p:cNvSpPr/>
          <p:nvPr/>
        </p:nvSpPr>
        <p:spPr>
          <a:xfrm>
            <a:off x="9509760" y="2569464"/>
            <a:ext cx="173736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DATABASE</a:t>
            </a:r>
            <a:endParaRPr lang="en-US" sz="2000" dirty="0"/>
          </a:p>
        </p:txBody>
      </p:sp>
      <p:sp>
        <p:nvSpPr>
          <p:cNvPr id="23" name="Shape 21"/>
          <p:cNvSpPr/>
          <p:nvPr/>
        </p:nvSpPr>
        <p:spPr>
          <a:xfrm>
            <a:off x="5440680" y="3227832"/>
            <a:ext cx="1737360" cy="365760"/>
          </a:xfrm>
          <a:prstGeom prst="roundRect">
            <a:avLst>
              <a:gd name="adj" fmla="val 12500"/>
            </a:avLst>
          </a:prstGeom>
          <a:solidFill>
            <a:srgbClr val="FFFFFF"/>
          </a:solidFill>
          <a:ln w="15875">
            <a:solidFill>
              <a:srgbClr val="028090"/>
            </a:solidFill>
            <a:prstDash val="solid"/>
          </a:ln>
        </p:spPr>
      </p:sp>
      <p:sp>
        <p:nvSpPr>
          <p:cNvPr id="24" name="Text 22"/>
          <p:cNvSpPr/>
          <p:nvPr/>
        </p:nvSpPr>
        <p:spPr>
          <a:xfrm>
            <a:off x="5440680" y="3227832"/>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Frontend</a:t>
            </a:r>
            <a:endParaRPr lang="en-US" dirty="0"/>
          </a:p>
        </p:txBody>
      </p:sp>
      <p:sp>
        <p:nvSpPr>
          <p:cNvPr id="25" name="Shape 23"/>
          <p:cNvSpPr/>
          <p:nvPr/>
        </p:nvSpPr>
        <p:spPr>
          <a:xfrm>
            <a:off x="5440680" y="3657600"/>
            <a:ext cx="1737360" cy="365760"/>
          </a:xfrm>
          <a:prstGeom prst="roundRect">
            <a:avLst>
              <a:gd name="adj" fmla="val 12500"/>
            </a:avLst>
          </a:prstGeom>
          <a:solidFill>
            <a:srgbClr val="FFFFFF"/>
          </a:solidFill>
          <a:ln w="15875">
            <a:solidFill>
              <a:srgbClr val="028090"/>
            </a:solidFill>
            <a:prstDash val="solid"/>
          </a:ln>
        </p:spPr>
      </p:sp>
      <p:sp>
        <p:nvSpPr>
          <p:cNvPr id="26" name="Text 24"/>
          <p:cNvSpPr/>
          <p:nvPr/>
        </p:nvSpPr>
        <p:spPr>
          <a:xfrm>
            <a:off x="5440680" y="3657600"/>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Search</a:t>
            </a:r>
            <a:endParaRPr lang="en-US" dirty="0"/>
          </a:p>
        </p:txBody>
      </p:sp>
      <p:sp>
        <p:nvSpPr>
          <p:cNvPr id="27" name="Shape 25"/>
          <p:cNvSpPr/>
          <p:nvPr/>
        </p:nvSpPr>
        <p:spPr>
          <a:xfrm>
            <a:off x="5440680" y="4087368"/>
            <a:ext cx="1737360" cy="365760"/>
          </a:xfrm>
          <a:prstGeom prst="roundRect">
            <a:avLst>
              <a:gd name="adj" fmla="val 12500"/>
            </a:avLst>
          </a:prstGeom>
          <a:solidFill>
            <a:srgbClr val="FFFFFF"/>
          </a:solidFill>
          <a:ln w="15875">
            <a:solidFill>
              <a:srgbClr val="028090"/>
            </a:solidFill>
            <a:prstDash val="solid"/>
          </a:ln>
        </p:spPr>
      </p:sp>
      <p:sp>
        <p:nvSpPr>
          <p:cNvPr id="28" name="Text 26"/>
          <p:cNvSpPr/>
          <p:nvPr/>
        </p:nvSpPr>
        <p:spPr>
          <a:xfrm>
            <a:off x="5440680" y="4087368"/>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Category</a:t>
            </a:r>
            <a:endParaRPr lang="en-US" dirty="0"/>
          </a:p>
        </p:txBody>
      </p:sp>
      <p:sp>
        <p:nvSpPr>
          <p:cNvPr id="29" name="Shape 27"/>
          <p:cNvSpPr/>
          <p:nvPr/>
        </p:nvSpPr>
        <p:spPr>
          <a:xfrm>
            <a:off x="5440680" y="4517136"/>
            <a:ext cx="1737360" cy="365760"/>
          </a:xfrm>
          <a:prstGeom prst="roundRect">
            <a:avLst>
              <a:gd name="adj" fmla="val 12500"/>
            </a:avLst>
          </a:prstGeom>
          <a:solidFill>
            <a:srgbClr val="FFFFFF"/>
          </a:solidFill>
          <a:ln w="15875">
            <a:solidFill>
              <a:srgbClr val="028090"/>
            </a:solidFill>
            <a:prstDash val="solid"/>
          </a:ln>
        </p:spPr>
      </p:sp>
      <p:sp>
        <p:nvSpPr>
          <p:cNvPr id="30" name="Text 28"/>
          <p:cNvSpPr/>
          <p:nvPr/>
        </p:nvSpPr>
        <p:spPr>
          <a:xfrm>
            <a:off x="5440680" y="4517136"/>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Cart</a:t>
            </a:r>
            <a:endParaRPr lang="en-US" dirty="0"/>
          </a:p>
        </p:txBody>
      </p:sp>
      <p:sp>
        <p:nvSpPr>
          <p:cNvPr id="31" name="Shape 29"/>
          <p:cNvSpPr/>
          <p:nvPr/>
        </p:nvSpPr>
        <p:spPr>
          <a:xfrm>
            <a:off x="5440680" y="4946904"/>
            <a:ext cx="1737360" cy="365760"/>
          </a:xfrm>
          <a:prstGeom prst="roundRect">
            <a:avLst>
              <a:gd name="adj" fmla="val 12500"/>
            </a:avLst>
          </a:prstGeom>
          <a:solidFill>
            <a:srgbClr val="FFFFFF"/>
          </a:solidFill>
          <a:ln w="15875">
            <a:solidFill>
              <a:srgbClr val="028090"/>
            </a:solidFill>
            <a:prstDash val="solid"/>
          </a:ln>
        </p:spPr>
      </p:sp>
      <p:sp>
        <p:nvSpPr>
          <p:cNvPr id="32" name="Text 30"/>
          <p:cNvSpPr/>
          <p:nvPr/>
        </p:nvSpPr>
        <p:spPr>
          <a:xfrm>
            <a:off x="5440680" y="4946904"/>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Wishlist</a:t>
            </a:r>
            <a:endParaRPr lang="en-US" dirty="0"/>
          </a:p>
        </p:txBody>
      </p:sp>
      <p:sp>
        <p:nvSpPr>
          <p:cNvPr id="33" name="Shape 31"/>
          <p:cNvSpPr/>
          <p:nvPr/>
        </p:nvSpPr>
        <p:spPr>
          <a:xfrm>
            <a:off x="6309360" y="3026664"/>
            <a:ext cx="0" cy="201168"/>
          </a:xfrm>
          <a:prstGeom prst="line">
            <a:avLst/>
          </a:prstGeom>
          <a:noFill/>
          <a:ln w="12700">
            <a:solidFill>
              <a:srgbClr val="5B6B69"/>
            </a:solidFill>
            <a:prstDash val="solid"/>
          </a:ln>
        </p:spPr>
      </p:sp>
      <p:sp>
        <p:nvSpPr>
          <p:cNvPr id="34" name="Shape 32"/>
          <p:cNvSpPr/>
          <p:nvPr/>
        </p:nvSpPr>
        <p:spPr>
          <a:xfrm>
            <a:off x="7475220" y="3227832"/>
            <a:ext cx="1737360" cy="365760"/>
          </a:xfrm>
          <a:prstGeom prst="roundRect">
            <a:avLst>
              <a:gd name="adj" fmla="val 12500"/>
            </a:avLst>
          </a:prstGeom>
          <a:solidFill>
            <a:srgbClr val="FFFFFF"/>
          </a:solidFill>
          <a:ln w="15875">
            <a:solidFill>
              <a:srgbClr val="028090"/>
            </a:solidFill>
            <a:prstDash val="solid"/>
          </a:ln>
        </p:spPr>
      </p:sp>
      <p:sp>
        <p:nvSpPr>
          <p:cNvPr id="35" name="Text 33"/>
          <p:cNvSpPr/>
          <p:nvPr/>
        </p:nvSpPr>
        <p:spPr>
          <a:xfrm>
            <a:off x="7475220" y="3227832"/>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Management</a:t>
            </a:r>
            <a:endParaRPr lang="en-US" dirty="0"/>
          </a:p>
        </p:txBody>
      </p:sp>
      <p:sp>
        <p:nvSpPr>
          <p:cNvPr id="36" name="Shape 34"/>
          <p:cNvSpPr/>
          <p:nvPr/>
        </p:nvSpPr>
        <p:spPr>
          <a:xfrm>
            <a:off x="8343900" y="3026664"/>
            <a:ext cx="0" cy="201168"/>
          </a:xfrm>
          <a:prstGeom prst="line">
            <a:avLst/>
          </a:prstGeom>
          <a:noFill/>
          <a:ln w="12700">
            <a:solidFill>
              <a:srgbClr val="5B6B69"/>
            </a:solidFill>
            <a:prstDash val="solid"/>
          </a:ln>
        </p:spPr>
      </p:sp>
      <p:sp>
        <p:nvSpPr>
          <p:cNvPr id="37" name="Shape 35"/>
          <p:cNvSpPr/>
          <p:nvPr/>
        </p:nvSpPr>
        <p:spPr>
          <a:xfrm>
            <a:off x="9509760" y="3227832"/>
            <a:ext cx="1737360" cy="365760"/>
          </a:xfrm>
          <a:prstGeom prst="roundRect">
            <a:avLst>
              <a:gd name="adj" fmla="val 12500"/>
            </a:avLst>
          </a:prstGeom>
          <a:solidFill>
            <a:srgbClr val="FFFFFF"/>
          </a:solidFill>
          <a:ln w="15875">
            <a:solidFill>
              <a:srgbClr val="F77F00"/>
            </a:solidFill>
            <a:prstDash val="solid"/>
          </a:ln>
        </p:spPr>
      </p:sp>
      <p:sp>
        <p:nvSpPr>
          <p:cNvPr id="38" name="Text 36"/>
          <p:cNvSpPr/>
          <p:nvPr/>
        </p:nvSpPr>
        <p:spPr>
          <a:xfrm>
            <a:off x="9509760" y="3227832"/>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Users</a:t>
            </a:r>
            <a:endParaRPr lang="en-US" dirty="0"/>
          </a:p>
        </p:txBody>
      </p:sp>
      <p:sp>
        <p:nvSpPr>
          <p:cNvPr id="39" name="Shape 37"/>
          <p:cNvSpPr/>
          <p:nvPr/>
        </p:nvSpPr>
        <p:spPr>
          <a:xfrm>
            <a:off x="9509760" y="3657600"/>
            <a:ext cx="1737360" cy="365760"/>
          </a:xfrm>
          <a:prstGeom prst="roundRect">
            <a:avLst>
              <a:gd name="adj" fmla="val 12500"/>
            </a:avLst>
          </a:prstGeom>
          <a:solidFill>
            <a:srgbClr val="FFFFFF"/>
          </a:solidFill>
          <a:ln w="15875">
            <a:solidFill>
              <a:srgbClr val="F77F00"/>
            </a:solidFill>
            <a:prstDash val="solid"/>
          </a:ln>
        </p:spPr>
      </p:sp>
      <p:sp>
        <p:nvSpPr>
          <p:cNvPr id="40" name="Text 38"/>
          <p:cNvSpPr/>
          <p:nvPr/>
        </p:nvSpPr>
        <p:spPr>
          <a:xfrm>
            <a:off x="9509760" y="3657600"/>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Food</a:t>
            </a:r>
            <a:endParaRPr lang="en-US" dirty="0"/>
          </a:p>
        </p:txBody>
      </p:sp>
      <p:sp>
        <p:nvSpPr>
          <p:cNvPr id="41" name="Shape 39"/>
          <p:cNvSpPr/>
          <p:nvPr/>
        </p:nvSpPr>
        <p:spPr>
          <a:xfrm>
            <a:off x="9509760" y="4087368"/>
            <a:ext cx="1737360" cy="365760"/>
          </a:xfrm>
          <a:prstGeom prst="roundRect">
            <a:avLst>
              <a:gd name="adj" fmla="val 12500"/>
            </a:avLst>
          </a:prstGeom>
          <a:solidFill>
            <a:srgbClr val="FFFFFF"/>
          </a:solidFill>
          <a:ln w="15875">
            <a:solidFill>
              <a:srgbClr val="F77F00"/>
            </a:solidFill>
            <a:prstDash val="solid"/>
          </a:ln>
        </p:spPr>
      </p:sp>
      <p:sp>
        <p:nvSpPr>
          <p:cNvPr id="42" name="Text 40"/>
          <p:cNvSpPr/>
          <p:nvPr/>
        </p:nvSpPr>
        <p:spPr>
          <a:xfrm>
            <a:off x="9509760" y="4087368"/>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Cart</a:t>
            </a:r>
            <a:endParaRPr lang="en-US" dirty="0"/>
          </a:p>
        </p:txBody>
      </p:sp>
      <p:sp>
        <p:nvSpPr>
          <p:cNvPr id="43" name="Shape 41"/>
          <p:cNvSpPr/>
          <p:nvPr/>
        </p:nvSpPr>
        <p:spPr>
          <a:xfrm>
            <a:off x="9509760" y="4517136"/>
            <a:ext cx="1737360" cy="365760"/>
          </a:xfrm>
          <a:prstGeom prst="roundRect">
            <a:avLst>
              <a:gd name="adj" fmla="val 12500"/>
            </a:avLst>
          </a:prstGeom>
          <a:solidFill>
            <a:srgbClr val="FFFFFF"/>
          </a:solidFill>
          <a:ln w="15875">
            <a:solidFill>
              <a:srgbClr val="F77F00"/>
            </a:solidFill>
            <a:prstDash val="solid"/>
          </a:ln>
        </p:spPr>
      </p:sp>
      <p:sp>
        <p:nvSpPr>
          <p:cNvPr id="44" name="Text 42"/>
          <p:cNvSpPr/>
          <p:nvPr/>
        </p:nvSpPr>
        <p:spPr>
          <a:xfrm>
            <a:off x="9509760" y="4517136"/>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Wishlist</a:t>
            </a:r>
            <a:endParaRPr lang="en-US" dirty="0"/>
          </a:p>
        </p:txBody>
      </p:sp>
      <p:sp>
        <p:nvSpPr>
          <p:cNvPr id="45" name="Shape 43"/>
          <p:cNvSpPr/>
          <p:nvPr/>
        </p:nvSpPr>
        <p:spPr>
          <a:xfrm>
            <a:off x="9509760" y="4946904"/>
            <a:ext cx="1737360" cy="365760"/>
          </a:xfrm>
          <a:prstGeom prst="roundRect">
            <a:avLst>
              <a:gd name="adj" fmla="val 12500"/>
            </a:avLst>
          </a:prstGeom>
          <a:solidFill>
            <a:srgbClr val="FFFFFF"/>
          </a:solidFill>
          <a:ln w="15875">
            <a:solidFill>
              <a:srgbClr val="F77F00"/>
            </a:solidFill>
            <a:prstDash val="solid"/>
          </a:ln>
        </p:spPr>
      </p:sp>
      <p:sp>
        <p:nvSpPr>
          <p:cNvPr id="46" name="Text 44"/>
          <p:cNvSpPr/>
          <p:nvPr/>
        </p:nvSpPr>
        <p:spPr>
          <a:xfrm>
            <a:off x="9509760" y="4946904"/>
            <a:ext cx="1737360" cy="365760"/>
          </a:xfrm>
          <a:prstGeom prst="rect">
            <a:avLst/>
          </a:prstGeom>
          <a:noFill/>
          <a:ln/>
        </p:spPr>
        <p:txBody>
          <a:bodyPr wrap="square" rtlCol="0" anchor="ctr"/>
          <a:lstStyle/>
          <a:p>
            <a:pPr marL="0" indent="0" algn="ctr">
              <a:buNone/>
            </a:pPr>
            <a:r>
              <a:rPr lang="en-US" dirty="0">
                <a:solidFill>
                  <a:srgbClr val="22302F"/>
                </a:solidFill>
                <a:latin typeface="Calibri" pitchFamily="34" charset="0"/>
                <a:ea typeface="Calibri" pitchFamily="34" charset="-122"/>
                <a:cs typeface="Calibri" pitchFamily="34" charset="-120"/>
              </a:rPr>
              <a:t>Orders</a:t>
            </a:r>
            <a:endParaRPr lang="en-US" dirty="0"/>
          </a:p>
        </p:txBody>
      </p:sp>
      <p:sp>
        <p:nvSpPr>
          <p:cNvPr id="47" name="Shape 45"/>
          <p:cNvSpPr/>
          <p:nvPr/>
        </p:nvSpPr>
        <p:spPr>
          <a:xfrm>
            <a:off x="10378440" y="3026664"/>
            <a:ext cx="0" cy="201168"/>
          </a:xfrm>
          <a:prstGeom prst="line">
            <a:avLst/>
          </a:prstGeom>
          <a:noFill/>
          <a:ln w="12700">
            <a:solidFill>
              <a:srgbClr val="5B6B69"/>
            </a:solidFill>
            <a:prstDash val="solid"/>
          </a:ln>
        </p:spPr>
      </p:sp>
      <p:sp>
        <p:nvSpPr>
          <p:cNvPr id="48" name="Shape 46"/>
          <p:cNvSpPr/>
          <p:nvPr/>
        </p:nvSpPr>
        <p:spPr>
          <a:xfrm>
            <a:off x="6309360" y="5376672"/>
            <a:ext cx="0" cy="164592"/>
          </a:xfrm>
          <a:prstGeom prst="line">
            <a:avLst/>
          </a:prstGeom>
          <a:noFill/>
          <a:ln w="12700">
            <a:solidFill>
              <a:srgbClr val="5B6B69"/>
            </a:solidFill>
            <a:prstDash val="solid"/>
            <a:tailEnd type="triangle"/>
          </a:ln>
        </p:spPr>
      </p:sp>
      <p:sp>
        <p:nvSpPr>
          <p:cNvPr id="49" name="Shape 47"/>
          <p:cNvSpPr/>
          <p:nvPr/>
        </p:nvSpPr>
        <p:spPr>
          <a:xfrm>
            <a:off x="5440680" y="5541264"/>
            <a:ext cx="1737360" cy="365760"/>
          </a:xfrm>
          <a:prstGeom prst="roundRect">
            <a:avLst>
              <a:gd name="adj" fmla="val 12500"/>
            </a:avLst>
          </a:prstGeom>
          <a:solidFill>
            <a:srgbClr val="023E40"/>
          </a:solidFill>
          <a:ln/>
        </p:spPr>
      </p:sp>
      <p:sp>
        <p:nvSpPr>
          <p:cNvPr id="50" name="Text 48"/>
          <p:cNvSpPr/>
          <p:nvPr/>
        </p:nvSpPr>
        <p:spPr>
          <a:xfrm>
            <a:off x="5440680" y="5541264"/>
            <a:ext cx="1737360" cy="36576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Backend</a:t>
            </a:r>
            <a:endParaRPr lang="en-US" dirty="0"/>
          </a:p>
        </p:txBody>
      </p:sp>
      <p:sp>
        <p:nvSpPr>
          <p:cNvPr id="51" name="Text 49"/>
          <p:cNvSpPr/>
          <p:nvPr/>
        </p:nvSpPr>
        <p:spPr>
          <a:xfrm>
            <a:off x="457200" y="6528816"/>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52" name="Text 50"/>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rtlCol="0" anchor="ctr"/>
          <a:lstStyle/>
          <a:p>
            <a:pPr marL="0" indent="0" algn="l">
              <a:buNone/>
            </a:pPr>
            <a:r>
              <a:rPr lang="en-US" sz="2800" b="1" dirty="0">
                <a:solidFill>
                  <a:srgbClr val="023E40"/>
                </a:solidFill>
                <a:latin typeface="Cambria" pitchFamily="34" charset="0"/>
                <a:ea typeface="Cambria" pitchFamily="34" charset="-122"/>
                <a:cs typeface="Cambria" pitchFamily="34" charset="-120"/>
              </a:rPr>
              <a:t>Development Progress – Review 1</a:t>
            </a:r>
            <a:endParaRPr lang="en-US" sz="2800" dirty="0"/>
          </a:p>
        </p:txBody>
      </p:sp>
      <p:sp>
        <p:nvSpPr>
          <p:cNvPr id="3" name="Text 1"/>
          <p:cNvSpPr/>
          <p:nvPr/>
        </p:nvSpPr>
        <p:spPr>
          <a:xfrm>
            <a:off x="579120" y="941832"/>
            <a:ext cx="4572000" cy="292608"/>
          </a:xfrm>
          <a:prstGeom prst="rect">
            <a:avLst/>
          </a:prstGeom>
          <a:noFill/>
          <a:ln/>
        </p:spPr>
        <p:txBody>
          <a:bodyPr wrap="square" rtlCol="0" anchor="ctr"/>
          <a:lstStyle/>
          <a:p>
            <a:pPr marL="0" indent="0">
              <a:buNone/>
            </a:pPr>
            <a:r>
              <a:rPr lang="en-US" sz="2000" b="1" dirty="0">
                <a:solidFill>
                  <a:srgbClr val="023E40"/>
                </a:solidFill>
                <a:latin typeface="Calibri" pitchFamily="34" charset="0"/>
                <a:ea typeface="Calibri" pitchFamily="34" charset="-122"/>
                <a:cs typeface="Calibri" pitchFamily="34" charset="-120"/>
              </a:rPr>
              <a:t>Current Progress: 40%</a:t>
            </a:r>
            <a:endParaRPr lang="en-US" sz="2000" dirty="0"/>
          </a:p>
        </p:txBody>
      </p:sp>
      <p:sp>
        <p:nvSpPr>
          <p:cNvPr id="4" name="Shape 2"/>
          <p:cNvSpPr/>
          <p:nvPr/>
        </p:nvSpPr>
        <p:spPr>
          <a:xfrm>
            <a:off x="548640" y="1325880"/>
            <a:ext cx="11064240" cy="457200"/>
          </a:xfrm>
          <a:prstGeom prst="roundRect">
            <a:avLst>
              <a:gd name="adj" fmla="val 50000"/>
            </a:avLst>
          </a:prstGeom>
          <a:solidFill>
            <a:srgbClr val="E6EAEA"/>
          </a:solidFill>
          <a:ln/>
        </p:spPr>
      </p:sp>
      <p:sp>
        <p:nvSpPr>
          <p:cNvPr id="5" name="Shape 3"/>
          <p:cNvSpPr/>
          <p:nvPr/>
        </p:nvSpPr>
        <p:spPr>
          <a:xfrm>
            <a:off x="548640" y="1325880"/>
            <a:ext cx="4425696" cy="457200"/>
          </a:xfrm>
          <a:prstGeom prst="roundRect">
            <a:avLst>
              <a:gd name="adj" fmla="val 50000"/>
            </a:avLst>
          </a:prstGeom>
          <a:solidFill>
            <a:srgbClr val="F77F00"/>
          </a:solidFill>
          <a:ln/>
        </p:spPr>
      </p:sp>
      <p:sp>
        <p:nvSpPr>
          <p:cNvPr id="6" name="Shape 4"/>
          <p:cNvSpPr/>
          <p:nvPr/>
        </p:nvSpPr>
        <p:spPr>
          <a:xfrm>
            <a:off x="609600" y="2103120"/>
            <a:ext cx="5486400" cy="3977640"/>
          </a:xfrm>
          <a:prstGeom prst="roundRect">
            <a:avLst>
              <a:gd name="adj" fmla="val 1839"/>
            </a:avLst>
          </a:prstGeom>
          <a:solidFill>
            <a:srgbClr val="E4F1F0"/>
          </a:solidFill>
          <a:ln w="12700">
            <a:solidFill>
              <a:srgbClr val="C6E2E0"/>
            </a:solidFill>
            <a:prstDash val="solid"/>
          </a:ln>
        </p:spPr>
      </p:sp>
      <p:sp>
        <p:nvSpPr>
          <p:cNvPr id="7" name="Text 5"/>
          <p:cNvSpPr/>
          <p:nvPr/>
        </p:nvSpPr>
        <p:spPr>
          <a:xfrm>
            <a:off x="731520" y="2148840"/>
            <a:ext cx="5120640" cy="320040"/>
          </a:xfrm>
          <a:prstGeom prst="rect">
            <a:avLst/>
          </a:prstGeom>
          <a:noFill/>
          <a:ln/>
        </p:spPr>
        <p:txBody>
          <a:bodyPr wrap="square" rtlCol="0" anchor="ctr"/>
          <a:lstStyle/>
          <a:p>
            <a:pPr marL="0" indent="0">
              <a:buNone/>
            </a:pPr>
            <a:r>
              <a:rPr lang="en-US" sz="2100" b="1" dirty="0">
                <a:solidFill>
                  <a:srgbClr val="023E40"/>
                </a:solidFill>
                <a:latin typeface="Calibri" pitchFamily="34" charset="0"/>
                <a:ea typeface="Calibri" pitchFamily="34" charset="-122"/>
                <a:cs typeface="Calibri" pitchFamily="34" charset="-120"/>
              </a:rPr>
              <a:t>✓  COMPLETED / IMPLEMENTED</a:t>
            </a:r>
          </a:p>
        </p:txBody>
      </p:sp>
      <p:sp>
        <p:nvSpPr>
          <p:cNvPr id="8" name="Text 6"/>
          <p:cNvSpPr/>
          <p:nvPr/>
        </p:nvSpPr>
        <p:spPr>
          <a:xfrm>
            <a:off x="731520" y="2468880"/>
            <a:ext cx="5120640" cy="3520440"/>
          </a:xfrm>
          <a:prstGeom prst="rect">
            <a:avLst/>
          </a:prstGeom>
          <a:noFill/>
          <a:ln/>
        </p:spPr>
        <p:txBody>
          <a:bodyPr wrap="square" rtlCol="0" anchor="t"/>
          <a:lstStyle/>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Food category interface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Offers &amp; promotional sections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User registration/login foundation</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Database structure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Search interface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Basic </a:t>
            </a:r>
            <a:r>
              <a:rPr lang="en-US" sz="1600" dirty="0" err="1">
                <a:solidFill>
                  <a:srgbClr val="22302F"/>
                </a:solidFill>
                <a:latin typeface="Calibri" pitchFamily="34" charset="0"/>
                <a:ea typeface="Calibri" pitchFamily="34" charset="-122"/>
                <a:cs typeface="Calibri" pitchFamily="34" charset="-120"/>
              </a:rPr>
              <a:t>QuickBite</a:t>
            </a:r>
            <a:r>
              <a:rPr lang="en-US" sz="1600" dirty="0">
                <a:solidFill>
                  <a:srgbClr val="22302F"/>
                </a:solidFill>
                <a:latin typeface="Calibri" pitchFamily="34" charset="0"/>
                <a:ea typeface="Calibri" pitchFamily="34" charset="-122"/>
                <a:cs typeface="Calibri" pitchFamily="34" charset="-120"/>
              </a:rPr>
              <a:t> home page</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Wishlist functionality</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Cart functionality</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Notifications</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Light / Dark theme support</a:t>
            </a:r>
            <a:endParaRPr lang="en-US" sz="1600" dirty="0"/>
          </a:p>
          <a:p>
            <a:pPr marL="342900" indent="-342900">
              <a:spcAft>
                <a:spcPts val="500"/>
              </a:spcAft>
              <a:buSzPct val="100000"/>
              <a:buChar char="✓"/>
            </a:pPr>
            <a:r>
              <a:rPr lang="en-US" sz="1600" dirty="0">
                <a:solidFill>
                  <a:srgbClr val="22302F"/>
                </a:solidFill>
                <a:latin typeface="Calibri" pitchFamily="34" charset="0"/>
                <a:ea typeface="Calibri" pitchFamily="34" charset="-122"/>
                <a:cs typeface="Calibri" pitchFamily="34" charset="-120"/>
              </a:rPr>
              <a:t>Basic order flow</a:t>
            </a:r>
            <a:endParaRPr lang="en-US" sz="1600" dirty="0"/>
          </a:p>
        </p:txBody>
      </p:sp>
      <p:sp>
        <p:nvSpPr>
          <p:cNvPr id="9" name="Shape 7"/>
          <p:cNvSpPr/>
          <p:nvPr/>
        </p:nvSpPr>
        <p:spPr>
          <a:xfrm>
            <a:off x="6263640" y="2103120"/>
            <a:ext cx="5349240" cy="3977640"/>
          </a:xfrm>
          <a:prstGeom prst="roundRect">
            <a:avLst>
              <a:gd name="adj" fmla="val 1839"/>
            </a:avLst>
          </a:prstGeom>
          <a:solidFill>
            <a:srgbClr val="FDEBD8"/>
          </a:solidFill>
          <a:ln w="12700">
            <a:solidFill>
              <a:srgbClr val="F3D5B0"/>
            </a:solidFill>
            <a:prstDash val="solid"/>
          </a:ln>
        </p:spPr>
      </p:sp>
      <p:sp>
        <p:nvSpPr>
          <p:cNvPr id="10" name="Text 8"/>
          <p:cNvSpPr/>
          <p:nvPr/>
        </p:nvSpPr>
        <p:spPr>
          <a:xfrm>
            <a:off x="6446520" y="2240280"/>
            <a:ext cx="4983480" cy="320040"/>
          </a:xfrm>
          <a:prstGeom prst="rect">
            <a:avLst/>
          </a:prstGeom>
          <a:noFill/>
          <a:ln/>
        </p:spPr>
        <p:txBody>
          <a:bodyPr wrap="square" rtlCol="0" anchor="ctr"/>
          <a:lstStyle/>
          <a:p>
            <a:pPr marL="0" indent="0">
              <a:buNone/>
            </a:pPr>
            <a:r>
              <a:rPr lang="en-US" sz="2100" b="1" dirty="0">
                <a:solidFill>
                  <a:srgbClr val="B85C00"/>
                </a:solidFill>
                <a:latin typeface="Calibri" pitchFamily="34" charset="0"/>
                <a:ea typeface="Calibri" pitchFamily="34" charset="-122"/>
                <a:cs typeface="Calibri" pitchFamily="34" charset="-120"/>
              </a:rPr>
              <a:t>→  IN PROGRESS</a:t>
            </a:r>
            <a:endParaRPr lang="en-US" sz="2100" dirty="0"/>
          </a:p>
        </p:txBody>
      </p:sp>
      <p:sp>
        <p:nvSpPr>
          <p:cNvPr id="11" name="Text 9"/>
          <p:cNvSpPr/>
          <p:nvPr/>
        </p:nvSpPr>
        <p:spPr>
          <a:xfrm>
            <a:off x="6446520" y="2606040"/>
            <a:ext cx="4983480" cy="2148840"/>
          </a:xfrm>
          <a:prstGeom prst="rect">
            <a:avLst/>
          </a:prstGeom>
          <a:noFill/>
          <a:ln/>
        </p:spPr>
        <p:txBody>
          <a:bodyPr wrap="square" rtlCol="0" anchor="t"/>
          <a:lstStyle/>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Complete category-wise food pages</a:t>
            </a:r>
            <a:endParaRPr lang="en-US" sz="1600" dirty="0"/>
          </a:p>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Add more food items and images</a:t>
            </a:r>
            <a:endParaRPr lang="en-US" sz="1600" dirty="0"/>
          </a:p>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Connect food items to detail pages</a:t>
            </a:r>
            <a:endParaRPr lang="en-US" sz="1600" dirty="0"/>
          </a:p>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Improve filtering &amp; category navigation</a:t>
            </a:r>
            <a:endParaRPr lang="en-US" sz="1600" dirty="0"/>
          </a:p>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Complete order-history / DB sync</a:t>
            </a:r>
            <a:endParaRPr lang="en-US" sz="1600" dirty="0"/>
          </a:p>
          <a:p>
            <a:pPr marL="342900" indent="-342900">
              <a:spcAft>
                <a:spcPts val="700"/>
              </a:spcAft>
              <a:buSzPct val="100000"/>
              <a:buChar char="→"/>
            </a:pPr>
            <a:r>
              <a:rPr lang="en-US" sz="1600" dirty="0">
                <a:solidFill>
                  <a:srgbClr val="22302F"/>
                </a:solidFill>
                <a:latin typeface="Calibri" pitchFamily="34" charset="0"/>
                <a:ea typeface="Calibri" pitchFamily="34" charset="-122"/>
                <a:cs typeface="Calibri" pitchFamily="34" charset="-120"/>
              </a:rPr>
              <a:t>Remaining UI refinement</a:t>
            </a:r>
            <a:endParaRPr lang="en-US" sz="1600" dirty="0"/>
          </a:p>
        </p:txBody>
      </p:sp>
      <p:sp>
        <p:nvSpPr>
          <p:cNvPr id="12" name="Shape 10"/>
          <p:cNvSpPr/>
          <p:nvPr/>
        </p:nvSpPr>
        <p:spPr>
          <a:xfrm>
            <a:off x="6446520" y="4846320"/>
            <a:ext cx="4983480" cy="1097280"/>
          </a:xfrm>
          <a:prstGeom prst="roundRect">
            <a:avLst>
              <a:gd name="adj" fmla="val 5000"/>
            </a:avLst>
          </a:prstGeom>
          <a:solidFill>
            <a:srgbClr val="FFFFFF"/>
          </a:solidFill>
          <a:ln w="12700">
            <a:solidFill>
              <a:srgbClr val="F3D5B0"/>
            </a:solidFill>
            <a:prstDash val="solid"/>
          </a:ln>
        </p:spPr>
      </p:sp>
      <p:sp>
        <p:nvSpPr>
          <p:cNvPr id="13" name="Text 11"/>
          <p:cNvSpPr/>
          <p:nvPr/>
        </p:nvSpPr>
        <p:spPr>
          <a:xfrm>
            <a:off x="6629400" y="4846320"/>
            <a:ext cx="4617720" cy="1097280"/>
          </a:xfrm>
          <a:prstGeom prst="rect">
            <a:avLst/>
          </a:prstGeom>
          <a:noFill/>
          <a:ln/>
        </p:spPr>
        <p:txBody>
          <a:bodyPr wrap="square" rtlCol="0" anchor="ctr"/>
          <a:lstStyle/>
          <a:p>
            <a:pPr marL="0" indent="0">
              <a:buNone/>
            </a:pPr>
            <a:r>
              <a:rPr lang="en-US" sz="1300" dirty="0">
                <a:solidFill>
                  <a:srgbClr val="5B6B69"/>
                </a:solidFill>
                <a:latin typeface="Calibri" pitchFamily="34" charset="0"/>
                <a:ea typeface="Calibri" pitchFamily="34" charset="-122"/>
                <a:cs typeface="Calibri" pitchFamily="34" charset="-120"/>
              </a:rPr>
              <a:t>Review 1 focuses on requirement analysis, system design and initial implementation. Remaining modules will be completed in the next development phase.</a:t>
            </a:r>
            <a:endParaRPr lang="en-US" sz="1300" dirty="0"/>
          </a:p>
        </p:txBody>
      </p:sp>
      <p:sp>
        <p:nvSpPr>
          <p:cNvPr id="14" name="Text 12"/>
          <p:cNvSpPr/>
          <p:nvPr/>
        </p:nvSpPr>
        <p:spPr>
          <a:xfrm>
            <a:off x="457200" y="6492240"/>
            <a:ext cx="7772400" cy="274320"/>
          </a:xfrm>
          <a:prstGeom prst="rect">
            <a:avLst/>
          </a:prstGeom>
          <a:noFill/>
          <a:ln/>
        </p:spPr>
        <p:txBody>
          <a:bodyPr wrap="square" rtlCol="0" anchor="ctr"/>
          <a:lstStyle/>
          <a:p>
            <a:pPr marL="0" indent="0" algn="l">
              <a:buNone/>
            </a:pPr>
            <a:r>
              <a:rPr lang="en-US" sz="900" dirty="0">
                <a:solidFill>
                  <a:srgbClr val="5B6B69"/>
                </a:solidFill>
                <a:latin typeface="Calibri" pitchFamily="34" charset="0"/>
                <a:ea typeface="Calibri" pitchFamily="34" charset="-122"/>
                <a:cs typeface="Calibri" pitchFamily="34" charset="-120"/>
              </a:rPr>
              <a:t>QuickBite – Smart Food Ordering Platform  |  Review 1</a:t>
            </a:r>
            <a:endParaRPr lang="en-US" sz="900" dirty="0"/>
          </a:p>
        </p:txBody>
      </p:sp>
      <p:sp>
        <p:nvSpPr>
          <p:cNvPr id="15" name="Text 13"/>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B6B6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DFF29902-D800-B515-007B-AC6FDD638E4C}"/>
              </a:ext>
            </a:extLst>
          </p:cNvPr>
          <p:cNvSpPr/>
          <p:nvPr/>
        </p:nvSpPr>
        <p:spPr>
          <a:xfrm>
            <a:off x="548640" y="411480"/>
            <a:ext cx="11064240" cy="640080"/>
          </a:xfrm>
          <a:prstGeom prst="rect">
            <a:avLst/>
          </a:prstGeom>
          <a:noFill/>
          <a:ln/>
        </p:spPr>
        <p:txBody>
          <a:bodyPr wrap="square" rtlCol="0" anchor="ctr"/>
          <a:lstStyle/>
          <a:p>
            <a:pPr marL="0" indent="0">
              <a:buNone/>
            </a:pPr>
            <a:r>
              <a:rPr lang="en-US" sz="4000" b="1" dirty="0">
                <a:latin typeface="Cambria" pitchFamily="34" charset="0"/>
                <a:ea typeface="Cambria" pitchFamily="34" charset="-122"/>
                <a:cs typeface="Cambria" pitchFamily="34" charset="-120"/>
              </a:rPr>
              <a:t>Conclusion &amp; Future Work</a:t>
            </a:r>
            <a:endParaRPr lang="en-US" sz="4000" dirty="0"/>
          </a:p>
        </p:txBody>
      </p:sp>
      <p:sp>
        <p:nvSpPr>
          <p:cNvPr id="5" name="Shape 3">
            <a:extLst>
              <a:ext uri="{FF2B5EF4-FFF2-40B4-BE49-F238E27FC236}">
                <a16:creationId xmlns:a16="http://schemas.microsoft.com/office/drawing/2014/main" id="{8266046B-A3B6-1DEE-9F12-39BD90F06C8A}"/>
              </a:ext>
            </a:extLst>
          </p:cNvPr>
          <p:cNvSpPr/>
          <p:nvPr/>
        </p:nvSpPr>
        <p:spPr>
          <a:xfrm>
            <a:off x="576612" y="1234440"/>
            <a:ext cx="5486400" cy="4367707"/>
          </a:xfrm>
          <a:prstGeom prst="roundRect">
            <a:avLst>
              <a:gd name="adj" fmla="val 2388"/>
            </a:avLst>
          </a:prstGeom>
          <a:solidFill>
            <a:srgbClr val="E4F1F0"/>
          </a:solidFill>
          <a:ln w="12700">
            <a:solidFill>
              <a:srgbClr val="C6E2E0"/>
            </a:solidFill>
          </a:ln>
        </p:spPr>
        <p:style>
          <a:lnRef idx="0">
            <a:scrgbClr r="0" g="0" b="0"/>
          </a:lnRef>
          <a:fillRef idx="0">
            <a:scrgbClr r="0" g="0" b="0"/>
          </a:fillRef>
          <a:effectRef idx="0">
            <a:scrgbClr r="0" g="0" b="0"/>
          </a:effectRef>
          <a:fontRef idx="minor">
            <a:schemeClr val="lt1"/>
          </a:fontRef>
        </p:style>
      </p:sp>
      <p:sp>
        <p:nvSpPr>
          <p:cNvPr id="7" name="Text 4">
            <a:extLst>
              <a:ext uri="{FF2B5EF4-FFF2-40B4-BE49-F238E27FC236}">
                <a16:creationId xmlns:a16="http://schemas.microsoft.com/office/drawing/2014/main" id="{5ED0E309-9D3D-6EC6-65E3-FBCD6B2EA3DE}"/>
              </a:ext>
            </a:extLst>
          </p:cNvPr>
          <p:cNvSpPr/>
          <p:nvPr/>
        </p:nvSpPr>
        <p:spPr>
          <a:xfrm>
            <a:off x="777240" y="1371600"/>
            <a:ext cx="5029200" cy="320040"/>
          </a:xfrm>
          <a:prstGeom prst="rect">
            <a:avLst/>
          </a:prstGeom>
          <a:noFill/>
          <a:ln/>
        </p:spPr>
        <p:txBody>
          <a:bodyPr wrap="square" rtlCol="0" anchor="ctr"/>
          <a:lstStyle/>
          <a:p>
            <a:pPr marL="0" indent="0">
              <a:buNone/>
            </a:pPr>
            <a:r>
              <a:rPr lang="en-US" sz="2600" b="1" kern="0" spc="100" dirty="0">
                <a:solidFill>
                  <a:srgbClr val="F77F00"/>
                </a:solidFill>
                <a:latin typeface="Calibri" pitchFamily="34" charset="0"/>
                <a:ea typeface="Calibri" pitchFamily="34" charset="-122"/>
                <a:cs typeface="Calibri" pitchFamily="34" charset="-120"/>
              </a:rPr>
              <a:t>CONCLUSION</a:t>
            </a:r>
            <a:endParaRPr lang="en-US" sz="2600" dirty="0"/>
          </a:p>
        </p:txBody>
      </p:sp>
      <p:sp>
        <p:nvSpPr>
          <p:cNvPr id="9" name="Text 5">
            <a:extLst>
              <a:ext uri="{FF2B5EF4-FFF2-40B4-BE49-F238E27FC236}">
                <a16:creationId xmlns:a16="http://schemas.microsoft.com/office/drawing/2014/main" id="{2F3F131F-DF16-BF5F-3475-60FD1F23E5FF}"/>
              </a:ext>
            </a:extLst>
          </p:cNvPr>
          <p:cNvSpPr/>
          <p:nvPr/>
        </p:nvSpPr>
        <p:spPr>
          <a:xfrm>
            <a:off x="777240" y="1783080"/>
            <a:ext cx="5029200" cy="3703320"/>
          </a:xfrm>
          <a:prstGeom prst="rect">
            <a:avLst/>
          </a:prstGeom>
          <a:noFill/>
          <a:ln/>
        </p:spPr>
        <p:txBody>
          <a:bodyPr wrap="square" rtlCol="0" anchor="t"/>
          <a:lstStyle/>
          <a:p>
            <a:pPr marL="0" indent="0" algn="just">
              <a:lnSpc>
                <a:spcPct val="120000"/>
              </a:lnSpc>
              <a:buNone/>
            </a:pPr>
            <a:r>
              <a:rPr lang="en-US" sz="2000" dirty="0">
                <a:latin typeface="Calibri" pitchFamily="34" charset="0"/>
                <a:ea typeface="Calibri" pitchFamily="34" charset="-122"/>
                <a:cs typeface="Calibri" pitchFamily="34" charset="-120"/>
              </a:rPr>
              <a:t>QuickBite provides the foundation for a web-based smart food ordering platform. In this first phase, the team completed initial requirement analysis, system planning, the database foundation and major interface components. The project is currently under active development, with category-wise food pages, detailed food views and further database integration being refined</a:t>
            </a:r>
            <a:r>
              <a:rPr lang="en-US" sz="2200" dirty="0">
                <a:latin typeface="Calibri" pitchFamily="34" charset="0"/>
                <a:ea typeface="Calibri" pitchFamily="34" charset="-122"/>
                <a:cs typeface="Calibri" pitchFamily="34" charset="-120"/>
              </a:rPr>
              <a:t>.</a:t>
            </a:r>
            <a:endParaRPr lang="en-US" sz="2200" dirty="0"/>
          </a:p>
        </p:txBody>
      </p:sp>
      <p:sp>
        <p:nvSpPr>
          <p:cNvPr id="11" name="Shape 6">
            <a:extLst>
              <a:ext uri="{FF2B5EF4-FFF2-40B4-BE49-F238E27FC236}">
                <a16:creationId xmlns:a16="http://schemas.microsoft.com/office/drawing/2014/main" id="{28D5CE90-E497-0AF2-031D-7F0D123E1897}"/>
              </a:ext>
            </a:extLst>
          </p:cNvPr>
          <p:cNvSpPr/>
          <p:nvPr/>
        </p:nvSpPr>
        <p:spPr>
          <a:xfrm>
            <a:off x="6294120" y="1234440"/>
            <a:ext cx="5349240" cy="4367707"/>
          </a:xfrm>
          <a:prstGeom prst="roundRect">
            <a:avLst>
              <a:gd name="adj" fmla="val 2388"/>
            </a:avLst>
          </a:prstGeom>
          <a:solidFill>
            <a:srgbClr val="FDEBD8"/>
          </a:solidFill>
          <a:ln w="12700">
            <a:solidFill>
              <a:srgbClr val="F3D5B0"/>
            </a:solidFill>
          </a:ln>
        </p:spPr>
        <p:style>
          <a:lnRef idx="0">
            <a:scrgbClr r="0" g="0" b="0"/>
          </a:lnRef>
          <a:fillRef idx="0">
            <a:scrgbClr r="0" g="0" b="0"/>
          </a:fillRef>
          <a:effectRef idx="0">
            <a:scrgbClr r="0" g="0" b="0"/>
          </a:effectRef>
          <a:fontRef idx="minor">
            <a:schemeClr val="lt1"/>
          </a:fontRef>
        </p:style>
      </p:sp>
      <p:sp>
        <p:nvSpPr>
          <p:cNvPr id="13" name="Text 7">
            <a:extLst>
              <a:ext uri="{FF2B5EF4-FFF2-40B4-BE49-F238E27FC236}">
                <a16:creationId xmlns:a16="http://schemas.microsoft.com/office/drawing/2014/main" id="{860614FA-EF02-C912-ECA6-C9F2C49EF32C}"/>
              </a:ext>
            </a:extLst>
          </p:cNvPr>
          <p:cNvSpPr/>
          <p:nvPr/>
        </p:nvSpPr>
        <p:spPr>
          <a:xfrm>
            <a:off x="6492240" y="1371600"/>
            <a:ext cx="4892040" cy="320040"/>
          </a:xfrm>
          <a:prstGeom prst="rect">
            <a:avLst/>
          </a:prstGeom>
          <a:noFill/>
          <a:ln/>
        </p:spPr>
        <p:txBody>
          <a:bodyPr wrap="square" rtlCol="0" anchor="ctr"/>
          <a:lstStyle/>
          <a:p>
            <a:pPr marL="0" indent="0">
              <a:buNone/>
            </a:pPr>
            <a:r>
              <a:rPr lang="en-US" sz="2600" b="1" kern="0" spc="100" dirty="0">
                <a:solidFill>
                  <a:srgbClr val="F77F00"/>
                </a:solidFill>
                <a:latin typeface="Calibri" pitchFamily="34" charset="0"/>
                <a:ea typeface="Calibri" pitchFamily="34" charset="-122"/>
                <a:cs typeface="Calibri" pitchFamily="34" charset="-120"/>
              </a:rPr>
              <a:t>FUTURE WORK</a:t>
            </a:r>
            <a:endParaRPr lang="en-US" sz="2600" dirty="0"/>
          </a:p>
        </p:txBody>
      </p:sp>
      <p:sp>
        <p:nvSpPr>
          <p:cNvPr id="15" name="Text 8">
            <a:extLst>
              <a:ext uri="{FF2B5EF4-FFF2-40B4-BE49-F238E27FC236}">
                <a16:creationId xmlns:a16="http://schemas.microsoft.com/office/drawing/2014/main" id="{C023608A-39FD-CBC7-62D9-14C5AAC19EFF}"/>
              </a:ext>
            </a:extLst>
          </p:cNvPr>
          <p:cNvSpPr/>
          <p:nvPr/>
        </p:nvSpPr>
        <p:spPr>
          <a:xfrm>
            <a:off x="6492240" y="1737360"/>
            <a:ext cx="4892040" cy="2468880"/>
          </a:xfrm>
          <a:prstGeom prst="rect">
            <a:avLst/>
          </a:prstGeom>
          <a:noFill/>
          <a:ln/>
        </p:spPr>
        <p:txBody>
          <a:bodyPr wrap="square" rtlCol="0" anchor="t"/>
          <a:lstStyle/>
          <a:p>
            <a:pPr marL="342900" indent="-342900">
              <a:spcAft>
                <a:spcPts val="500"/>
              </a:spcAft>
              <a:buSzPct val="100000"/>
              <a:buChar char="•"/>
            </a:pPr>
            <a:r>
              <a:rPr lang="en-US" sz="2000" dirty="0">
                <a:latin typeface="Calibri" pitchFamily="34" charset="0"/>
                <a:ea typeface="Calibri" pitchFamily="34" charset="-122"/>
                <a:cs typeface="Calibri" pitchFamily="34" charset="-120"/>
              </a:rPr>
              <a:t>Complete all category food pages</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Add complete food images and details</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Improve filtering and search</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Complete order history synchronization</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Strengthen database integration</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Complete admin management</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Improve checkout / payment simulation</a:t>
            </a:r>
            <a:endParaRPr lang="en-US" sz="2000" dirty="0"/>
          </a:p>
          <a:p>
            <a:pPr marL="342900" indent="-342900">
              <a:spcAft>
                <a:spcPts val="500"/>
              </a:spcAft>
              <a:buSzPct val="100000"/>
              <a:buChar char="•"/>
            </a:pPr>
            <a:r>
              <a:rPr lang="en-US" sz="2000" dirty="0">
                <a:latin typeface="Calibri" pitchFamily="34" charset="0"/>
                <a:ea typeface="Calibri" pitchFamily="34" charset="-122"/>
                <a:cs typeface="Calibri" pitchFamily="34" charset="-120"/>
              </a:rPr>
              <a:t>Perform final testing and UI refinement</a:t>
            </a:r>
            <a:endParaRPr lang="en-US" sz="2000" dirty="0"/>
          </a:p>
        </p:txBody>
      </p:sp>
      <p:sp>
        <p:nvSpPr>
          <p:cNvPr id="17" name="TextBox 16">
            <a:extLst>
              <a:ext uri="{FF2B5EF4-FFF2-40B4-BE49-F238E27FC236}">
                <a16:creationId xmlns:a16="http://schemas.microsoft.com/office/drawing/2014/main" id="{D1EC5CFB-28E2-8D55-E978-513E52B6A0EF}"/>
              </a:ext>
            </a:extLst>
          </p:cNvPr>
          <p:cNvSpPr txBox="1"/>
          <p:nvPr/>
        </p:nvSpPr>
        <p:spPr>
          <a:xfrm>
            <a:off x="398170" y="6500921"/>
            <a:ext cx="6094070" cy="230832"/>
          </a:xfrm>
          <a:prstGeom prst="rect">
            <a:avLst/>
          </a:prstGeom>
          <a:noFill/>
        </p:spPr>
        <p:txBody>
          <a:bodyPr wrap="square">
            <a:spAutoFit/>
          </a:bodyPr>
          <a:lstStyle/>
          <a:p>
            <a:pPr marL="0" indent="0" algn="l">
              <a:buNone/>
            </a:pPr>
            <a:r>
              <a:rPr lang="en-US" sz="900" dirty="0" err="1">
                <a:solidFill>
                  <a:srgbClr val="5B6B69"/>
                </a:solidFill>
                <a:latin typeface="Calibri" pitchFamily="34" charset="0"/>
                <a:ea typeface="Calibri" pitchFamily="34" charset="-122"/>
                <a:cs typeface="Calibri" pitchFamily="34" charset="-120"/>
              </a:rPr>
              <a:t>QuickBite</a:t>
            </a:r>
            <a:r>
              <a:rPr lang="en-US" sz="900" dirty="0">
                <a:solidFill>
                  <a:srgbClr val="5B6B69"/>
                </a:solidFill>
                <a:latin typeface="Calibri" pitchFamily="34" charset="0"/>
                <a:ea typeface="Calibri" pitchFamily="34" charset="-122"/>
                <a:cs typeface="Calibri" pitchFamily="34" charset="-120"/>
              </a:rPr>
              <a:t> – Smart Food Ordering Platform  |  Review 1</a:t>
            </a:r>
            <a:endParaRPr lang="en-US" sz="900" dirty="0"/>
          </a:p>
        </p:txBody>
      </p:sp>
    </p:spTree>
    <p:extLst>
      <p:ext uri="{BB962C8B-B14F-4D97-AF65-F5344CB8AC3E}">
        <p14:creationId xmlns:p14="http://schemas.microsoft.com/office/powerpoint/2010/main" val="2821109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2011680" y="4206240"/>
            <a:ext cx="5943600" cy="5943600"/>
          </a:xfrm>
          <a:prstGeom prst="ellipse">
            <a:avLst/>
          </a:prstGeom>
          <a:solidFill>
            <a:srgbClr val="E4F1F0"/>
          </a:solidFill>
          <a:ln/>
        </p:spPr>
      </p:sp>
      <p:sp>
        <p:nvSpPr>
          <p:cNvPr id="3" name="Shape 1"/>
          <p:cNvSpPr/>
          <p:nvPr/>
        </p:nvSpPr>
        <p:spPr>
          <a:xfrm>
            <a:off x="9875520" y="-2194560"/>
            <a:ext cx="4572000" cy="4572000"/>
          </a:xfrm>
          <a:prstGeom prst="ellipse">
            <a:avLst/>
          </a:prstGeom>
          <a:solidFill>
            <a:srgbClr val="FCEBD8"/>
          </a:solidFill>
          <a:ln/>
        </p:spPr>
      </p:sp>
      <p:sp>
        <p:nvSpPr>
          <p:cNvPr id="13" name="Text 11"/>
          <p:cNvSpPr/>
          <p:nvPr/>
        </p:nvSpPr>
        <p:spPr>
          <a:xfrm>
            <a:off x="548640" y="6400800"/>
            <a:ext cx="11064240" cy="320040"/>
          </a:xfrm>
          <a:prstGeom prst="rect">
            <a:avLst/>
          </a:prstGeom>
          <a:noFill/>
          <a:ln/>
        </p:spPr>
        <p:txBody>
          <a:bodyPr wrap="square" rtlCol="0" anchor="ctr"/>
          <a:lstStyle/>
          <a:p>
            <a:pPr marL="0" indent="0" algn="ctr">
              <a:buNone/>
            </a:pPr>
            <a:r>
              <a:rPr lang="en-US" sz="1300" dirty="0">
                <a:solidFill>
                  <a:srgbClr val="002060"/>
                </a:solidFill>
                <a:latin typeface="Calibri" pitchFamily="34" charset="0"/>
                <a:ea typeface="Calibri" pitchFamily="34" charset="-122"/>
                <a:cs typeface="Calibri" pitchFamily="34" charset="-120"/>
              </a:rPr>
              <a:t>QuickBite – Smart Food Ordering Platform  |  B.Tech CSE, GIET University, Gunupur</a:t>
            </a:r>
            <a:endParaRPr lang="en-US" sz="1300" dirty="0">
              <a:solidFill>
                <a:srgbClr val="002060"/>
              </a:solidFill>
            </a:endParaRPr>
          </a:p>
        </p:txBody>
      </p:sp>
      <p:sp>
        <p:nvSpPr>
          <p:cNvPr id="17" name="Content Placeholder 2">
            <a:extLst>
              <a:ext uri="{FF2B5EF4-FFF2-40B4-BE49-F238E27FC236}">
                <a16:creationId xmlns:a16="http://schemas.microsoft.com/office/drawing/2014/main" id="{23611D63-712A-99D6-66A8-1DDB751EEE08}"/>
              </a:ext>
            </a:extLst>
          </p:cNvPr>
          <p:cNvSpPr txBox="1">
            <a:spLocks/>
          </p:cNvSpPr>
          <p:nvPr/>
        </p:nvSpPr>
        <p:spPr>
          <a:xfrm>
            <a:off x="1012784" y="2006726"/>
            <a:ext cx="10385964" cy="165432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11200" b="1" dirty="0">
                <a:effectLst>
                  <a:outerShdw blurRad="38100" dist="38100" dir="2700000" algn="tl">
                    <a:srgbClr val="000000">
                      <a:alpha val="43137"/>
                    </a:srgbClr>
                  </a:outerShdw>
                </a:effectLst>
                <a:latin typeface="Algerian" panose="04020705040A02060702" pitchFamily="82" charset="0"/>
                <a:cs typeface="Times New Roman" panose="02020603050405020304" pitchFamily="18" charset="0"/>
              </a:rPr>
              <a:t>Thank you ! </a:t>
            </a:r>
          </a:p>
          <a:p>
            <a:pPr marL="0" indent="0" algn="ctr">
              <a:buFont typeface="Arial" pitchFamily="34" charset="0"/>
              <a:buNone/>
            </a:pPr>
            <a:endParaRPr lang="en-IN" sz="11200" dirty="0">
              <a:latin typeface="Algerian" panose="04020705040A02060702" pitchFamily="82" charset="0"/>
            </a:endParaRPr>
          </a:p>
        </p:txBody>
      </p:sp>
      <p:sp>
        <p:nvSpPr>
          <p:cNvPr id="21" name="TextBox 20">
            <a:extLst>
              <a:ext uri="{FF2B5EF4-FFF2-40B4-BE49-F238E27FC236}">
                <a16:creationId xmlns:a16="http://schemas.microsoft.com/office/drawing/2014/main" id="{FB5A79A4-3786-5F67-DA9A-B702E735B399}"/>
              </a:ext>
            </a:extLst>
          </p:cNvPr>
          <p:cNvSpPr txBox="1"/>
          <p:nvPr/>
        </p:nvSpPr>
        <p:spPr>
          <a:xfrm>
            <a:off x="798652" y="3775353"/>
            <a:ext cx="10814228" cy="861774"/>
          </a:xfrm>
          <a:prstGeom prst="rect">
            <a:avLst/>
          </a:prstGeom>
          <a:noFill/>
        </p:spPr>
        <p:txBody>
          <a:bodyPr wrap="square">
            <a:spAutoFit/>
          </a:bodyPr>
          <a:lstStyle/>
          <a:p>
            <a:pPr marL="0" indent="0" algn="ctr">
              <a:buFont typeface="Arial" pitchFamily="34" charset="0"/>
              <a:buNone/>
            </a:pPr>
            <a:r>
              <a:rPr lang="en-US" sz="5000" b="1" dirty="0">
                <a:effectLst>
                  <a:outerShdw blurRad="38100" dist="38100" dir="2700000" algn="tl">
                    <a:srgbClr val="000000">
                      <a:alpha val="43137"/>
                    </a:srgbClr>
                  </a:outerShdw>
                </a:effectLst>
                <a:latin typeface="Sitka Text" pitchFamily="2" charset="0"/>
                <a:cs typeface="Times New Roman" panose="02020603050405020304" pitchFamily="18" charset="0"/>
              </a:rPr>
              <a:t>Questions &amp; Suggestions?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TotalTime>
  <Words>786</Words>
  <Application>Microsoft Office PowerPoint</Application>
  <PresentationFormat>Widescreen</PresentationFormat>
  <Paragraphs>194</Paragraphs>
  <Slides>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Algerian</vt:lpstr>
      <vt:lpstr>Arial</vt:lpstr>
      <vt:lpstr>Arial Black</vt:lpstr>
      <vt:lpstr>Calibri</vt:lpstr>
      <vt:lpstr>Cambria</vt:lpstr>
      <vt:lpstr>Sitka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Tirthapada Panda</cp:lastModifiedBy>
  <cp:revision>4</cp:revision>
  <dcterms:created xsi:type="dcterms:W3CDTF">2026-08-23T18:07:03Z</dcterms:created>
  <dcterms:modified xsi:type="dcterms:W3CDTF">2026-08-23T20:12:01Z</dcterms:modified>
</cp:coreProperties>
</file>