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38EA6F-0BE2-4C8B-AA5B-AC64E144D026}">
          <p14:sldIdLst>
            <p14:sldId id="256"/>
            <p14:sldId id="257"/>
            <p14:sldId id="258"/>
            <p14:sldId id="259"/>
          </p14:sldIdLst>
        </p14:section>
        <p14:section name="Untitled Section" id="{AA5878C5-9ED5-43D4-A70B-747BAD740990}">
          <p14:sldIdLst>
            <p14:sldId id="260"/>
            <p14:sldId id="261"/>
            <p14:sldId id="266"/>
            <p14:sldId id="262"/>
            <p14:sldId id="267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E66-4725-973A-FD4E41C521A3}"/>
              </c:ext>
            </c:extLst>
          </c:dPt>
          <c:dPt>
            <c:idx val="1"/>
            <c:invertIfNegative val="0"/>
            <c:bubble3D val="0"/>
            <c:spPr>
              <a:solidFill>
                <a:srgbClr val="E871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E66-4725-973A-FD4E41C521A3}"/>
              </c:ext>
            </c:extLst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E66-4725-973A-FD4E41C521A3}"/>
              </c:ext>
            </c:extLst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5E66-4725-973A-FD4E41C521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44</c:v>
                </c:pt>
                <c:pt idx="2">
                  <c:v>43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66-4725-973A-FD4E41C521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71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5" Type="http://schemas.openxmlformats.org/officeDocument/2006/relationships/image" Target="../media/image16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14466"/>
            <a:ext cx="12344400" cy="4429134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00068" y="1987934"/>
            <a:ext cx="9495691" cy="3407026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00134" y="2461402"/>
            <a:ext cx="6646985" cy="2384918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0203" y="2934868"/>
            <a:ext cx="3798277" cy="1362811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1910" y="3211059"/>
            <a:ext cx="2136530" cy="766581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10962952" y="2214606"/>
            <a:ext cx="759655" cy="272562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71112" y="4409166"/>
            <a:ext cx="759655" cy="272562"/>
          </a:xfrm>
          <a:prstGeom prst="ellipse">
            <a:avLst/>
          </a:prstGeom>
          <a:solidFill>
            <a:srgbClr val="E871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37272" y="4592046"/>
            <a:ext cx="759655" cy="272562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19752" y="2031726"/>
            <a:ext cx="759655" cy="27256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10506"/>
            <a:ext cx="1058369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 THE POST-DISASTER INFORMATION FOG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38100" dir="18900000" algn="bl" rotWithShape="0">
                  <a:prstClr val="black">
                    <a:alpha val="40000"/>
                  </a:prstClr>
                </a:outerShdw>
              </a:effectLst>
              <a:latin typeface="Lucida Bright" panose="020406020505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8640" y="1588721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E2761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6600" dirty="0">
              <a:latin typeface="Bodoni MT Black" panose="02070A030806060202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3040477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" panose="020B0602030504020204" pitchFamily="34" charset="0"/>
                <a:ea typeface="Calibri" pitchFamily="34" charset="-122"/>
                <a:cs typeface="Calibri" pitchFamily="34" charset="-120"/>
              </a:rPr>
              <a:t>Dynamic Disaster Evidence Fusion &amp; Uncertainty Engine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Lucida Sans" panose="020B0602030504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315468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fragmented disaster reports to evidence-backed rescue decisions.”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5079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CHANDRA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8640" y="51663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Presented by</a:t>
            </a:r>
            <a:r>
              <a:rPr lang="en-US" sz="2000" dirty="0"/>
              <a:t>: </a:t>
            </a:r>
            <a:r>
              <a:rPr lang="en-US" sz="2000" dirty="0">
                <a:latin typeface="Rockwell" panose="02060603020205020403" pitchFamily="18" charset="0"/>
              </a:rPr>
              <a:t>TIRTHAPADA PANDA </a:t>
            </a:r>
          </a:p>
          <a:p>
            <a:pPr marL="0" indent="0">
              <a:buNone/>
            </a:pPr>
            <a:r>
              <a:rPr lang="en-US" sz="2000" dirty="0">
                <a:latin typeface="Rockwell" panose="02060603020205020403" pitchFamily="18" charset="0"/>
              </a:rPr>
              <a:t>                             ASHRITA BEHERA</a:t>
            </a:r>
          </a:p>
          <a:p>
            <a:pPr marL="0" indent="0">
              <a:buNone/>
            </a:pPr>
            <a:r>
              <a:rPr lang="en-US" sz="2000" dirty="0">
                <a:latin typeface="Rockwell" panose="02060603020205020403" pitchFamily="18" charset="0"/>
              </a:rPr>
              <a:t>                             SWAGATAM PRADHAN</a:t>
            </a:r>
          </a:p>
          <a:p>
            <a:pPr marL="0" indent="0">
              <a:buNone/>
            </a:pPr>
            <a:r>
              <a:rPr lang="en-US" sz="2000" dirty="0">
                <a:latin typeface="Rockwell" panose="02060603020205020403" pitchFamily="18" charset="0"/>
              </a:rPr>
              <a:t>                             RR HIMANSHU SEKHAR DAS</a:t>
            </a:r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652881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28" name="Picture 27" descr="image2.png">
            <a:extLst>
              <a:ext uri="{FF2B5EF4-FFF2-40B4-BE49-F238E27FC236}">
                <a16:creationId xmlns:a16="http://schemas.microsoft.com/office/drawing/2014/main" id="{C936707D-04DC-E8F6-3516-57842899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THE PROBLEM: POST-DISASTER INFORMATION FOG</a:t>
            </a:r>
            <a:endParaRPr lang="en-US" sz="26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85800" cy="685800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7" name="Image 0" descr="/home/claude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04597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&amp; Social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Reports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950976" y="3172968"/>
            <a:ext cx="329184" cy="365760"/>
          </a:xfrm>
          <a:prstGeom prst="downArrow">
            <a:avLst/>
          </a:prstGeom>
          <a:solidFill>
            <a:srgbClr val="8894AC"/>
          </a:solidFill>
          <a:ln/>
        </p:spPr>
      </p:sp>
      <p:sp>
        <p:nvSpPr>
          <p:cNvPr id="10" name="Shape 7"/>
          <p:cNvSpPr/>
          <p:nvPr/>
        </p:nvSpPr>
        <p:spPr>
          <a:xfrm>
            <a:off x="3154680" y="1874520"/>
            <a:ext cx="685800" cy="685800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11" name="Image 1" descr="/home/claude/icons/exce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130" y="20459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3328416" y="3172968"/>
            <a:ext cx="329184" cy="365760"/>
          </a:xfrm>
          <a:prstGeom prst="downArrow">
            <a:avLst/>
          </a:prstGeom>
          <a:solidFill>
            <a:srgbClr val="8894AC"/>
          </a:solidFill>
          <a:ln/>
        </p:spPr>
      </p:sp>
      <p:sp>
        <p:nvSpPr>
          <p:cNvPr id="14" name="Shape 10"/>
          <p:cNvSpPr/>
          <p:nvPr/>
        </p:nvSpPr>
        <p:spPr>
          <a:xfrm>
            <a:off x="5532120" y="1874520"/>
            <a:ext cx="685800" cy="685800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15" name="Image 2" descr="/home/claude/icons/pdf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570" y="2045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Camp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705856" y="3172968"/>
            <a:ext cx="329184" cy="365760"/>
          </a:xfrm>
          <a:prstGeom prst="downArrow">
            <a:avLst/>
          </a:prstGeom>
          <a:solidFill>
            <a:srgbClr val="8894AC"/>
          </a:solidFill>
          <a:ln/>
        </p:spPr>
      </p:sp>
      <p:sp>
        <p:nvSpPr>
          <p:cNvPr id="18" name="Shape 13"/>
          <p:cNvSpPr/>
          <p:nvPr/>
        </p:nvSpPr>
        <p:spPr>
          <a:xfrm>
            <a:off x="7909560" y="1874520"/>
            <a:ext cx="685800" cy="685800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19" name="Image 3" descr="/home/claude/icons/ima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204597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4380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083296" y="3172968"/>
            <a:ext cx="329184" cy="365760"/>
          </a:xfrm>
          <a:prstGeom prst="downArrow">
            <a:avLst/>
          </a:prstGeom>
          <a:solidFill>
            <a:srgbClr val="8894AC"/>
          </a:solidFill>
          <a:ln/>
        </p:spPr>
      </p:sp>
      <p:sp>
        <p:nvSpPr>
          <p:cNvPr id="22" name="Shape 16"/>
          <p:cNvSpPr/>
          <p:nvPr/>
        </p:nvSpPr>
        <p:spPr>
          <a:xfrm>
            <a:off x="457200" y="3611880"/>
            <a:ext cx="889842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1792" y="3767328"/>
            <a:ext cx="548640" cy="548640"/>
          </a:xfrm>
          <a:prstGeom prst="ellipse">
            <a:avLst/>
          </a:prstGeom>
          <a:solidFill>
            <a:srgbClr val="141B3F"/>
          </a:solidFill>
          <a:ln/>
        </p:spPr>
      </p:sp>
      <p:pic>
        <p:nvPicPr>
          <p:cNvPr id="24" name="Image 4" descr="/home/claude/icons/ale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77056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36118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 •  CONTRADICTORY  •  UNVERIFIED  •  DUPLICATE  •  OUTDATED INFORMATION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120640" y="4572000"/>
            <a:ext cx="365760" cy="365760"/>
          </a:xfrm>
          <a:prstGeom prst="downArrow">
            <a:avLst/>
          </a:prstGeom>
          <a:solidFill>
            <a:srgbClr val="8894AC"/>
          </a:solidFill>
          <a:ln/>
        </p:spPr>
      </p:sp>
      <p:sp>
        <p:nvSpPr>
          <p:cNvPr id="27" name="Shape 20"/>
          <p:cNvSpPr/>
          <p:nvPr/>
        </p:nvSpPr>
        <p:spPr>
          <a:xfrm>
            <a:off x="3017520" y="5029200"/>
            <a:ext cx="6126480" cy="5486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154680" y="5102352"/>
            <a:ext cx="402336" cy="402336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9" name="Image 5" descr="/home/claude/icons/questio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5030" y="5162702"/>
            <a:ext cx="281635" cy="28163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03320" y="50292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we trust? Where is it worst? Where do we act first?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9484468" y="1828800"/>
            <a:ext cx="2219852" cy="1005838"/>
          </a:xfrm>
          <a:prstGeom prst="roundRect">
            <a:avLst>
              <a:gd name="adj" fmla="val 8000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557424" y="1883663"/>
            <a:ext cx="2018048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9557424" y="2231135"/>
            <a:ext cx="2018048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reporting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incident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484468" y="2880360"/>
            <a:ext cx="2219852" cy="1005838"/>
          </a:xfrm>
          <a:prstGeom prst="roundRect">
            <a:avLst>
              <a:gd name="adj" fmla="val 8000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557424" y="2935223"/>
            <a:ext cx="2018048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700" dirty="0"/>
          </a:p>
        </p:txBody>
      </p:sp>
      <p:sp>
        <p:nvSpPr>
          <p:cNvPr id="36" name="Text 28"/>
          <p:cNvSpPr/>
          <p:nvPr/>
        </p:nvSpPr>
        <p:spPr>
          <a:xfrm>
            <a:off x="9557424" y="3282695"/>
            <a:ext cx="2018048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system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rank urgency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9484468" y="3931920"/>
            <a:ext cx="2219852" cy="1005838"/>
          </a:xfrm>
          <a:prstGeom prst="roundRect">
            <a:avLst>
              <a:gd name="adj" fmla="val 8000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557424" y="3986783"/>
            <a:ext cx="2018048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9557424" y="4334255"/>
            <a:ext cx="2018048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for rescue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4" name="Picture 43" descr="image2.png">
            <a:extLst>
              <a:ext uri="{FF2B5EF4-FFF2-40B4-BE49-F238E27FC236}">
                <a16:creationId xmlns:a16="http://schemas.microsoft.com/office/drawing/2014/main" id="{40661B09-BB2F-FA99-FD40-8BB8849348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PROPOSED SOLUTION: THE D-FUSE PIPELINE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21906" y="292608"/>
            <a:ext cx="228241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608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252" y="18379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2328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65096" y="2226564"/>
            <a:ext cx="182880" cy="16459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10" name="Shape 7"/>
          <p:cNvSpPr/>
          <p:nvPr/>
        </p:nvSpPr>
        <p:spPr>
          <a:xfrm>
            <a:off x="2566264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11" name="Image 1" descr="/home/claude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908" y="18379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1984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84752" y="2226564"/>
            <a:ext cx="182880" cy="16459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14" name="Shape 10"/>
          <p:cNvSpPr/>
          <p:nvPr/>
        </p:nvSpPr>
        <p:spPr>
          <a:xfrm>
            <a:off x="4385920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15" name="Image 2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564" y="18379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31640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04408" y="2226564"/>
            <a:ext cx="182880" cy="16459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18" name="Shape 13"/>
          <p:cNvSpPr/>
          <p:nvPr/>
        </p:nvSpPr>
        <p:spPr>
          <a:xfrm>
            <a:off x="6205576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19" name="Image 3" descr="/home/claude/icons/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220" y="183794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51296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Analysis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824064" y="2226564"/>
            <a:ext cx="182880" cy="16459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22" name="Shape 16"/>
          <p:cNvSpPr/>
          <p:nvPr/>
        </p:nvSpPr>
        <p:spPr>
          <a:xfrm>
            <a:off x="8025232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23" name="Image 4" descr="/home/claude/icons/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5876" y="183794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70952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Map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643720" y="2226564"/>
            <a:ext cx="182880" cy="16459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26" name="Shape 19"/>
          <p:cNvSpPr/>
          <p:nvPr/>
        </p:nvSpPr>
        <p:spPr>
          <a:xfrm>
            <a:off x="9844888" y="1691640"/>
            <a:ext cx="1600200" cy="1234440"/>
          </a:xfrm>
          <a:prstGeom prst="roundRect">
            <a:avLst>
              <a:gd name="adj" fmla="val 6667"/>
            </a:avLst>
          </a:prstGeom>
          <a:solidFill>
            <a:srgbClr val="E8710A"/>
          </a:solidFill>
          <a:ln/>
        </p:spPr>
      </p:sp>
      <p:pic>
        <p:nvPicPr>
          <p:cNvPr id="27" name="Image 5" descr="/home/claude/icons/hand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5532" y="183794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90608" y="2313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46608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46608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should responders act first?”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457200" y="4343400"/>
            <a:ext cx="11247120" cy="0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572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INPUT TYPES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34" name="Image 6" descr="/home/claude/icons/fil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199" y="5019599"/>
            <a:ext cx="311810" cy="31181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28600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2121408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37" name="Image 7" descr="/home/claude/icons/excel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8967" y="5019599"/>
            <a:ext cx="311810" cy="31181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801368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3694176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40" name="Image 8" descr="/home/claude/icons/pdf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1735" y="5019599"/>
            <a:ext cx="311810" cy="31181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374136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5266944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43" name="Image 9" descr="/home/claude/icons/image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503" y="5019599"/>
            <a:ext cx="311810" cy="31181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946904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6839712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46" name="Image 10" descr="/home/claude/icons/pin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271" y="5019599"/>
            <a:ext cx="311810" cy="31181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519672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48" name="Shape 35"/>
          <p:cNvSpPr/>
          <p:nvPr/>
        </p:nvSpPr>
        <p:spPr>
          <a:xfrm>
            <a:off x="8412480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49" name="Image 11" descr="/home/claude/icons/clock_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0039" y="5019599"/>
            <a:ext cx="311810" cy="31181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092440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9985248" y="4892040"/>
            <a:ext cx="566928" cy="566928"/>
          </a:xfrm>
          <a:prstGeom prst="ellipse">
            <a:avLst/>
          </a:prstGeom>
          <a:solidFill>
            <a:srgbClr val="F2F5FC"/>
          </a:solidFill>
          <a:ln/>
        </p:spPr>
      </p:sp>
      <p:pic>
        <p:nvPicPr>
          <p:cNvPr id="52" name="Image 12" descr="/home/claude/icons/users_nav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2807" y="5019599"/>
            <a:ext cx="311810" cy="31181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9665208" y="549554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55" name="Text 40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57" name="Text 4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59" name="Picture 58" descr="image2.png">
            <a:extLst>
              <a:ext uri="{FF2B5EF4-FFF2-40B4-BE49-F238E27FC236}">
                <a16:creationId xmlns:a16="http://schemas.microsoft.com/office/drawing/2014/main" id="{1604BA40-6204-3EF1-04AE-40523C2BEED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  <p:sp>
        <p:nvSpPr>
          <p:cNvPr id="61" name="Text 1">
            <a:extLst>
              <a:ext uri="{FF2B5EF4-FFF2-40B4-BE49-F238E27FC236}">
                <a16:creationId xmlns:a16="http://schemas.microsoft.com/office/drawing/2014/main" id="{13E3B33C-358D-FC4A-66E4-16F529F0BDC4}"/>
              </a:ext>
            </a:extLst>
          </p:cNvPr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WHAT THE OUTPUT LOOKS LIKE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105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pi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1885950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A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463040" y="2121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Zone-E2  •  Flood-affected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40480" y="187452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186537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66160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/ 100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Confidence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6616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3520440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at Risk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356616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9144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Access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356616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77240" y="4434840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(last 6 hrs)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356616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Worsening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914400" y="4892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Reports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3566160" y="489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confirming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264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LEGEND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26480" y="19202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/>
        </p:spPr>
      </p:sp>
      <p:sp>
        <p:nvSpPr>
          <p:cNvPr id="30" name="Text 27"/>
          <p:cNvSpPr/>
          <p:nvPr/>
        </p:nvSpPr>
        <p:spPr>
          <a:xfrm>
            <a:off x="612648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76352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within minutes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126480" y="245059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8710A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763524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within hours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126480" y="298094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9A825"/>
          </a:solidFill>
          <a:ln/>
        </p:spPr>
      </p:sp>
      <p:sp>
        <p:nvSpPr>
          <p:cNvPr id="36" name="Text 33"/>
          <p:cNvSpPr/>
          <p:nvPr/>
        </p:nvSpPr>
        <p:spPr>
          <a:xfrm>
            <a:off x="612648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7635240" y="2980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plan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126480" y="3511296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35112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7635240" y="3511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follow-up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126480" y="4160520"/>
            <a:ext cx="5532120" cy="0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26480" y="4279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RESOURCE-AWARE RECOMMENDATION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 41"/>
          <p:cNvSpPr/>
          <p:nvPr/>
        </p:nvSpPr>
        <p:spPr>
          <a:xfrm>
            <a:off x="6126480" y="4983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2 rescue boats + 1 medical team to Village A now.
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C (High) and Village D (Verify First) follow in the queue.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6" name="Text 42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0" name="Picture 49" descr="image2.png">
            <a:extLst>
              <a:ext uri="{FF2B5EF4-FFF2-40B4-BE49-F238E27FC236}">
                <a16:creationId xmlns:a16="http://schemas.microsoft.com/office/drawing/2014/main" id="{866CCEBC-1BD7-5CCA-308D-713620449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E15EB3F3-6B2A-1849-60B4-7FD19FCD023E}"/>
              </a:ext>
            </a:extLst>
          </p:cNvPr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TECHNICAL APPROACH: SYSTEM ARCHITECTURE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5040" y="2926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8056" y="1135947"/>
            <a:ext cx="2606040" cy="3233571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741" y="1097280"/>
            <a:ext cx="2606040" cy="576072"/>
          </a:xfrm>
          <a:prstGeom prst="roundRect">
            <a:avLst>
              <a:gd name="adj" fmla="val 16000"/>
            </a:avLst>
          </a:prstGeom>
          <a:solidFill>
            <a:srgbClr val="5A6B87"/>
          </a:solidFill>
          <a:ln/>
        </p:spPr>
      </p:sp>
      <p:sp>
        <p:nvSpPr>
          <p:cNvPr id="7" name="Shape 5"/>
          <p:cNvSpPr/>
          <p:nvPr/>
        </p:nvSpPr>
        <p:spPr>
          <a:xfrm>
            <a:off x="437741" y="1253893"/>
            <a:ext cx="2606040" cy="228600"/>
          </a:xfrm>
          <a:prstGeom prst="rect">
            <a:avLst/>
          </a:prstGeom>
          <a:solidFill>
            <a:srgbClr val="5A6B87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8" name="Text 6"/>
          <p:cNvSpPr/>
          <p:nvPr/>
        </p:nvSpPr>
        <p:spPr>
          <a:xfrm>
            <a:off x="529181" y="1097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9380" y="2007108"/>
            <a:ext cx="2317339" cy="1902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Mongolian Baiti" panose="03000500000000000000" pitchFamily="66" charset="0"/>
              </a:rPr>
              <a:t>Text, Excel, PDF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Mongolian Baiti" panose="03000500000000000000" pitchFamily="66" charset="0"/>
              </a:rPr>
              <a:t>Images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Mongolian Baiti" panose="03000500000000000000" pitchFamily="66" charset="0"/>
              </a:rPr>
              <a:t>GPS + Timestamp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  <a:cs typeface="Mongolian Baiti" panose="03000500000000000000" pitchFamily="66" charset="0"/>
            </a:endParaRPr>
          </a:p>
          <a:p>
            <a:pPr>
              <a:lnSpc>
                <a:spcPct val="20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  <a:cs typeface="Mongolian Baiti" panose="03000500000000000000" pitchFamily="66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  <a:cs typeface="Mongolian Baiti" panose="03000500000000000000" pitchFamily="66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46987" y="2326952"/>
            <a:ext cx="1777922" cy="564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037529" y="2921522"/>
            <a:ext cx="1905353" cy="56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3087315" y="2602245"/>
            <a:ext cx="274320" cy="256032"/>
          </a:xfrm>
          <a:prstGeom prst="rightArrow">
            <a:avLst/>
          </a:prstGeom>
          <a:solidFill>
            <a:srgbClr val="8894AC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16" name="Shape 11"/>
          <p:cNvSpPr/>
          <p:nvPr/>
        </p:nvSpPr>
        <p:spPr>
          <a:xfrm>
            <a:off x="3365050" y="1133855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52110" y="1097280"/>
            <a:ext cx="2606040" cy="585216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18" name="Shape 13"/>
          <p:cNvSpPr/>
          <p:nvPr/>
        </p:nvSpPr>
        <p:spPr>
          <a:xfrm>
            <a:off x="3352110" y="1325880"/>
            <a:ext cx="260604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3443550" y="1097279"/>
            <a:ext cx="2423160" cy="475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307789" y="2416480"/>
            <a:ext cx="2708515" cy="2384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NLP / LLM extraction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Computer vision on images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Semantic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dedup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 (embeddings)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3942969" y="243435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3969816" y="30812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3927989" y="3732803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>
            <a:off x="5974245" y="2587166"/>
            <a:ext cx="274320" cy="25603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29" name="Shape 20"/>
          <p:cNvSpPr/>
          <p:nvPr/>
        </p:nvSpPr>
        <p:spPr>
          <a:xfrm>
            <a:off x="6238538" y="1109829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229394" y="1097279"/>
            <a:ext cx="2606040" cy="612647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31" name="Shape 22"/>
          <p:cNvSpPr/>
          <p:nvPr/>
        </p:nvSpPr>
        <p:spPr>
          <a:xfrm>
            <a:off x="6229394" y="1325880"/>
            <a:ext cx="260604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23"/>
          <p:cNvSpPr/>
          <p:nvPr/>
        </p:nvSpPr>
        <p:spPr>
          <a:xfrm>
            <a:off x="6320834" y="1234442"/>
            <a:ext cx="2423160" cy="384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EVIDENCE LAYER</a:t>
            </a: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6366616" y="2747770"/>
            <a:ext cx="25073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Geospatial linking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Temporal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>
              <a:lnSpc>
                <a:spcPct val="20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6873558" y="237364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6"/>
          <p:cNvSpPr/>
          <p:nvPr/>
        </p:nvSpPr>
        <p:spPr>
          <a:xfrm>
            <a:off x="6853519" y="3044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27"/>
          <p:cNvSpPr/>
          <p:nvPr/>
        </p:nvSpPr>
        <p:spPr>
          <a:xfrm>
            <a:off x="8863628" y="2592324"/>
            <a:ext cx="274320" cy="256032"/>
          </a:xfrm>
          <a:prstGeom prst="rightArrow">
            <a:avLst/>
          </a:prstGeom>
          <a:solidFill>
            <a:srgbClr val="8894AC"/>
          </a:solidFill>
          <a:ln/>
        </p:spPr>
      </p:sp>
      <p:sp>
        <p:nvSpPr>
          <p:cNvPr id="40" name="Shape 28"/>
          <p:cNvSpPr/>
          <p:nvPr/>
        </p:nvSpPr>
        <p:spPr>
          <a:xfrm>
            <a:off x="9125908" y="1098059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9115792" y="1097280"/>
            <a:ext cx="2606040" cy="585216"/>
          </a:xfrm>
          <a:prstGeom prst="roundRect">
            <a:avLst>
              <a:gd name="adj" fmla="val 16000"/>
            </a:avLst>
          </a:prstGeom>
          <a:solidFill>
            <a:srgbClr val="E8710A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42" name="Shape 30"/>
          <p:cNvSpPr/>
          <p:nvPr/>
        </p:nvSpPr>
        <p:spPr>
          <a:xfrm>
            <a:off x="9115792" y="1325880"/>
            <a:ext cx="2606040" cy="22860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3" name="Text 31"/>
          <p:cNvSpPr/>
          <p:nvPr/>
        </p:nvSpPr>
        <p:spPr>
          <a:xfrm>
            <a:off x="9207232" y="11841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 ENGINE → DECISION LAYER</a:t>
            </a:r>
            <a:endParaRPr lang="en-US" dirty="0"/>
          </a:p>
        </p:txBody>
      </p:sp>
      <p:sp>
        <p:nvSpPr>
          <p:cNvPr id="45" name="Text 32"/>
          <p:cNvSpPr/>
          <p:nvPr/>
        </p:nvSpPr>
        <p:spPr>
          <a:xfrm>
            <a:off x="9388554" y="2891555"/>
            <a:ext cx="2241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Evidence + reliability scoring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Priority score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Bright" panose="02040602050505020304" pitchFamily="18" charset="0"/>
                <a:ea typeface="Calibri" pitchFamily="34" charset="-122"/>
                <a:cs typeface="Calibri" pitchFamily="34" charset="-120"/>
              </a:rPr>
              <a:t>Resource recommendation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Lucida Bright" panose="02040602050505020304" pitchFamily="18" charset="0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9784080" y="2459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4"/>
          <p:cNvSpPr/>
          <p:nvPr/>
        </p:nvSpPr>
        <p:spPr>
          <a:xfrm>
            <a:off x="9784080" y="3165329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5"/>
          <p:cNvSpPr/>
          <p:nvPr/>
        </p:nvSpPr>
        <p:spPr>
          <a:xfrm>
            <a:off x="466344" y="4736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1" name="Shape 36"/>
          <p:cNvSpPr/>
          <p:nvPr/>
        </p:nvSpPr>
        <p:spPr>
          <a:xfrm>
            <a:off x="507780" y="53019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3" name="Text 37"/>
          <p:cNvSpPr/>
          <p:nvPr/>
        </p:nvSpPr>
        <p:spPr>
          <a:xfrm>
            <a:off x="925243" y="5256276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Disaster Map</a:t>
            </a:r>
            <a:endParaRPr lang="en-US" dirty="0"/>
          </a:p>
        </p:txBody>
      </p:sp>
      <p:sp>
        <p:nvSpPr>
          <p:cNvPr id="54" name="Shape 38"/>
          <p:cNvSpPr/>
          <p:nvPr/>
        </p:nvSpPr>
        <p:spPr>
          <a:xfrm>
            <a:off x="2639058" y="53019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6" name="Text 39"/>
          <p:cNvSpPr/>
          <p:nvPr/>
        </p:nvSpPr>
        <p:spPr>
          <a:xfrm>
            <a:off x="3089501" y="5251281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</a:t>
            </a:r>
            <a:endParaRPr lang="en-US" dirty="0"/>
          </a:p>
        </p:txBody>
      </p:sp>
      <p:sp>
        <p:nvSpPr>
          <p:cNvPr id="57" name="Shape 40"/>
          <p:cNvSpPr/>
          <p:nvPr/>
        </p:nvSpPr>
        <p:spPr>
          <a:xfrm>
            <a:off x="4797679" y="53477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9" name="Text 41"/>
          <p:cNvSpPr/>
          <p:nvPr/>
        </p:nvSpPr>
        <p:spPr>
          <a:xfrm>
            <a:off x="5253759" y="5256276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Evidence</a:t>
            </a:r>
            <a:endParaRPr lang="en-US" dirty="0"/>
          </a:p>
        </p:txBody>
      </p:sp>
      <p:sp>
        <p:nvSpPr>
          <p:cNvPr id="60" name="Shape 42"/>
          <p:cNvSpPr/>
          <p:nvPr/>
        </p:nvSpPr>
        <p:spPr>
          <a:xfrm>
            <a:off x="6924046" y="53477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2" name="Text 43"/>
          <p:cNvSpPr/>
          <p:nvPr/>
        </p:nvSpPr>
        <p:spPr>
          <a:xfrm>
            <a:off x="7425124" y="5251281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Resources</a:t>
            </a:r>
            <a:endParaRPr lang="en-US" dirty="0"/>
          </a:p>
        </p:txBody>
      </p:sp>
      <p:sp>
        <p:nvSpPr>
          <p:cNvPr id="63" name="Shape 44"/>
          <p:cNvSpPr/>
          <p:nvPr/>
        </p:nvSpPr>
        <p:spPr>
          <a:xfrm>
            <a:off x="9108012" y="536370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5" name="Text 45"/>
          <p:cNvSpPr/>
          <p:nvPr/>
        </p:nvSpPr>
        <p:spPr>
          <a:xfrm>
            <a:off x="9578536" y="5301996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Alerts</a:t>
            </a:r>
            <a:endParaRPr lang="en-US" dirty="0"/>
          </a:p>
        </p:txBody>
      </p:sp>
      <p:sp>
        <p:nvSpPr>
          <p:cNvPr id="68" name="Text 48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70" name="Text 5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2" name="Picture 71" descr="image2.png">
            <a:extLst>
              <a:ext uri="{FF2B5EF4-FFF2-40B4-BE49-F238E27FC236}">
                <a16:creationId xmlns:a16="http://schemas.microsoft.com/office/drawing/2014/main" id="{3C28B9FC-27A6-A8DF-A9E3-F991DC2F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  <p:sp>
        <p:nvSpPr>
          <p:cNvPr id="74" name="Text 1">
            <a:extLst>
              <a:ext uri="{FF2B5EF4-FFF2-40B4-BE49-F238E27FC236}">
                <a16:creationId xmlns:a16="http://schemas.microsoft.com/office/drawing/2014/main" id="{EF1B0DFF-0A09-1838-E17A-6318AAD0FD24}"/>
              </a:ext>
            </a:extLst>
          </p:cNvPr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10">
            <a:extLst>
              <a:ext uri="{FF2B5EF4-FFF2-40B4-BE49-F238E27FC236}">
                <a16:creationId xmlns:a16="http://schemas.microsoft.com/office/drawing/2014/main" id="{9C315EC4-DBB8-66F7-D876-DF9765559734}"/>
              </a:ext>
            </a:extLst>
          </p:cNvPr>
          <p:cNvSpPr/>
          <p:nvPr/>
        </p:nvSpPr>
        <p:spPr>
          <a:xfrm>
            <a:off x="7003072" y="2997983"/>
            <a:ext cx="3017006" cy="1368307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5040" y="2926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86925" y="1396691"/>
            <a:ext cx="2995140" cy="1218537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03601" y="1742691"/>
            <a:ext cx="19510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899724" y="2126197"/>
            <a:ext cx="3158758" cy="457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or React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03072" y="1375612"/>
            <a:ext cx="3017006" cy="1218538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2" name="Text 8"/>
          <p:cNvSpPr/>
          <p:nvPr/>
        </p:nvSpPr>
        <p:spPr>
          <a:xfrm>
            <a:off x="7741614" y="1669564"/>
            <a:ext cx="152864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7070286" y="2187697"/>
            <a:ext cx="2978793" cy="1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Flask/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986926" y="3009283"/>
            <a:ext cx="2995140" cy="1368307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696001" y="3377735"/>
            <a:ext cx="15662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1650303" y="3827872"/>
            <a:ext cx="3657600" cy="402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Vision + Embeddings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7360269" y="3291935"/>
            <a:ext cx="229133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7108657" y="3691395"/>
            <a:ext cx="2902050" cy="465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1986926" y="4866987"/>
            <a:ext cx="2995139" cy="1368306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696001" y="5048655"/>
            <a:ext cx="1566204" cy="494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2276932" y="5518687"/>
            <a:ext cx="2432228" cy="636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visualization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Shape 19"/>
          <p:cNvSpPr/>
          <p:nvPr/>
        </p:nvSpPr>
        <p:spPr>
          <a:xfrm>
            <a:off x="7003072" y="4866987"/>
            <a:ext cx="3017006" cy="1368306"/>
          </a:xfrm>
          <a:prstGeom prst="roundRect">
            <a:avLst>
              <a:gd name="adj" fmla="val 7368"/>
            </a:avLst>
          </a:prstGeom>
          <a:solidFill>
            <a:srgbClr val="F2F5FC"/>
          </a:solidFill>
          <a:ln w="9525">
            <a:solidFill>
              <a:srgbClr val="D7DEE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489928" y="5115967"/>
            <a:ext cx="2051417" cy="36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800" dirty="0"/>
          </a:p>
        </p:txBody>
      </p:sp>
      <p:sp>
        <p:nvSpPr>
          <p:cNvPr id="29" name="Text 21"/>
          <p:cNvSpPr/>
          <p:nvPr/>
        </p:nvSpPr>
        <p:spPr>
          <a:xfrm>
            <a:off x="7232370" y="5713783"/>
            <a:ext cx="2547127" cy="24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 Excel/ PDF/ Image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 42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58" name="Picture 57" descr="image2.png">
            <a:extLst>
              <a:ext uri="{FF2B5EF4-FFF2-40B4-BE49-F238E27FC236}">
                <a16:creationId xmlns:a16="http://schemas.microsoft.com/office/drawing/2014/main" id="{B70034C9-5A1B-B8C9-635A-94A194134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  <p:sp>
        <p:nvSpPr>
          <p:cNvPr id="64" name="Text 1">
            <a:extLst>
              <a:ext uri="{FF2B5EF4-FFF2-40B4-BE49-F238E27FC236}">
                <a16:creationId xmlns:a16="http://schemas.microsoft.com/office/drawing/2014/main" id="{6428D8E0-D618-10C2-E3EF-F87A6CCD3628}"/>
              </a:ext>
            </a:extLst>
          </p:cNvPr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7">
            <a:extLst>
              <a:ext uri="{FF2B5EF4-FFF2-40B4-BE49-F238E27FC236}">
                <a16:creationId xmlns:a16="http://schemas.microsoft.com/office/drawing/2014/main" id="{8393776B-EA6B-0532-6437-FEEC72D50427}"/>
              </a:ext>
            </a:extLst>
          </p:cNvPr>
          <p:cNvSpPr/>
          <p:nvPr/>
        </p:nvSpPr>
        <p:spPr>
          <a:xfrm>
            <a:off x="357978" y="3399030"/>
            <a:ext cx="5566166" cy="2537949"/>
          </a:xfrm>
          <a:prstGeom prst="roundRect">
            <a:avLst>
              <a:gd name="adj" fmla="val 4000"/>
            </a:avLst>
          </a:prstGeom>
          <a:solidFill>
            <a:srgbClr val="00B050">
              <a:alpha val="15000"/>
            </a:srgbClr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9B87EDAD-3B77-63DB-DE52-426AD73384B2}"/>
              </a:ext>
            </a:extLst>
          </p:cNvPr>
          <p:cNvSpPr/>
          <p:nvPr/>
        </p:nvSpPr>
        <p:spPr>
          <a:xfrm>
            <a:off x="357979" y="521417"/>
            <a:ext cx="5566166" cy="2416336"/>
          </a:xfrm>
          <a:prstGeom prst="roundRect">
            <a:avLst>
              <a:gd name="adj" fmla="val 4000"/>
            </a:avLst>
          </a:prstGeom>
          <a:solidFill>
            <a:srgbClr val="FFFF00">
              <a:alpha val="29000"/>
            </a:srgbClr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857E4BC-12FC-08A0-AD9F-A74E8E7C1952}"/>
              </a:ext>
            </a:extLst>
          </p:cNvPr>
          <p:cNvSpPr/>
          <p:nvPr/>
        </p:nvSpPr>
        <p:spPr>
          <a:xfrm>
            <a:off x="586579" y="750550"/>
            <a:ext cx="4594860" cy="391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D0679E96-9267-BE18-1F90-52E6B13776C7}"/>
              </a:ext>
            </a:extLst>
          </p:cNvPr>
          <p:cNvSpPr/>
          <p:nvPr/>
        </p:nvSpPr>
        <p:spPr>
          <a:xfrm>
            <a:off x="403698" y="1337104"/>
            <a:ext cx="5335619" cy="4345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Single report, bulk Excel/CSV, PDFs &amp; images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2C20CA89-3D4C-9A41-2906-23A8794DA32F}"/>
              </a:ext>
            </a:extLst>
          </p:cNvPr>
          <p:cNvSpPr/>
          <p:nvPr/>
        </p:nvSpPr>
        <p:spPr>
          <a:xfrm>
            <a:off x="403699" y="2071965"/>
            <a:ext cx="5672681" cy="4345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1,000 reports → processed as one evidence pool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D52A8D2A-F8B7-6679-DAF6-28A467772331}"/>
              </a:ext>
            </a:extLst>
          </p:cNvPr>
          <p:cNvSpPr/>
          <p:nvPr/>
        </p:nvSpPr>
        <p:spPr>
          <a:xfrm>
            <a:off x="6254398" y="525292"/>
            <a:ext cx="5681440" cy="2412461"/>
          </a:xfrm>
          <a:prstGeom prst="roundRect">
            <a:avLst>
              <a:gd name="adj" fmla="val 4000"/>
            </a:avLst>
          </a:prstGeom>
          <a:solidFill>
            <a:srgbClr val="00B0F0">
              <a:alpha val="13000"/>
            </a:srgbClr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29">
            <a:extLst>
              <a:ext uri="{FF2B5EF4-FFF2-40B4-BE49-F238E27FC236}">
                <a16:creationId xmlns:a16="http://schemas.microsoft.com/office/drawing/2014/main" id="{0B61E37F-427B-F3B1-AA89-29674E25C5D8}"/>
              </a:ext>
            </a:extLst>
          </p:cNvPr>
          <p:cNvSpPr/>
          <p:nvPr/>
        </p:nvSpPr>
        <p:spPr>
          <a:xfrm>
            <a:off x="6376320" y="717131"/>
            <a:ext cx="4594860" cy="38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LOCATION SOURCING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03454E3D-7BF4-BEA8-1F1A-9A195EAEE4E6}"/>
              </a:ext>
            </a:extLst>
          </p:cNvPr>
          <p:cNvSpPr/>
          <p:nvPr/>
        </p:nvSpPr>
        <p:spPr>
          <a:xfrm>
            <a:off x="6376320" y="1234682"/>
            <a:ext cx="5052060" cy="431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GPS, map-pin selection, text extraction, or CSV coordinates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AFB8C340-CAA1-E7E2-0F3A-8BE01705DA13}"/>
              </a:ext>
            </a:extLst>
          </p:cNvPr>
          <p:cNvSpPr/>
          <p:nvPr/>
        </p:nvSpPr>
        <p:spPr>
          <a:xfrm>
            <a:off x="6376320" y="2004503"/>
            <a:ext cx="5559518" cy="431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AI fuses evidence per location — it does not assume events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27" name="Shape 32">
            <a:extLst>
              <a:ext uri="{FF2B5EF4-FFF2-40B4-BE49-F238E27FC236}">
                <a16:creationId xmlns:a16="http://schemas.microsoft.com/office/drawing/2014/main" id="{2D0CF831-0F03-9C22-F4C3-EC9BBF8D28E4}"/>
              </a:ext>
            </a:extLst>
          </p:cNvPr>
          <p:cNvSpPr/>
          <p:nvPr/>
        </p:nvSpPr>
        <p:spPr>
          <a:xfrm>
            <a:off x="6219544" y="3399031"/>
            <a:ext cx="5711920" cy="2537949"/>
          </a:xfrm>
          <a:prstGeom prst="roundRect">
            <a:avLst>
              <a:gd name="adj" fmla="val 4000"/>
            </a:avLst>
          </a:prstGeom>
          <a:solidFill>
            <a:srgbClr val="FF0000">
              <a:alpha val="16000"/>
            </a:srgbClr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8A9187BF-2CCC-C967-881D-549B69449A6A}"/>
              </a:ext>
            </a:extLst>
          </p:cNvPr>
          <p:cNvSpPr/>
          <p:nvPr/>
        </p:nvSpPr>
        <p:spPr>
          <a:xfrm>
            <a:off x="413513" y="3590073"/>
            <a:ext cx="5850698" cy="571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HARDWARE REQUIREMENT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4430F2D6-9715-818B-A82E-64E57AD1E735}"/>
              </a:ext>
            </a:extLst>
          </p:cNvPr>
          <p:cNvSpPr/>
          <p:nvPr/>
        </p:nvSpPr>
        <p:spPr>
          <a:xfrm>
            <a:off x="403700" y="4202482"/>
            <a:ext cx="5052060" cy="63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No mandatory hardware — software-first prototype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BE2BBA43-A6CF-CD9B-E11E-3DDC886EE242}"/>
              </a:ext>
            </a:extLst>
          </p:cNvPr>
          <p:cNvSpPr/>
          <p:nvPr/>
        </p:nvSpPr>
        <p:spPr>
          <a:xfrm>
            <a:off x="357979" y="5019360"/>
            <a:ext cx="5052060" cy="63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Future: IoT sensors, drones, satellite feeds, govt. systems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18770558-901B-9017-7EAC-B31CEDF61231}"/>
              </a:ext>
            </a:extLst>
          </p:cNvPr>
          <p:cNvSpPr/>
          <p:nvPr/>
        </p:nvSpPr>
        <p:spPr>
          <a:xfrm>
            <a:off x="6308877" y="3594731"/>
            <a:ext cx="5489805" cy="571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47" name="Text 40">
            <a:extLst>
              <a:ext uri="{FF2B5EF4-FFF2-40B4-BE49-F238E27FC236}">
                <a16:creationId xmlns:a16="http://schemas.microsoft.com/office/drawing/2014/main" id="{D472195E-C785-8F12-0157-D6812EF258A4}"/>
              </a:ext>
            </a:extLst>
          </p:cNvPr>
          <p:cNvSpPr/>
          <p:nvPr/>
        </p:nvSpPr>
        <p:spPr>
          <a:xfrm>
            <a:off x="6297849" y="4227711"/>
            <a:ext cx="5489806" cy="63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Conflicting / duplicate reports → contradiction &amp; embedding checks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15ADA925-1D4C-AB88-AB02-38FADEAD9DD9}"/>
              </a:ext>
            </a:extLst>
          </p:cNvPr>
          <p:cNvSpPr/>
          <p:nvPr/>
        </p:nvSpPr>
        <p:spPr>
          <a:xfrm>
            <a:off x="6297849" y="5044589"/>
            <a:ext cx="5711920" cy="63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Outdated info → recency weighting |  Scale → batch ingestion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pic>
        <p:nvPicPr>
          <p:cNvPr id="52" name="Picture 51" descr="image2.png">
            <a:extLst>
              <a:ext uri="{FF2B5EF4-FFF2-40B4-BE49-F238E27FC236}">
                <a16:creationId xmlns:a16="http://schemas.microsoft.com/office/drawing/2014/main" id="{3553E3D8-5706-BD1B-E3AE-55F100B5D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  <p:sp>
        <p:nvSpPr>
          <p:cNvPr id="54" name="Text 42">
            <a:extLst>
              <a:ext uri="{FF2B5EF4-FFF2-40B4-BE49-F238E27FC236}">
                <a16:creationId xmlns:a16="http://schemas.microsoft.com/office/drawing/2014/main" id="{C391768B-6C5D-CAD1-B82F-281DC384F5E5}"/>
              </a:ext>
            </a:extLst>
          </p:cNvPr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8EED1C8F-4F5A-94DC-2795-AE2DB6F881F2}"/>
              </a:ext>
            </a:extLst>
          </p:cNvPr>
          <p:cNvSpPr/>
          <p:nvPr/>
        </p:nvSpPr>
        <p:spPr>
          <a:xfrm>
            <a:off x="896112" y="6249249"/>
            <a:ext cx="2219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7340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PROTOTYPE DATASET &amp; SCHEMA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19872" y="292607"/>
            <a:ext cx="3484448" cy="356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|  THE POST-DISASTER INFORMATION FOG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125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DATASET SCHEMA (SAMPLE FIELDS)</a:t>
            </a:r>
            <a:endParaRPr lang="en-US" dirty="0">
              <a:latin typeface="Rockwell" panose="02060603020205020403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266036"/>
              </p:ext>
            </p:extLst>
          </p:nvPr>
        </p:nvGraphicFramePr>
        <p:xfrm>
          <a:off x="457200" y="1737360"/>
          <a:ext cx="10881360" cy="4053840"/>
        </p:xfrm>
        <a:graphic>
          <a:graphicData uri="http://schemas.openxmlformats.org/drawingml/2006/table">
            <a:tbl>
              <a:tblPr/>
              <a:tblGrid>
                <a:gridCol w="535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report_id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R001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location_zone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Zone-E2 (Village A)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disaster_type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Flood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report_text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“Flood reached school”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reported_need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Rescue / Medical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num_people_affected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350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source_type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Field Worker Report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source_reliability_score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0.90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duplicate_report_count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11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</a:rPr>
                        <a:t>verification_status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Verified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</a:rPr>
                        <a:t>urgency_level (target)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A6B87"/>
                          </a:solidFill>
                        </a:rPr>
                        <a:t>Critical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8" name="Picture 17" descr="image2.png">
            <a:extLst>
              <a:ext uri="{FF2B5EF4-FFF2-40B4-BE49-F238E27FC236}">
                <a16:creationId xmlns:a16="http://schemas.microsoft.com/office/drawing/2014/main" id="{F3E298C2-56E9-0DA1-FB3F-CD3179D80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8CF49FC5-C93E-2FC1-EB9C-6D045833ACE1}"/>
              </a:ext>
            </a:extLst>
          </p:cNvPr>
          <p:cNvSpPr/>
          <p:nvPr/>
        </p:nvSpPr>
        <p:spPr>
          <a:xfrm>
            <a:off x="356983" y="572279"/>
            <a:ext cx="6588566" cy="327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DISTRIBUTION (100 SYNTHETIC RECORDS)</a:t>
            </a:r>
            <a:endParaRPr lang="en-US" sz="24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DD8C64EC-8495-3D55-D982-8682DB1043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520636"/>
              </p:ext>
            </p:extLst>
          </p:nvPr>
        </p:nvGraphicFramePr>
        <p:xfrm>
          <a:off x="356983" y="1394493"/>
          <a:ext cx="5927084" cy="2241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hape 6">
            <a:extLst>
              <a:ext uri="{FF2B5EF4-FFF2-40B4-BE49-F238E27FC236}">
                <a16:creationId xmlns:a16="http://schemas.microsoft.com/office/drawing/2014/main" id="{56DE13A2-1E60-D69F-1355-BFFD763CDE5B}"/>
              </a:ext>
            </a:extLst>
          </p:cNvPr>
          <p:cNvSpPr/>
          <p:nvPr/>
        </p:nvSpPr>
        <p:spPr>
          <a:xfrm>
            <a:off x="356983" y="3736460"/>
            <a:ext cx="6308670" cy="2139045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D51FD00-D3BA-2C41-D0A8-E1CB51F8F319}"/>
              </a:ext>
            </a:extLst>
          </p:cNvPr>
          <p:cNvSpPr/>
          <p:nvPr/>
        </p:nvSpPr>
        <p:spPr>
          <a:xfrm>
            <a:off x="539864" y="4303840"/>
            <a:ext cx="6240315" cy="913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type:  </a:t>
            </a:r>
            <a:r>
              <a:rPr lang="en-US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+ scenario-based (no real PII)
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covered:  </a:t>
            </a:r>
            <a:r>
              <a:rPr lang="en-US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CSV/Excel, text, images (planned), location + time metadata
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 </a:t>
            </a:r>
            <a:r>
              <a:rPr lang="en-US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contradictory reports, severity/priority labels</a:t>
            </a:r>
            <a:endParaRPr lang="en-US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2109EB55-1C03-8DE9-E554-EAE159F3181D}"/>
              </a:ext>
            </a:extLst>
          </p:cNvPr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351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50" y="226945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IMPACT, INNOVATION &amp; DIFFERENTIATION</a:t>
            </a:r>
            <a:endParaRPr lang="en-US" sz="3000" dirty="0">
              <a:latin typeface="Britannic Bold" panose="020B09030607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55960" y="6348051"/>
            <a:ext cx="2268490" cy="213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 CHANDRA | THE POST-DISASTER INFORMATION FOG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31891" y="1033271"/>
            <a:ext cx="289294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D-FUSE:
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→ Understand → Compare → Verify → Fuse → Predict → Prioritize → Recommend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80011" y="981326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3435" y="981326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13" name="Text 10"/>
          <p:cNvSpPr/>
          <p:nvPr/>
        </p:nvSpPr>
        <p:spPr>
          <a:xfrm>
            <a:off x="1553746" y="1145918"/>
            <a:ext cx="33492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Dynamic Evidence Fusion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44603" y="163969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independent sources instead of trusting one report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67045" y="981326"/>
            <a:ext cx="3662617" cy="13672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39613" y="981326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19" name="Text 15"/>
          <p:cNvSpPr/>
          <p:nvPr/>
        </p:nvSpPr>
        <p:spPr>
          <a:xfrm>
            <a:off x="7577356" y="1163979"/>
            <a:ext cx="34373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Explainable Confidence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568213" y="163969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Shows WHY a score is high: recency, confirmations, images, reliability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347376" y="2869304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347376" y="2869304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25" name="Text 20"/>
          <p:cNvSpPr/>
          <p:nvPr/>
        </p:nvSpPr>
        <p:spPr>
          <a:xfrm>
            <a:off x="1548544" y="3054323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Temporal Intelligence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1548544" y="35276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Stable → Deteriorating → Critical trends over time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369330" y="2829967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69330" y="2829967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31" name="Text 25"/>
          <p:cNvSpPr/>
          <p:nvPr/>
        </p:nvSpPr>
        <p:spPr>
          <a:xfrm>
            <a:off x="7579490" y="3046476"/>
            <a:ext cx="34755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Uncertainty-Aware Priority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570498" y="3488335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low confidence triggers “Verify this location first”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1348452" y="47463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348452" y="4746320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37" name="Text 30"/>
          <p:cNvSpPr/>
          <p:nvPr/>
        </p:nvSpPr>
        <p:spPr>
          <a:xfrm>
            <a:off x="1558764" y="48743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Dynamic Priority Ranking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1549620" y="54046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Ranking updates automatically as new reports arrive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7372062" y="47463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372062" y="4746320"/>
            <a:ext cx="73152" cy="1371600"/>
          </a:xfrm>
          <a:prstGeom prst="roundRect">
            <a:avLst/>
          </a:prstGeom>
          <a:solidFill>
            <a:srgbClr val="E8710A"/>
          </a:solidFill>
          <a:ln/>
        </p:spPr>
      </p:sp>
      <p:sp>
        <p:nvSpPr>
          <p:cNvPr id="43" name="Text 35"/>
          <p:cNvSpPr/>
          <p:nvPr/>
        </p:nvSpPr>
        <p:spPr>
          <a:xfrm>
            <a:off x="7582374" y="48743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Resource-Aware Support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7573230" y="54046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how limited resources should be distributed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D-FUSE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2" name="Picture 51" descr="image2.png">
            <a:extLst>
              <a:ext uri="{FF2B5EF4-FFF2-40B4-BE49-F238E27FC236}">
                <a16:creationId xmlns:a16="http://schemas.microsoft.com/office/drawing/2014/main" id="{5351D03E-3E76-F480-3061-99A81640A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66104"/>
            <a:ext cx="422323" cy="4223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5">
            <a:extLst>
              <a:ext uri="{FF2B5EF4-FFF2-40B4-BE49-F238E27FC236}">
                <a16:creationId xmlns:a16="http://schemas.microsoft.com/office/drawing/2014/main" id="{AD2958E4-2149-ADBB-D28F-D2A15ECEB7B9}"/>
              </a:ext>
            </a:extLst>
          </p:cNvPr>
          <p:cNvSpPr/>
          <p:nvPr/>
        </p:nvSpPr>
        <p:spPr>
          <a:xfrm>
            <a:off x="2386012" y="6202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D-FUSE  |  Team: TEAM CHANDRA  |  GIET UNVERSITY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67E8-D9CE-2E30-A06D-E402785AEFBA}"/>
              </a:ext>
            </a:extLst>
          </p:cNvPr>
          <p:cNvSpPr txBox="1"/>
          <p:nvPr/>
        </p:nvSpPr>
        <p:spPr>
          <a:xfrm>
            <a:off x="2386012" y="2497976"/>
            <a:ext cx="741997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latin typeface="Imprint MT Shadow" panose="04020605060303030202" pitchFamily="82" charset="0"/>
                <a:ea typeface="Calibri" pitchFamily="34" charset="-122"/>
                <a:cs typeface="Calibri" pitchFamily="34" charset="-120"/>
              </a:rPr>
              <a:t>Thank You </a:t>
            </a:r>
            <a:endParaRPr lang="en-IN" sz="9600" dirty="0"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8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785</Words>
  <Application>Microsoft Office PowerPoint</Application>
  <PresentationFormat>Widescreen</PresentationFormat>
  <Paragraphs>217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Bodoni MT</vt:lpstr>
      <vt:lpstr>Bodoni MT Black</vt:lpstr>
      <vt:lpstr>Book Antiqua</vt:lpstr>
      <vt:lpstr>Britannic Bold</vt:lpstr>
      <vt:lpstr>Calibri</vt:lpstr>
      <vt:lpstr>Imprint MT Shadow</vt:lpstr>
      <vt:lpstr>Lucida Bright</vt:lpstr>
      <vt:lpstr>Lucida Sans</vt:lpstr>
      <vt:lpstr>Rockwell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RR Himanshu</cp:lastModifiedBy>
  <cp:revision>2</cp:revision>
  <dcterms:created xsi:type="dcterms:W3CDTF">2026-08-30T07:04:51Z</dcterms:created>
  <dcterms:modified xsi:type="dcterms:W3CDTF">2026-08-30T13:23:21Z</dcterms:modified>
</cp:coreProperties>
</file>